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charts/chart1.xml" ContentType="application/vnd.openxmlformats-officedocument.drawingml.chart+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Lst>
  <p:notesMasterIdLst>
    <p:notesMasterId r:id="rId1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Opening" id="{19b3a7ba-574d-0e38-23fa-ad3bdab271ed}">
          <p14:sldIdLst>
            <p14:sldId id="256"/>
          </p14:sldIdLst>
        </p14:section>
        <p14:section name="Problem" id="{55541639-d469-6ec9-5dfa-1c62b88dc708}">
          <p14:sldIdLst>
            <p14:sldId id="257"/>
            <p14:sldId id="258"/>
            <p14:sldId id="259"/>
          </p14:sldIdLst>
        </p14:section>
        <p14:section name="Solution" id="{b808ee5f-00dc-fa2d-4067-7c3fd179e1d6}">
          <p14:sldIdLst>
            <p14:sldId id="260"/>
            <p14:sldId id="261"/>
            <p14:sldId id="262"/>
          </p14:sldIdLst>
        </p14:section>
        <p14:section name="Product" id="{e9646531-37de-a405-25d6-9d55cf098547}">
          <p14:sldIdLst>
            <p14:sldId id="263"/>
            <p14:sldId id="264"/>
            <p14:sldId id="265"/>
            <p14:sldId id="266"/>
          </p14:sldIdLst>
        </p14:section>
        <p14:section name="Technology" id="{66606068-005b-7c47-aaef-1bbb3438f064}">
          <p14:sldIdLst>
            <p14:sldId id="267"/>
            <p14:sldId id="268"/>
            <p14:sldId id="269"/>
          </p14:sldIdLst>
        </p14:section>
        <p14:section name="Results" id="{a1447498-ceb0-7bd3-9263-9c81600488a0}">
          <p14:sldIdLst>
            <p14:sldId id="270"/>
            <p14:sldId id="271"/>
          </p14:sldIdLst>
        </p14:section>
        <p14:section name="Close" id="{70dcf363-a5c4-2910-676a-af4a8b7cd8b0}">
          <p14:sldIdLst>
            <p14:sldId id="272"/>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300" b="0" i="0" u="none" strike="noStrike">
                <a:solidFill>
                  <a:srgbClr val="18181B"/>
                </a:solidFill>
                <a:latin typeface="+mn-lt"/>
              </a:defRPr>
            </a:pPr>
            <a:r>
              <a:rPr sz="1300" b="0" i="0" u="none" strike="noStrike">
                <a:solidFill>
                  <a:srgbClr val="18181B"/>
                </a:solidFill>
                <a:latin typeface="+mn-lt"/>
              </a:rPr>
              <a:t>Rules only vs live agents on the 94-message night (%)</a:t>
            </a:r>
          </a:p>
        </c:rich>
      </c:tx>
      <c:layout/>
      <c:overlay val="0"/>
    </c:title>
    <c:autoTitleDeleted val="0"/>
    <c:plotArea>
      <c:layout/>
      <c:barChart>
        <c:barDir val="bar"/>
        <c:grouping val="clustered"/>
        <c:varyColors val="0"/>
        <c:ser>
          <c:idx val="0"/>
          <c:order val="0"/>
          <c:tx>
            <c:strRef>
              <c:f>Sheet1!$B$1</c:f>
              <c:strCache>
                <c:ptCount val="1"/>
                <c:pt idx="0">
                  <c:v>Rules only</c:v>
                </c:pt>
              </c:strCache>
            </c:strRef>
          </c:tx>
          <c:spPr>
            <a:solidFill>
              <a:srgbClr val="A1A1AA"/>
            </a:solidFill>
            <a:effectLst/>
          </c:spPr>
          <c:invertIfNegative val="0"/>
          <c:dLbls>
            <c:numFmt formatCode="0&quot;%&quot;" sourceLinked="0"/>
            <c:txPr>
              <a:bodyPr/>
              <a:lstStyle/>
              <a:p>
                <a:pPr>
                  <a:defRPr b="0" i="0" strike="noStrike" sz="1200" u="none">
                    <a:solidFill>
                      <a:srgbClr val="18181B"/>
                    </a:solidFill>
                    <a:latin typeface="+mn-lt"/>
                  </a:defRPr>
                </a:pPr>
              </a:p>
            </c:txPr>
            <c:showLegendKey val="0"/>
            <c:showVal val="1"/>
            <c:showCatName val="0"/>
            <c:showSerName val="0"/>
            <c:showPercent val="0"/>
            <c:showBubbleSize val="0"/>
            <c:showLeaderLines val="0"/>
          </c:dLbls>
          <c:cat>
            <c:multiLvlStrRef>
              <c:f>Sheet1!$A$2:$A$4</c:f>
              <c:multiLvlStrCache>
                <c:ptCount val="3"/>
                <c:lvl>
                  <c:pt idx="0">
                    <c:v>Merge recall</c:v>
                  </c:pt>
                  <c:pt idx="1">
                    <c:v>Message type accuracy</c:v>
                  </c:pt>
                  <c:pt idx="2">
                    <c:v>Merge precision</c:v>
                  </c:pt>
                </c:lvl>
              </c:multiLvlStrCache>
            </c:multiLvlStrRef>
          </c:cat>
          <c:val>
            <c:numRef>
              <c:f>Sheet1!$B$2:$B$4</c:f>
              <c:numCache>
                <c:formatCode>General</c:formatCode>
                <c:ptCount val="3"/>
                <c:pt idx="0">
                  <c:v>66</c:v>
                </c:pt>
                <c:pt idx="1">
                  <c:v>82</c:v>
                </c:pt>
                <c:pt idx="2">
                  <c:v>100</c:v>
                </c:pt>
              </c:numCache>
            </c:numRef>
          </c:val>
        </c:ser>
        <c:ser>
          <c:idx val="1"/>
          <c:order val="1"/>
          <c:tx>
            <c:strRef>
              <c:f>Sheet1!$C$1</c:f>
              <c:strCache>
                <c:ptCount val="1"/>
                <c:pt idx="0">
                  <c:v>Live Gemini agents</c:v>
                </c:pt>
              </c:strCache>
            </c:strRef>
          </c:tx>
          <c:spPr>
            <a:solidFill>
              <a:srgbClr val="1447E6"/>
            </a:solidFill>
            <a:effectLst/>
          </c:spPr>
          <c:invertIfNegative val="0"/>
          <c:dLbls>
            <c:numFmt formatCode="0&quot;%&quot;" sourceLinked="0"/>
            <c:txPr>
              <a:bodyPr/>
              <a:lstStyle/>
              <a:p>
                <a:pPr>
                  <a:defRPr b="0" i="0" strike="noStrike" sz="1200" u="none">
                    <a:solidFill>
                      <a:srgbClr val="18181B"/>
                    </a:solidFill>
                    <a:latin typeface="+mn-lt"/>
                  </a:defRPr>
                </a:pPr>
              </a:p>
            </c:txPr>
            <c:showLegendKey val="0"/>
            <c:showVal val="1"/>
            <c:showCatName val="0"/>
            <c:showSerName val="0"/>
            <c:showPercent val="0"/>
            <c:showBubbleSize val="0"/>
            <c:showLeaderLines val="0"/>
          </c:dLbls>
          <c:cat>
            <c:multiLvlStrRef>
              <c:f>Sheet1!$A$2:$A$4</c:f>
              <c:multiLvlStrCache>
                <c:ptCount val="3"/>
                <c:lvl>
                  <c:pt idx="0">
                    <c:v>Merge recall</c:v>
                  </c:pt>
                  <c:pt idx="1">
                    <c:v>Message type accuracy</c:v>
                  </c:pt>
                  <c:pt idx="2">
                    <c:v>Merge precision</c:v>
                  </c:pt>
                </c:lvl>
              </c:multiLvlStrCache>
            </c:multiLvlStrRef>
          </c:cat>
          <c:val>
            <c:numRef>
              <c:f>Sheet1!$C$2:$C$4</c:f>
              <c:numCache>
                <c:formatCode>General</c:formatCode>
                <c:ptCount val="3"/>
                <c:pt idx="0">
                  <c:v>86</c:v>
                </c:pt>
                <c:pt idx="1">
                  <c:v>93</c:v>
                </c:pt>
                <c:pt idx="2">
                  <c:v>100</c:v>
                </c:pt>
              </c:numCache>
            </c:numRef>
          </c:val>
        </c:ser>
        <c:dLbls>
          <c:numFmt formatCode="0&quot;%&quot;" sourceLinked="0"/>
          <c:txPr>
            <a:bodyPr/>
            <a:lstStyle/>
            <a:p>
              <a:pPr>
                <a:defRPr b="0" i="0" strike="noStrike" sz="1200" u="none">
                  <a:solidFill>
                    <a:srgbClr val="18181B"/>
                  </a:solidFill>
                  <a:latin typeface="+mn-lt"/>
                </a:defRPr>
              </a:pPr>
            </a:p>
          </c:txPr>
          <c:showLegendKey val="0"/>
          <c:showVal val="1"/>
          <c:showCatName val="0"/>
          <c:showSerName val="0"/>
          <c:showPercent val="0"/>
          <c:showBubbleSize val="0"/>
          <c:showLeaderLines val="0"/>
        </c:dLbls>
        <c:gapWidth val="50"/>
        <c:overlap val="0"/>
        <c:axId val="2094734554"/>
        <c:axId val="2094734552"/>
        <c:axId val="2094734556"/>
      </c:barChart>
      <c:catAx>
        <c:axId val="2094734554"/>
        <c:scaling>
          <c:orientation val="minMax"/>
        </c:scaling>
        <c:delete val="0"/>
        <c:axPos val="l"/>
        <c:numFmt formatCode="General" sourceLinked="1"/>
        <c:majorTickMark val="out"/>
        <c:minorTickMark val="none"/>
        <c:tickLblPos val="nextTo"/>
        <c:spPr>
          <a:ln w="12700" cap="flat">
            <a:noFill/>
            <a:prstDash val="solid"/>
            <a:round/>
          </a:ln>
        </c:spPr>
        <c:txPr>
          <a:bodyPr/>
          <a:lstStyle/>
          <a:p>
            <a:pPr>
              <a:defRPr sz="1200" b="0" i="0" u="none" strike="noStrike">
                <a:solidFill>
                  <a:srgbClr val="52525B"/>
                </a:solidFill>
                <a:latin typeface="+mn-lt"/>
              </a:defRPr>
            </a:pPr>
            <a:endParaRPr lang="en-US"/>
          </a:p>
        </c:txPr>
        <c:crossAx val="2094734552"/>
        <c:crosses val="autoZero"/>
        <c:auto val="1"/>
        <c:lblAlgn val="ctr"/>
        <c:noMultiLvlLbl val="1"/>
      </c:catAx>
      <c:valAx>
        <c:axId val="2094734552"/>
        <c:scaling>
          <c:orientation val="minMax"/>
          <c:max val="110"/>
          <c:min val="0"/>
        </c:scaling>
        <c:delete val="1"/>
        <c:axPos val="b"/>
        <c:numFmt formatCode="General" sourceLinked="0"/>
        <c:majorTickMark val="out"/>
        <c:minorTickMark val="none"/>
        <c:tickLblPos val="low"/>
        <c:spPr>
          <a:ln w="12700" cap="flat">
            <a:solidFill>
              <a:srgbClr val="888888"/>
            </a:solidFill>
            <a:prstDash val="solid"/>
            <a:round/>
          </a:ln>
        </c:spPr>
        <c:txPr>
          <a:bodyPr/>
          <a:lstStyle/>
          <a:p>
            <a:pPr>
              <a:defRPr sz="1200" b="0" i="0" u="none" strike="noStrike">
                <a:solidFill>
                  <a:srgbClr val="000000"/>
                </a:solidFill>
                <a:latin typeface="Arial"/>
              </a:defRPr>
            </a:pPr>
            <a:endParaRPr lang="en-US"/>
          </a:p>
        </c:txPr>
        <c:crossAx val="2094734554"/>
        <c:crosses val="autoZero"/>
        <c:crossBetween val="between"/>
      </c:valAx>
      <c:spPr>
        <a:noFill/>
        <a:ln>
          <a:noFill/>
        </a:ln>
        <a:effectLst/>
      </c:spPr>
    </c:plotArea>
    <c:legend>
      <c:legendPos val="b"/>
      <c:overlay val="0"/>
      <c:txPr>
        <a:bodyPr/>
        <a:lstStyle/>
        <a:p>
          <a:pPr>
            <a:defRPr sz="1100">
              <a:solidFill>
                <a:srgbClr val="52525B"/>
              </a:solidFill>
              <a:latin typeface="+mn-lt"/>
              <a:cs typeface="+mn-lt"/>
            </a:defRPr>
          </a:pPr>
          <a:endParaRPr lang="en-US"/>
        </a:p>
      </c:txPr>
    </c:legend>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Open on the human problem: a flood night in Kegalle. CrisisConnect is one trusted queue for the duty desk, from first SOS to delivered help.</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 one bubble aloud. A duty officer sees four tickets here; there is one grandmother in a wheelchair. Multiply that by a whole night.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costs: wasted calls, buried vulnerability, and scams that follow every disaster. All three come from the same root cause: no shared, verified record.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real gap is coordination, not information. CrisisConnect is built around the five things on the right.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real start page. The hero says it plainly: every SOS in one trusted queue.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Each person works in one portal, and every portal reads the same graph, so the citizen, the officer, the relief group and the district always see the same case.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engine steps, then three human steps. The engine never confirms a case or sends help: a person does.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officer's call queue. Point out the vulnerability flags and the plain-language reason on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citizen portal: one SOS with a location pin, and a checker for appeals and forwarded warnings. Never share OTP codes.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district sees all divisions at once and handles what officers can't: escalations, appeals and public bulletins.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demo script. Run the seven steps in the app, then open the household timeline and the graph.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Messages, identifiers, incidents, calls, appeals and requests are one persistent graph. Walkers traverse it; byLLM gives typed AI calls; referee rules in plain Jac decide what may be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real code from our repository. The walker asks the model to pick a neighbour; a typed function scores it; then plain Jac referee rules decide whether anything is written.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safety model in one line: AI proposes, rules referee, people decide. Every applied change has a logged decision with agent, action and reason.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Numbers come from results/development-rules.json, development-live.json and development-cached.json in the repository. Agents find a third more duplicates than rules alone, and the referee still allowed no wrong merge.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 candid: this is a hackathon build. The path to a pilot is clear, and we already say where the system's limits are.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on the outcome: fewer wasted calls, more people reached. Invite questions and offer to show the graph live.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p:bgPr>
    </p:bg>
    <p:spTree>
      <p:nvGrpSpPr>
        <p:cNvPr id="1" name=""/>
        <p:cNvGrpSpPr/>
        <p:nvPr/>
      </p:nvGrpSpPr>
      <p:grpSpPr>
        <a:xfrm>
          <a:off x="0" y="0"/>
          <a:ext cx="0" cy="0"/>
          <a:chOff x="0" y="0"/>
          <a:chExt cx="0" cy="0"/>
        </a:xfrm>
      </p:grpSpPr>
      <p:pic>
        <p:nvPicPr>
          <p:cNvPr id="2" name="Image 0" descr="preencoded.png">    </p:cNvPr>
          <p:cNvPicPr>
            <a:picLocks noChangeAspect="1"/>
          </p:cNvPicPr>
          <p:nvPr/>
        </p:nvPicPr>
        <p:blipFill>
          <a:blip r:embed="rId1"/>
          <a:stretch>
            <a:fillRect/>
          </a:stretch>
        </p:blipFill>
        <p:spPr>
          <a:xfrm>
            <a:off x="548640" y="6336792"/>
            <a:ext cx="237744" cy="237744"/>
          </a:xfrm>
          <a:prstGeom prst="rect">
            <a:avLst/>
          </a:prstGeom>
        </p:spPr>
      </p:pic>
      <p:sp>
        <p:nvSpPr>
          <p:cNvPr id="3" name="Text 0"/>
          <p:cNvSpPr/>
          <p:nvPr/>
        </p:nvSpPr>
        <p:spPr>
          <a:xfrm>
            <a:off x="868680" y="6309360"/>
            <a:ext cx="2743200" cy="292608"/>
          </a:xfrm>
          <a:prstGeom prst="rect">
            <a:avLst/>
          </a:prstGeom>
          <a:noFill/>
          <a:ln/>
        </p:spPr>
        <p:txBody>
          <a:bodyPr wrap="square" lIns="0" tIns="0" rIns="0" bIns="0" rtlCol="0" anchor="ctr"/>
          <a:lstStyle/>
          <a:p>
            <a:pPr indent="0" marL="0">
              <a:buNone/>
            </a:pPr>
            <a:r>
              <a:rPr lang="en-US" sz="1000" b="1" dirty="0">
                <a:solidFill>
                  <a:srgbClr val="71717A"/>
                </a:solidFill>
              </a:rPr>
              <a:t>CrisisConnect</a:t>
            </a:r>
            <a:endParaRPr lang="en-US" sz="1000" dirty="0"/>
          </a:p>
        </p:txBody>
      </p:sp>
      <p:sp>
        <p:nvSpPr>
          <p:cNvPr id="4" name="Text 1"/>
          <p:cNvSpPr/>
          <p:nvPr/>
        </p:nvSpPr>
        <p:spPr>
          <a:xfrm>
            <a:off x="7040880" y="6309360"/>
            <a:ext cx="4114800" cy="292608"/>
          </a:xfrm>
          <a:prstGeom prst="rect">
            <a:avLst/>
          </a:prstGeom>
          <a:noFill/>
          <a:ln/>
        </p:spPr>
        <p:txBody>
          <a:bodyPr wrap="square" lIns="0" tIns="0" rIns="0" bIns="0" rtlCol="0" anchor="ctr"/>
          <a:lstStyle/>
          <a:p>
            <a:pPr algn="r" indent="0" marL="0">
              <a:buNone/>
            </a:pPr>
            <a:r>
              <a:rPr lang="en-US" sz="1000" dirty="0">
                <a:solidFill>
                  <a:srgbClr val="71717A"/>
                </a:solidFill>
              </a:rPr>
              <a:t>TheByteForce · AI Hackathon 2026</a:t>
            </a:r>
            <a:endParaRPr lang="en-US" sz="1000" dirty="0"/>
          </a:p>
        </p:txBody>
      </p:sp>
      <p:sp>
        <p:nvSpPr>
          <p:cNvPr id="5" name="Text 2"/>
          <p:cNvSpPr/>
          <p:nvPr>
            <p:ph idx="103" type="body" hasCustomPrompt="1"/>
          </p:nvPr>
        </p:nvSpPr>
        <p:spPr>
          <a:xfrm>
            <a:off x="548640" y="411480"/>
            <a:ext cx="8229600" cy="292608"/>
          </a:xfrm>
          <a:prstGeom prst="rect">
            <a:avLst/>
          </a:prstGeom>
          <a:noFill/>
          <a:ln/>
        </p:spPr>
        <p:txBody>
          <a:bodyPr wrap="square" rtlCol="0"/>
          <a:lstStyle>
            <a:lvl1pPr indent="0" marL="0">
              <a:buNone/>
              <a:defRPr lang="en-US" sz="1200" b="1" spc="200" kern="0" dirty="0">
                <a:solidFill>
                  <a:schemeClr val="accent1"/>
                </a:solidFill>
              </a:defRPr>
            </a:lvl1pPr>
          </a:lstStyle>
          <a:p>
            <a:pPr indent="0" marL="0">
              <a:buNone/>
            </a:pPr>
            <a:endParaRPr lang="en-US" sz="1200" dirty="0"/>
          </a:p>
        </p:txBody>
      </p:sp>
      <p:sp>
        <p:nvSpPr>
          <p:cNvPr id="6" name="Text 2"/>
          <p:cNvSpPr/>
          <p:nvPr>
            <p:ph idx="104" type="title" hasCustomPrompt="1"/>
          </p:nvPr>
        </p:nvSpPr>
        <p:spPr>
          <a:xfrm>
            <a:off x="548640" y="731520"/>
            <a:ext cx="11064240" cy="777240"/>
          </a:xfrm>
          <a:prstGeom prst="rect">
            <a:avLst/>
          </a:prstGeom>
          <a:noFill/>
          <a:ln/>
        </p:spPr>
        <p:txBody>
          <a:bodyPr wrap="square" rtlCol="0"/>
          <a:lstStyle>
            <a:lvl1pPr algn="l" indent="0" marL="0">
              <a:buNone/>
              <a:defRPr lang="en-US" sz="3400" b="1" dirty="0">
                <a:solidFill>
                  <a:schemeClr val="tx1"/>
                </a:solidFill>
              </a:defRPr>
            </a:lvl1pPr>
          </a:lstStyle>
          <a:p>
            <a:pPr algn="l" indent="0" marL="0">
              <a:buNone/>
            </a:pPr>
            <a:endParaRPr lang="en-US" sz="34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PHOTO">
    <p:bg>
      <p:bgPr>
        <a:solidFill>
          <a:schemeClr val="tx2"/>
        </a:solidFill>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eg"/><Relationship Id="rId2" Type="http://schemas.openxmlformats.org/officeDocument/2006/relationships/image" Target="../media/image-1-2.png"/><Relationship Id="rId3" Type="http://schemas.openxmlformats.org/officeDocument/2006/relationships/slideLayout" Target="../slideLayouts/slideLayout3.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slideLayout" Target="../slideLayouts/slideLayout2.xml"/><Relationship Id="rId6"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image" Target="../media/image-4-6.png"/><Relationship Id="rId7" Type="http://schemas.openxmlformats.org/officeDocument/2006/relationships/image" Target="../media/image-4-7.png"/><Relationship Id="rId8" Type="http://schemas.openxmlformats.org/officeDocument/2006/relationships/image" Target="../media/image-4-8.png"/><Relationship Id="rId9" Type="http://schemas.openxmlformats.org/officeDocument/2006/relationships/image" Target="../media/image-4-9.png"/><Relationship Id="rId10" Type="http://schemas.openxmlformats.org/officeDocument/2006/relationships/image" Target="../media/image-4-10.png"/><Relationship Id="rId11" Type="http://schemas.openxmlformats.org/officeDocument/2006/relationships/slideLayout" Target="../slideLayouts/slideLayout2.xml"/><Relationship Id="rId1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slideLayout" Target="../slideLayouts/slideLayout2.xml"/><Relationship Id="rId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image" Target="../media/image-6-5.png"/><Relationship Id="rId6" Type="http://schemas.openxmlformats.org/officeDocument/2006/relationships/image" Target="../media/image-6-6.png"/><Relationship Id="rId7" Type="http://schemas.openxmlformats.org/officeDocument/2006/relationships/image" Target="../media/image-6-7.png"/><Relationship Id="rId8" Type="http://schemas.openxmlformats.org/officeDocument/2006/relationships/image" Target="../media/image-6-8.png"/><Relationship Id="rId9" Type="http://schemas.openxmlformats.org/officeDocument/2006/relationships/slideLayout" Target="../slideLayouts/slideLayout2.xml"/><Relationship Id="rId10"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image" Target="../media/image-7-6.png"/><Relationship Id="rId7" Type="http://schemas.openxmlformats.org/officeDocument/2006/relationships/image" Target="../media/image-7-7.png"/><Relationship Id="rId8" Type="http://schemas.openxmlformats.org/officeDocument/2006/relationships/slideLayout" Target="../slideLayouts/slideLayout2.xml"/><Relationship Id="rId9"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2.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2.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slideLayout" Target="../slideLayouts/slideLayout2.xml"/><Relationship Id="rId6"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2.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image" Target="../media/image-14-10.png"/><Relationship Id="rId11" Type="http://schemas.openxmlformats.org/officeDocument/2006/relationships/image" Target="../media/image-14-11.png"/><Relationship Id="rId12" Type="http://schemas.openxmlformats.org/officeDocument/2006/relationships/slideLayout" Target="../slideLayouts/slideLayout2.xml"/><Relationship Id="rId1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2.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image" Target="../media/image-16-3.png"/><Relationship Id="rId4" Type="http://schemas.openxmlformats.org/officeDocument/2006/relationships/image" Target="../media/image-16-4.png"/><Relationship Id="rId5" Type="http://schemas.openxmlformats.org/officeDocument/2006/relationships/image" Target="../media/image-16-5.png"/><Relationship Id="rId6" Type="http://schemas.openxmlformats.org/officeDocument/2006/relationships/slideLayout" Target="../slideLayouts/slideLayout2.xml"/><Relationship Id="rId7"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eg"/><Relationship Id="rId2" Type="http://schemas.openxmlformats.org/officeDocument/2006/relationships/image" Target="../media/image-17-2.png"/><Relationship Id="rId3" Type="http://schemas.openxmlformats.org/officeDocument/2006/relationships/slideLayout" Target="../slideLayouts/slideLayout3.xml"/><Relationship Id="rId4"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Rescue workers in a boat on flood water">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640080" y="594360"/>
            <a:ext cx="548640" cy="548640"/>
          </a:xfrm>
          <a:prstGeom prst="rect">
            <a:avLst/>
          </a:prstGeom>
        </p:spPr>
      </p:pic>
      <p:sp>
        <p:nvSpPr>
          <p:cNvPr id="4" name="Text 0"/>
          <p:cNvSpPr txBox="1"/>
          <p:nvPr/>
        </p:nvSpPr>
        <p:spPr>
          <a:xfrm>
            <a:off x="1325880" y="566928"/>
            <a:ext cx="3657600" cy="365760"/>
          </a:xfrm>
          <a:prstGeom prst="rect">
            <a:avLst/>
          </a:prstGeom>
          <a:noFill/>
          <a:ln/>
        </p:spPr>
        <p:txBody>
          <a:bodyPr wrap="square" lIns="0" tIns="0" rIns="0" bIns="0" rtlCol="0" anchor="ctr"/>
          <a:lstStyle/>
          <a:p>
            <a:pPr indent="0" marL="0">
              <a:buNone/>
            </a:pPr>
            <a:r>
              <a:rPr lang="en-US" sz="2000" b="1" dirty="0">
                <a:solidFill>
                  <a:srgbClr val="FFFFFF"/>
                </a:solidFill>
              </a:rPr>
              <a:t>Crisis</a:t>
            </a:r>
            <a:pPr indent="0" marL="0">
              <a:buNone/>
            </a:pPr>
            <a:r>
              <a:rPr lang="en-US" sz="2000" b="1" dirty="0">
                <a:solidFill>
                  <a:srgbClr val="93C5FD"/>
                </a:solidFill>
              </a:rPr>
              <a:t>Connect</a:t>
            </a:r>
            <a:endParaRPr lang="en-US" sz="2000" dirty="0"/>
          </a:p>
        </p:txBody>
      </p:sp>
      <p:sp>
        <p:nvSpPr>
          <p:cNvPr id="5" name="Text 1"/>
          <p:cNvSpPr txBox="1"/>
          <p:nvPr/>
        </p:nvSpPr>
        <p:spPr>
          <a:xfrm>
            <a:off x="1325880" y="914400"/>
            <a:ext cx="3657600" cy="256032"/>
          </a:xfrm>
          <a:prstGeom prst="rect">
            <a:avLst/>
          </a:prstGeom>
          <a:noFill/>
          <a:ln/>
        </p:spPr>
        <p:txBody>
          <a:bodyPr wrap="square" lIns="0" tIns="0" rIns="0" bIns="0" rtlCol="0" anchor="ctr"/>
          <a:lstStyle/>
          <a:p>
            <a:pPr indent="0" marL="0">
              <a:buNone/>
            </a:pPr>
            <a:r>
              <a:rPr lang="en-US" sz="1200" dirty="0">
                <a:solidFill>
                  <a:srgbClr val="D4D4D8"/>
                </a:solidFill>
              </a:rPr>
              <a:t>Flood response desk</a:t>
            </a:r>
            <a:endParaRPr lang="en-US" sz="1200" dirty="0"/>
          </a:p>
        </p:txBody>
      </p:sp>
      <p:sp>
        <p:nvSpPr>
          <p:cNvPr id="6" name="Text 2"/>
          <p:cNvSpPr txBox="1"/>
          <p:nvPr/>
        </p:nvSpPr>
        <p:spPr>
          <a:xfrm>
            <a:off x="640080" y="2148840"/>
            <a:ext cx="7315200" cy="310896"/>
          </a:xfrm>
          <a:prstGeom prst="rect">
            <a:avLst/>
          </a:prstGeom>
          <a:noFill/>
          <a:ln/>
        </p:spPr>
        <p:txBody>
          <a:bodyPr wrap="square" lIns="0" tIns="0" rIns="0" bIns="0" rtlCol="0" anchor="ctr"/>
          <a:lstStyle/>
          <a:p>
            <a:pPr indent="0" marL="0">
              <a:buNone/>
            </a:pPr>
            <a:r>
              <a:rPr lang="en-US" sz="1300" b="1" spc="200" kern="0" dirty="0">
                <a:solidFill>
                  <a:srgbClr val="93C5FD"/>
                </a:solidFill>
              </a:rPr>
              <a:t>TEAM THEBYTEFORCE  ·  AI HACKATHON 2026</a:t>
            </a:r>
            <a:endParaRPr lang="en-US" sz="1300" dirty="0"/>
          </a:p>
        </p:txBody>
      </p:sp>
      <p:sp>
        <p:nvSpPr>
          <p:cNvPr id="7" name="Text 3"/>
          <p:cNvSpPr txBox="1"/>
          <p:nvPr/>
        </p:nvSpPr>
        <p:spPr>
          <a:xfrm>
            <a:off x="640080" y="2514600"/>
            <a:ext cx="7315200" cy="1737360"/>
          </a:xfrm>
          <a:prstGeom prst="rect">
            <a:avLst/>
          </a:prstGeom>
          <a:noFill/>
          <a:ln/>
        </p:spPr>
        <p:txBody>
          <a:bodyPr wrap="square" lIns="0" tIns="0" rIns="0" bIns="0" rtlCol="0" anchor="t"/>
          <a:lstStyle/>
          <a:p>
            <a:pPr indent="0" marL="0">
              <a:lnSpc>
                <a:spcPct val="95000"/>
              </a:lnSpc>
              <a:buNone/>
            </a:pPr>
            <a:r>
              <a:rPr lang="en-US" sz="5200" b="1" dirty="0">
                <a:solidFill>
                  <a:srgbClr val="FFFFFF"/>
                </a:solidFill>
              </a:rPr>
              <a:t>Every SOS in one</a:t>
            </a:r>
            <a:endParaRPr lang="en-US" sz="5200" dirty="0"/>
          </a:p>
          <a:p>
            <a:pPr indent="0" marL="0">
              <a:lnSpc>
                <a:spcPct val="95000"/>
              </a:lnSpc>
              <a:buNone/>
            </a:pPr>
            <a:r>
              <a:rPr lang="en-US" sz="5200" b="1" dirty="0">
                <a:solidFill>
                  <a:srgbClr val="FFFFFF"/>
                </a:solidFill>
              </a:rPr>
              <a:t>trusted queue.</a:t>
            </a:r>
            <a:endParaRPr lang="en-US" sz="5200" dirty="0"/>
          </a:p>
        </p:txBody>
      </p:sp>
      <p:sp>
        <p:nvSpPr>
          <p:cNvPr id="8" name="Text 4"/>
          <p:cNvSpPr txBox="1"/>
          <p:nvPr/>
        </p:nvSpPr>
        <p:spPr>
          <a:xfrm>
            <a:off x="640080" y="4343400"/>
            <a:ext cx="6035040" cy="960120"/>
          </a:xfrm>
          <a:prstGeom prst="rect">
            <a:avLst/>
          </a:prstGeom>
          <a:noFill/>
          <a:ln/>
        </p:spPr>
        <p:txBody>
          <a:bodyPr wrap="square" lIns="0" tIns="0" rIns="0" bIns="0" rtlCol="0" anchor="t"/>
          <a:lstStyle/>
          <a:p>
            <a:pPr indent="0" marL="0">
              <a:buNone/>
            </a:pPr>
            <a:r>
              <a:rPr lang="en-US" sz="1600" dirty="0">
                <a:solidFill>
                  <a:srgbClr val="E4E4E7"/>
                </a:solidFill>
              </a:rPr>
              <a:t>A unified disaster response platform for Sri Lanka. It merges SMS, WhatsApp, hotline and web messages into verified household cases, ranks who to call first, and carries each case through to delivered help.</a:t>
            </a:r>
            <a:endParaRPr lang="en-US" sz="1600" dirty="0"/>
          </a:p>
        </p:txBody>
      </p:sp>
      <p:sp>
        <p:nvSpPr>
          <p:cNvPr id="9" name="Shape 5"/>
          <p:cNvSpPr/>
          <p:nvPr/>
        </p:nvSpPr>
        <p:spPr>
          <a:xfrm>
            <a:off x="640080" y="5623560"/>
            <a:ext cx="2606040" cy="329184"/>
          </a:xfrm>
          <a:prstGeom prst="roundRect">
            <a:avLst>
              <a:gd name="adj" fmla="val 50000"/>
            </a:avLst>
          </a:prstGeom>
          <a:solidFill>
            <a:srgbClr val="FFFFFF">
              <a:alpha val="16000"/>
            </a:srgbClr>
          </a:solidFill>
          <a:ln w="9525">
            <a:solidFill>
              <a:srgbClr val="FFFFFF">
                <a:alpha val="35000"/>
              </a:srgbClr>
            </a:solidFill>
            <a:prstDash val="solid"/>
          </a:ln>
        </p:spPr>
      </p:sp>
      <p:sp>
        <p:nvSpPr>
          <p:cNvPr id="10" name="Shape 6"/>
          <p:cNvSpPr/>
          <p:nvPr/>
        </p:nvSpPr>
        <p:spPr>
          <a:xfrm>
            <a:off x="777240" y="5742432"/>
            <a:ext cx="91440" cy="91440"/>
          </a:xfrm>
          <a:prstGeom prst="ellipse">
            <a:avLst/>
          </a:prstGeom>
          <a:solidFill>
            <a:schemeClr val="accent1"/>
          </a:solidFill>
          <a:ln/>
        </p:spPr>
      </p:sp>
      <p:sp>
        <p:nvSpPr>
          <p:cNvPr id="11" name="Text 7"/>
          <p:cNvSpPr txBox="1"/>
          <p:nvPr/>
        </p:nvSpPr>
        <p:spPr>
          <a:xfrm>
            <a:off x="914400" y="5623560"/>
            <a:ext cx="2331720" cy="329184"/>
          </a:xfrm>
          <a:prstGeom prst="rect">
            <a:avLst/>
          </a:prstGeom>
          <a:noFill/>
          <a:ln/>
        </p:spPr>
        <p:txBody>
          <a:bodyPr wrap="none" lIns="0" tIns="0" rIns="0" bIns="0" rtlCol="0" anchor="ctr"/>
          <a:lstStyle/>
          <a:p>
            <a:pPr indent="0" marL="0">
              <a:buNone/>
            </a:pPr>
            <a:r>
              <a:rPr lang="en-US" sz="1200" dirty="0">
                <a:solidFill>
                  <a:srgbClr val="FFFFFF"/>
                </a:solidFill>
              </a:rPr>
              <a:t>Four portals, one picture</a:t>
            </a:r>
            <a:endParaRPr lang="en-US" sz="1200" dirty="0"/>
          </a:p>
        </p:txBody>
      </p:sp>
      <p:sp>
        <p:nvSpPr>
          <p:cNvPr id="12" name="Shape 8"/>
          <p:cNvSpPr/>
          <p:nvPr/>
        </p:nvSpPr>
        <p:spPr>
          <a:xfrm>
            <a:off x="3374136" y="5623560"/>
            <a:ext cx="2690165" cy="329184"/>
          </a:xfrm>
          <a:prstGeom prst="roundRect">
            <a:avLst>
              <a:gd name="adj" fmla="val 50000"/>
            </a:avLst>
          </a:prstGeom>
          <a:solidFill>
            <a:srgbClr val="FFFFFF">
              <a:alpha val="16000"/>
            </a:srgbClr>
          </a:solidFill>
          <a:ln w="9525">
            <a:solidFill>
              <a:srgbClr val="FFFFFF">
                <a:alpha val="35000"/>
              </a:srgbClr>
            </a:solidFill>
            <a:prstDash val="solid"/>
          </a:ln>
        </p:spPr>
      </p:sp>
      <p:sp>
        <p:nvSpPr>
          <p:cNvPr id="13" name="Shape 9"/>
          <p:cNvSpPr/>
          <p:nvPr/>
        </p:nvSpPr>
        <p:spPr>
          <a:xfrm>
            <a:off x="3511296" y="5742432"/>
            <a:ext cx="91440" cy="91440"/>
          </a:xfrm>
          <a:prstGeom prst="ellipse">
            <a:avLst/>
          </a:prstGeom>
          <a:solidFill>
            <a:schemeClr val="accent2"/>
          </a:solidFill>
          <a:ln/>
        </p:spPr>
      </p:sp>
      <p:sp>
        <p:nvSpPr>
          <p:cNvPr id="14" name="Text 10"/>
          <p:cNvSpPr txBox="1"/>
          <p:nvPr/>
        </p:nvSpPr>
        <p:spPr>
          <a:xfrm>
            <a:off x="3648456" y="5623560"/>
            <a:ext cx="2415845" cy="329184"/>
          </a:xfrm>
          <a:prstGeom prst="rect">
            <a:avLst/>
          </a:prstGeom>
          <a:noFill/>
          <a:ln/>
        </p:spPr>
        <p:txBody>
          <a:bodyPr wrap="none" lIns="0" tIns="0" rIns="0" bIns="0" rtlCol="0" anchor="ctr"/>
          <a:lstStyle/>
          <a:p>
            <a:pPr indent="0" marL="0">
              <a:buNone/>
            </a:pPr>
            <a:r>
              <a:rPr lang="en-US" sz="1200" dirty="0">
                <a:solidFill>
                  <a:srgbClr val="FFFFFF"/>
                </a:solidFill>
              </a:rPr>
              <a:t>AI proposes, people decide</a:t>
            </a:r>
            <a:endParaRPr lang="en-US" sz="1200" dirty="0"/>
          </a:p>
        </p:txBody>
      </p:sp>
      <p:sp>
        <p:nvSpPr>
          <p:cNvPr id="15" name="Shape 11"/>
          <p:cNvSpPr/>
          <p:nvPr/>
        </p:nvSpPr>
        <p:spPr>
          <a:xfrm>
            <a:off x="6192317" y="5623560"/>
            <a:ext cx="2437790" cy="329184"/>
          </a:xfrm>
          <a:prstGeom prst="roundRect">
            <a:avLst>
              <a:gd name="adj" fmla="val 50000"/>
            </a:avLst>
          </a:prstGeom>
          <a:solidFill>
            <a:srgbClr val="FFFFFF">
              <a:alpha val="16000"/>
            </a:srgbClr>
          </a:solidFill>
          <a:ln w="9525">
            <a:solidFill>
              <a:srgbClr val="FFFFFF">
                <a:alpha val="35000"/>
              </a:srgbClr>
            </a:solidFill>
            <a:prstDash val="solid"/>
          </a:ln>
        </p:spPr>
      </p:sp>
      <p:sp>
        <p:nvSpPr>
          <p:cNvPr id="16" name="Shape 12"/>
          <p:cNvSpPr/>
          <p:nvPr/>
        </p:nvSpPr>
        <p:spPr>
          <a:xfrm>
            <a:off x="6329477" y="5742432"/>
            <a:ext cx="91440" cy="91440"/>
          </a:xfrm>
          <a:prstGeom prst="ellipse">
            <a:avLst/>
          </a:prstGeom>
          <a:solidFill>
            <a:schemeClr val="accent3"/>
          </a:solidFill>
          <a:ln/>
        </p:spPr>
      </p:sp>
      <p:sp>
        <p:nvSpPr>
          <p:cNvPr id="17" name="Text 13"/>
          <p:cNvSpPr txBox="1"/>
          <p:nvPr/>
        </p:nvSpPr>
        <p:spPr>
          <a:xfrm>
            <a:off x="6466637" y="5623560"/>
            <a:ext cx="2163470" cy="329184"/>
          </a:xfrm>
          <a:prstGeom prst="rect">
            <a:avLst/>
          </a:prstGeom>
          <a:noFill/>
          <a:ln/>
        </p:spPr>
        <p:txBody>
          <a:bodyPr wrap="none" lIns="0" tIns="0" rIns="0" bIns="0" rtlCol="0" anchor="ctr"/>
          <a:lstStyle/>
          <a:p>
            <a:pPr indent="0" marL="0">
              <a:buNone/>
            </a:pPr>
            <a:r>
              <a:rPr lang="en-US" sz="1200" dirty="0">
                <a:solidFill>
                  <a:srgbClr val="FFFFFF"/>
                </a:solidFill>
              </a:rPr>
              <a:t>English, Sinhala, Tamil</a:t>
            </a:r>
            <a:endParaRPr lang="en-US" sz="1200" dirty="0"/>
          </a:p>
        </p:txBody>
      </p:sp>
      <p:sp>
        <p:nvSpPr>
          <p:cNvPr id="18" name="Text 14"/>
          <p:cNvSpPr txBox="1"/>
          <p:nvPr/>
        </p:nvSpPr>
        <p:spPr>
          <a:xfrm>
            <a:off x="8412480" y="6309360"/>
            <a:ext cx="3291840" cy="274320"/>
          </a:xfrm>
          <a:prstGeom prst="rect">
            <a:avLst/>
          </a:prstGeom>
          <a:noFill/>
          <a:ln/>
        </p:spPr>
        <p:txBody>
          <a:bodyPr wrap="square" lIns="0" tIns="0" rIns="0" bIns="0" rtlCol="0" anchor="ctr"/>
          <a:lstStyle/>
          <a:p>
            <a:pPr algn="r" indent="0" marL="0">
              <a:buNone/>
            </a:pPr>
            <a:r>
              <a:rPr lang="en-US" sz="1100" dirty="0">
                <a:solidFill>
                  <a:srgbClr val="D4D4D8"/>
                </a:solidFill>
              </a:rPr>
              <a:t>Built with Jac and Jaseci</a:t>
            </a:r>
            <a:endParaRPr lang="en-US" sz="11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 PROBLEM</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One flood night. Ninety-four messages.</a:t>
            </a:r>
            <a:endParaRPr lang="en-US" sz="3400" dirty="0"/>
          </a:p>
        </p:txBody>
      </p:sp>
      <p:sp>
        <p:nvSpPr>
          <p:cNvPr id="4" name="Text 2"/>
          <p:cNvSpPr txBox="1"/>
          <p:nvPr/>
        </p:nvSpPr>
        <p:spPr>
          <a:xfrm>
            <a:off x="548640" y="1691640"/>
            <a:ext cx="4937760" cy="1188720"/>
          </a:xfrm>
          <a:prstGeom prst="rect">
            <a:avLst/>
          </a:prstGeom>
          <a:noFill/>
          <a:ln/>
        </p:spPr>
        <p:txBody>
          <a:bodyPr wrap="square" lIns="0" tIns="0" rIns="0" bIns="0" rtlCol="0" anchor="t"/>
          <a:lstStyle/>
          <a:p>
            <a:pPr indent="0" marL="0">
              <a:buNone/>
            </a:pPr>
            <a:r>
              <a:rPr lang="en-US" sz="1600" dirty="0">
                <a:solidFill>
                  <a:schemeClr val="tx1"/>
                </a:solidFill>
              </a:rPr>
              <a:t>When the hills around Kegalle flood, help requests arrive by SMS, WhatsApp forwards, hotline calls and web forms, in English, Sinhala, Tamil and Singlish. Many describe the same family.</a:t>
            </a:r>
            <a:endParaRPr lang="en-US" sz="1600" dirty="0"/>
          </a:p>
        </p:txBody>
      </p:sp>
      <p:sp>
        <p:nvSpPr>
          <p:cNvPr id="5" name="Shape 3"/>
          <p:cNvSpPr/>
          <p:nvPr/>
        </p:nvSpPr>
        <p:spPr>
          <a:xfrm>
            <a:off x="548640" y="3154680"/>
            <a:ext cx="1508760" cy="1325880"/>
          </a:xfrm>
          <a:prstGeom prst="roundRect">
            <a:avLst>
              <a:gd name="adj" fmla="val 8276"/>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6" name="Text 4"/>
          <p:cNvSpPr txBox="1"/>
          <p:nvPr/>
        </p:nvSpPr>
        <p:spPr>
          <a:xfrm>
            <a:off x="731520" y="3291840"/>
            <a:ext cx="1188720" cy="640080"/>
          </a:xfrm>
          <a:prstGeom prst="rect">
            <a:avLst/>
          </a:prstGeom>
          <a:noFill/>
          <a:ln/>
        </p:spPr>
        <p:txBody>
          <a:bodyPr wrap="square" lIns="0" tIns="0" rIns="0" bIns="0" rtlCol="0" anchor="ctr"/>
          <a:lstStyle/>
          <a:p>
            <a:pPr indent="0" marL="0">
              <a:buNone/>
            </a:pPr>
            <a:r>
              <a:rPr lang="en-US" sz="3600" b="1" dirty="0">
                <a:solidFill>
                  <a:schemeClr val="accent1"/>
                </a:solidFill>
              </a:rPr>
              <a:t>94</a:t>
            </a:r>
            <a:endParaRPr lang="en-US" sz="3600" dirty="0"/>
          </a:p>
        </p:txBody>
      </p:sp>
      <p:sp>
        <p:nvSpPr>
          <p:cNvPr id="7" name="Text 5"/>
          <p:cNvSpPr txBox="1"/>
          <p:nvPr/>
        </p:nvSpPr>
        <p:spPr>
          <a:xfrm>
            <a:off x="731520" y="3931920"/>
            <a:ext cx="1234440" cy="457200"/>
          </a:xfrm>
          <a:prstGeom prst="rect">
            <a:avLst/>
          </a:prstGeom>
          <a:noFill/>
          <a:ln/>
        </p:spPr>
        <p:txBody>
          <a:bodyPr wrap="square" lIns="0" tIns="0" rIns="0" bIns="0" rtlCol="0" anchor="t"/>
          <a:lstStyle/>
          <a:p>
            <a:pPr indent="0" marL="0">
              <a:buNone/>
            </a:pPr>
            <a:r>
              <a:rPr lang="en-US" sz="1200" dirty="0">
                <a:solidFill>
                  <a:srgbClr val="71717A"/>
                </a:solidFill>
              </a:rPr>
              <a:t>messages in one night</a:t>
            </a:r>
            <a:endParaRPr lang="en-US" sz="1200" dirty="0"/>
          </a:p>
        </p:txBody>
      </p:sp>
      <p:sp>
        <p:nvSpPr>
          <p:cNvPr id="8" name="Shape 6"/>
          <p:cNvSpPr/>
          <p:nvPr/>
        </p:nvSpPr>
        <p:spPr>
          <a:xfrm>
            <a:off x="2240280" y="3154680"/>
            <a:ext cx="1508760" cy="1325880"/>
          </a:xfrm>
          <a:prstGeom prst="roundRect">
            <a:avLst>
              <a:gd name="adj" fmla="val 8276"/>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9" name="Text 7"/>
          <p:cNvSpPr txBox="1"/>
          <p:nvPr/>
        </p:nvSpPr>
        <p:spPr>
          <a:xfrm>
            <a:off x="2423160" y="3291840"/>
            <a:ext cx="1188720" cy="640080"/>
          </a:xfrm>
          <a:prstGeom prst="rect">
            <a:avLst/>
          </a:prstGeom>
          <a:noFill/>
          <a:ln/>
        </p:spPr>
        <p:txBody>
          <a:bodyPr wrap="square" lIns="0" tIns="0" rIns="0" bIns="0" rtlCol="0" anchor="ctr"/>
          <a:lstStyle/>
          <a:p>
            <a:pPr indent="0" marL="0">
              <a:buNone/>
            </a:pPr>
            <a:r>
              <a:rPr lang="en-US" sz="3600" b="1" dirty="0">
                <a:solidFill>
                  <a:schemeClr val="accent2"/>
                </a:solidFill>
              </a:rPr>
              <a:t>64</a:t>
            </a:r>
            <a:endParaRPr lang="en-US" sz="3600" dirty="0"/>
          </a:p>
        </p:txBody>
      </p:sp>
      <p:sp>
        <p:nvSpPr>
          <p:cNvPr id="10" name="Text 8"/>
          <p:cNvSpPr txBox="1"/>
          <p:nvPr/>
        </p:nvSpPr>
        <p:spPr>
          <a:xfrm>
            <a:off x="2423160" y="3931920"/>
            <a:ext cx="1234440" cy="457200"/>
          </a:xfrm>
          <a:prstGeom prst="rect">
            <a:avLst/>
          </a:prstGeom>
          <a:noFill/>
          <a:ln/>
        </p:spPr>
        <p:txBody>
          <a:bodyPr wrap="square" lIns="0" tIns="0" rIns="0" bIns="0" rtlCol="0" anchor="t"/>
          <a:lstStyle/>
          <a:p>
            <a:pPr indent="0" marL="0">
              <a:buNone/>
            </a:pPr>
            <a:r>
              <a:rPr lang="en-US" sz="1200" dirty="0">
                <a:solidFill>
                  <a:srgbClr val="71717A"/>
                </a:solidFill>
              </a:rPr>
              <a:t>asking for rescue</a:t>
            </a:r>
            <a:endParaRPr lang="en-US" sz="1200" dirty="0"/>
          </a:p>
        </p:txBody>
      </p:sp>
      <p:sp>
        <p:nvSpPr>
          <p:cNvPr id="11" name="Shape 9"/>
          <p:cNvSpPr/>
          <p:nvPr/>
        </p:nvSpPr>
        <p:spPr>
          <a:xfrm>
            <a:off x="3931920" y="3154680"/>
            <a:ext cx="1508760" cy="1325880"/>
          </a:xfrm>
          <a:prstGeom prst="roundRect">
            <a:avLst>
              <a:gd name="adj" fmla="val 8276"/>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2" name="Text 10"/>
          <p:cNvSpPr txBox="1"/>
          <p:nvPr/>
        </p:nvSpPr>
        <p:spPr>
          <a:xfrm>
            <a:off x="4114800" y="3291840"/>
            <a:ext cx="1188720" cy="640080"/>
          </a:xfrm>
          <a:prstGeom prst="rect">
            <a:avLst/>
          </a:prstGeom>
          <a:noFill/>
          <a:ln/>
        </p:spPr>
        <p:txBody>
          <a:bodyPr wrap="square" lIns="0" tIns="0" rIns="0" bIns="0" rtlCol="0" anchor="ctr"/>
          <a:lstStyle/>
          <a:p>
            <a:pPr indent="0" marL="0">
              <a:buNone/>
            </a:pPr>
            <a:r>
              <a:rPr lang="en-US" sz="3600" b="1" dirty="0">
                <a:solidFill>
                  <a:schemeClr val="accent3"/>
                </a:solidFill>
              </a:rPr>
              <a:t>40</a:t>
            </a:r>
            <a:endParaRPr lang="en-US" sz="3600" dirty="0"/>
          </a:p>
        </p:txBody>
      </p:sp>
      <p:sp>
        <p:nvSpPr>
          <p:cNvPr id="13" name="Text 11"/>
          <p:cNvSpPr txBox="1"/>
          <p:nvPr/>
        </p:nvSpPr>
        <p:spPr>
          <a:xfrm>
            <a:off x="4114800" y="3931920"/>
            <a:ext cx="1234440" cy="457200"/>
          </a:xfrm>
          <a:prstGeom prst="rect">
            <a:avLst/>
          </a:prstGeom>
          <a:noFill/>
          <a:ln/>
        </p:spPr>
        <p:txBody>
          <a:bodyPr wrap="square" lIns="0" tIns="0" rIns="0" bIns="0" rtlCol="0" anchor="t"/>
          <a:lstStyle/>
          <a:p>
            <a:pPr indent="0" marL="0">
              <a:buNone/>
            </a:pPr>
            <a:r>
              <a:rPr lang="en-US" sz="1200" dirty="0">
                <a:solidFill>
                  <a:srgbClr val="71717A"/>
                </a:solidFill>
              </a:rPr>
              <a:t>real households</a:t>
            </a:r>
            <a:endParaRPr lang="en-US" sz="1200" dirty="0"/>
          </a:p>
        </p:txBody>
      </p:sp>
      <p:sp>
        <p:nvSpPr>
          <p:cNvPr id="14" name="Text 12"/>
          <p:cNvSpPr txBox="1"/>
          <p:nvPr/>
        </p:nvSpPr>
        <p:spPr>
          <a:xfrm>
            <a:off x="548640" y="4754880"/>
            <a:ext cx="4937760" cy="548640"/>
          </a:xfrm>
          <a:prstGeom prst="rect">
            <a:avLst/>
          </a:prstGeom>
          <a:noFill/>
          <a:ln/>
        </p:spPr>
        <p:txBody>
          <a:bodyPr wrap="square" lIns="0" tIns="0" rIns="0" bIns="0" rtlCol="0" anchor="t"/>
          <a:lstStyle/>
          <a:p>
            <a:pPr indent="0" marL="0">
              <a:buNone/>
            </a:pPr>
            <a:r>
              <a:rPr lang="en-US" sz="1100" i="1" dirty="0">
                <a:solidFill>
                  <a:srgbClr val="71717A"/>
                </a:solidFill>
              </a:rPr>
              <a:t>Storm-night scenario: 94 messages written for our evaluation, modelled on Sri Lankan flood reports. Names and numbers are fictional.</a:t>
            </a:r>
            <a:endParaRPr lang="en-US" sz="1100" dirty="0"/>
          </a:p>
        </p:txBody>
      </p:sp>
      <p:sp>
        <p:nvSpPr>
          <p:cNvPr id="15" name="Shape 13"/>
          <p:cNvSpPr/>
          <p:nvPr/>
        </p:nvSpPr>
        <p:spPr>
          <a:xfrm>
            <a:off x="6126480" y="1691640"/>
            <a:ext cx="5486400" cy="896112"/>
          </a:xfrm>
          <a:prstGeom prst="roundRect">
            <a:avLst>
              <a:gd name="adj" fmla="val 12245"/>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6" name="Shape 14"/>
          <p:cNvSpPr/>
          <p:nvPr/>
        </p:nvSpPr>
        <p:spPr>
          <a:xfrm>
            <a:off x="6291072" y="1819656"/>
            <a:ext cx="1175918" cy="329184"/>
          </a:xfrm>
          <a:prstGeom prst="roundRect">
            <a:avLst>
              <a:gd name="adj" fmla="val 50000"/>
            </a:avLst>
          </a:prstGeom>
          <a:solidFill>
            <a:schemeClr val="bg2"/>
          </a:solidFill>
          <a:ln w="9525">
            <a:solidFill>
              <a:srgbClr val="E4E4E7"/>
            </a:solidFill>
            <a:prstDash val="solid"/>
          </a:ln>
        </p:spPr>
      </p:sp>
      <p:sp>
        <p:nvSpPr>
          <p:cNvPr id="17" name="Shape 15"/>
          <p:cNvSpPr/>
          <p:nvPr/>
        </p:nvSpPr>
        <p:spPr>
          <a:xfrm>
            <a:off x="6428232" y="1938528"/>
            <a:ext cx="91440" cy="91440"/>
          </a:xfrm>
          <a:prstGeom prst="ellipse">
            <a:avLst/>
          </a:prstGeom>
          <a:solidFill>
            <a:schemeClr val="accent3"/>
          </a:solidFill>
          <a:ln/>
        </p:spPr>
      </p:sp>
      <p:sp>
        <p:nvSpPr>
          <p:cNvPr id="18" name="Text 16"/>
          <p:cNvSpPr txBox="1"/>
          <p:nvPr/>
        </p:nvSpPr>
        <p:spPr>
          <a:xfrm>
            <a:off x="6565392" y="1819656"/>
            <a:ext cx="901598" cy="329184"/>
          </a:xfrm>
          <a:prstGeom prst="rect">
            <a:avLst/>
          </a:prstGeom>
          <a:noFill/>
          <a:ln/>
        </p:spPr>
        <p:txBody>
          <a:bodyPr wrap="none" lIns="0" tIns="0" rIns="0" bIns="0" rtlCol="0" anchor="ctr"/>
          <a:lstStyle/>
          <a:p>
            <a:pPr indent="0" marL="0">
              <a:buNone/>
            </a:pPr>
            <a:r>
              <a:rPr lang="en-US" sz="1200" dirty="0">
                <a:solidFill>
                  <a:schemeClr val="tx1"/>
                </a:solidFill>
              </a:rPr>
              <a:t>WhatsApp</a:t>
            </a:r>
            <a:endParaRPr lang="en-US" sz="1200" dirty="0"/>
          </a:p>
        </p:txBody>
      </p:sp>
      <p:sp>
        <p:nvSpPr>
          <p:cNvPr id="19" name="Text 17"/>
          <p:cNvSpPr txBox="1"/>
          <p:nvPr/>
        </p:nvSpPr>
        <p:spPr>
          <a:xfrm>
            <a:off x="10698480" y="1819656"/>
            <a:ext cx="731520" cy="329184"/>
          </a:xfrm>
          <a:prstGeom prst="rect">
            <a:avLst/>
          </a:prstGeom>
          <a:noFill/>
          <a:ln/>
        </p:spPr>
        <p:txBody>
          <a:bodyPr wrap="square" lIns="0" tIns="0" rIns="0" bIns="0" rtlCol="0" anchor="ctr"/>
          <a:lstStyle/>
          <a:p>
            <a:pPr algn="r" indent="0" marL="0">
              <a:buNone/>
            </a:pPr>
            <a:r>
              <a:rPr lang="en-US" sz="1100" dirty="0">
                <a:solidFill>
                  <a:srgbClr val="71717A"/>
                </a:solidFill>
              </a:rPr>
              <a:t>18:06</a:t>
            </a:r>
            <a:endParaRPr lang="en-US" sz="1100" dirty="0"/>
          </a:p>
        </p:txBody>
      </p:sp>
      <p:sp>
        <p:nvSpPr>
          <p:cNvPr id="20" name="Text 18"/>
          <p:cNvSpPr txBox="1"/>
          <p:nvPr/>
        </p:nvSpPr>
        <p:spPr>
          <a:xfrm>
            <a:off x="6309360" y="2167128"/>
            <a:ext cx="5120640" cy="365760"/>
          </a:xfrm>
          <a:prstGeom prst="rect">
            <a:avLst/>
          </a:prstGeom>
          <a:noFill/>
          <a:ln/>
        </p:spPr>
        <p:txBody>
          <a:bodyPr wrap="square" lIns="0" tIns="0" rIns="0" bIns="0" rtlCol="0" anchor="t">
            <a:normAutofit/>
          </a:bodyPr>
          <a:lstStyle/>
          <a:p>
            <a:pPr indent="0" marL="0">
              <a:buNone/>
            </a:pPr>
            <a:r>
              <a:rPr lang="en-US" sz="1100" dirty="0">
                <a:solidFill>
                  <a:schemeClr val="tx1"/>
                </a:solidFill>
              </a:rPr>
              <a:t>Please help, my grandmother Seelawathie Perera is 78 and in a wheelchair. Water is at the door of our house No. 14 Hettimulla Road, Kegalle.</a:t>
            </a:r>
            <a:endParaRPr lang="en-US" sz="1100" dirty="0"/>
          </a:p>
        </p:txBody>
      </p:sp>
      <p:sp>
        <p:nvSpPr>
          <p:cNvPr id="21" name="Shape 19"/>
          <p:cNvSpPr/>
          <p:nvPr/>
        </p:nvSpPr>
        <p:spPr>
          <a:xfrm>
            <a:off x="6126480" y="2697480"/>
            <a:ext cx="5486400" cy="896112"/>
          </a:xfrm>
          <a:prstGeom prst="roundRect">
            <a:avLst>
              <a:gd name="adj" fmla="val 12245"/>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22" name="Shape 20"/>
          <p:cNvSpPr/>
          <p:nvPr/>
        </p:nvSpPr>
        <p:spPr>
          <a:xfrm>
            <a:off x="6291072" y="2825496"/>
            <a:ext cx="1175918" cy="329184"/>
          </a:xfrm>
          <a:prstGeom prst="roundRect">
            <a:avLst>
              <a:gd name="adj" fmla="val 50000"/>
            </a:avLst>
          </a:prstGeom>
          <a:solidFill>
            <a:schemeClr val="bg2"/>
          </a:solidFill>
          <a:ln w="9525">
            <a:solidFill>
              <a:srgbClr val="E4E4E7"/>
            </a:solidFill>
            <a:prstDash val="solid"/>
          </a:ln>
        </p:spPr>
      </p:sp>
      <p:sp>
        <p:nvSpPr>
          <p:cNvPr id="23" name="Shape 21"/>
          <p:cNvSpPr/>
          <p:nvPr/>
        </p:nvSpPr>
        <p:spPr>
          <a:xfrm>
            <a:off x="6428232" y="2944368"/>
            <a:ext cx="91440" cy="91440"/>
          </a:xfrm>
          <a:prstGeom prst="ellipse">
            <a:avLst/>
          </a:prstGeom>
          <a:solidFill>
            <a:schemeClr val="accent3"/>
          </a:solidFill>
          <a:ln/>
        </p:spPr>
      </p:sp>
      <p:sp>
        <p:nvSpPr>
          <p:cNvPr id="24" name="Text 22"/>
          <p:cNvSpPr txBox="1"/>
          <p:nvPr/>
        </p:nvSpPr>
        <p:spPr>
          <a:xfrm>
            <a:off x="6565392" y="2825496"/>
            <a:ext cx="901598" cy="329184"/>
          </a:xfrm>
          <a:prstGeom prst="rect">
            <a:avLst/>
          </a:prstGeom>
          <a:noFill/>
          <a:ln/>
        </p:spPr>
        <p:txBody>
          <a:bodyPr wrap="none" lIns="0" tIns="0" rIns="0" bIns="0" rtlCol="0" anchor="ctr"/>
          <a:lstStyle/>
          <a:p>
            <a:pPr indent="0" marL="0">
              <a:buNone/>
            </a:pPr>
            <a:r>
              <a:rPr lang="en-US" sz="1200" dirty="0">
                <a:solidFill>
                  <a:schemeClr val="tx1"/>
                </a:solidFill>
              </a:rPr>
              <a:t>WhatsApp</a:t>
            </a:r>
            <a:endParaRPr lang="en-US" sz="1200" dirty="0"/>
          </a:p>
        </p:txBody>
      </p:sp>
      <p:sp>
        <p:nvSpPr>
          <p:cNvPr id="25" name="Text 23"/>
          <p:cNvSpPr txBox="1"/>
          <p:nvPr/>
        </p:nvSpPr>
        <p:spPr>
          <a:xfrm>
            <a:off x="10698480" y="2825496"/>
            <a:ext cx="731520" cy="329184"/>
          </a:xfrm>
          <a:prstGeom prst="rect">
            <a:avLst/>
          </a:prstGeom>
          <a:noFill/>
          <a:ln/>
        </p:spPr>
        <p:txBody>
          <a:bodyPr wrap="square" lIns="0" tIns="0" rIns="0" bIns="0" rtlCol="0" anchor="ctr"/>
          <a:lstStyle/>
          <a:p>
            <a:pPr algn="r" indent="0" marL="0">
              <a:buNone/>
            </a:pPr>
            <a:r>
              <a:rPr lang="en-US" sz="1100" dirty="0">
                <a:solidFill>
                  <a:srgbClr val="71717A"/>
                </a:solidFill>
              </a:rPr>
              <a:t>18:36</a:t>
            </a:r>
            <a:endParaRPr lang="en-US" sz="1100" dirty="0"/>
          </a:p>
        </p:txBody>
      </p:sp>
      <p:sp>
        <p:nvSpPr>
          <p:cNvPr id="26" name="Text 24"/>
          <p:cNvSpPr txBox="1"/>
          <p:nvPr/>
        </p:nvSpPr>
        <p:spPr>
          <a:xfrm>
            <a:off x="6309360" y="3172968"/>
            <a:ext cx="5120640" cy="365760"/>
          </a:xfrm>
          <a:prstGeom prst="rect">
            <a:avLst/>
          </a:prstGeom>
          <a:noFill/>
          <a:ln/>
        </p:spPr>
        <p:txBody>
          <a:bodyPr wrap="square" lIns="0" tIns="0" rIns="0" bIns="0" rtlCol="0" anchor="t">
            <a:normAutofit/>
          </a:bodyPr>
          <a:lstStyle/>
          <a:p>
            <a:pPr indent="0" marL="0">
              <a:buNone/>
            </a:pPr>
            <a:r>
              <a:rPr lang="en-US" sz="1100" dirty="0">
                <a:solidFill>
                  <a:schemeClr val="tx1"/>
                </a:solidFill>
              </a:rPr>
              <a:t>My mother Seelawathie Perera, wheelchair, alone with my son Kasun at No 14 Hettimulla Rd Kegalle. water rising. pls send boat.</a:t>
            </a:r>
            <a:endParaRPr lang="en-US" sz="1100" dirty="0"/>
          </a:p>
        </p:txBody>
      </p:sp>
      <p:sp>
        <p:nvSpPr>
          <p:cNvPr id="27" name="Shape 25"/>
          <p:cNvSpPr/>
          <p:nvPr/>
        </p:nvSpPr>
        <p:spPr>
          <a:xfrm>
            <a:off x="6126480" y="3703320"/>
            <a:ext cx="5486400" cy="896112"/>
          </a:xfrm>
          <a:prstGeom prst="roundRect">
            <a:avLst>
              <a:gd name="adj" fmla="val 12245"/>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28" name="Shape 26"/>
          <p:cNvSpPr/>
          <p:nvPr/>
        </p:nvSpPr>
        <p:spPr>
          <a:xfrm>
            <a:off x="6291072" y="3831336"/>
            <a:ext cx="1091794" cy="329184"/>
          </a:xfrm>
          <a:prstGeom prst="roundRect">
            <a:avLst>
              <a:gd name="adj" fmla="val 50000"/>
            </a:avLst>
          </a:prstGeom>
          <a:solidFill>
            <a:schemeClr val="bg2"/>
          </a:solidFill>
          <a:ln w="9525">
            <a:solidFill>
              <a:srgbClr val="E4E4E7"/>
            </a:solidFill>
            <a:prstDash val="solid"/>
          </a:ln>
        </p:spPr>
      </p:sp>
      <p:sp>
        <p:nvSpPr>
          <p:cNvPr id="29" name="Shape 27"/>
          <p:cNvSpPr/>
          <p:nvPr/>
        </p:nvSpPr>
        <p:spPr>
          <a:xfrm>
            <a:off x="6428232" y="3950208"/>
            <a:ext cx="91440" cy="91440"/>
          </a:xfrm>
          <a:prstGeom prst="ellipse">
            <a:avLst/>
          </a:prstGeom>
          <a:solidFill>
            <a:schemeClr val="accent4"/>
          </a:solidFill>
          <a:ln/>
        </p:spPr>
      </p:sp>
      <p:sp>
        <p:nvSpPr>
          <p:cNvPr id="30" name="Text 28"/>
          <p:cNvSpPr txBox="1"/>
          <p:nvPr/>
        </p:nvSpPr>
        <p:spPr>
          <a:xfrm>
            <a:off x="6565392" y="3831336"/>
            <a:ext cx="817474" cy="329184"/>
          </a:xfrm>
          <a:prstGeom prst="rect">
            <a:avLst/>
          </a:prstGeom>
          <a:noFill/>
          <a:ln/>
        </p:spPr>
        <p:txBody>
          <a:bodyPr wrap="none" lIns="0" tIns="0" rIns="0" bIns="0" rtlCol="0" anchor="ctr"/>
          <a:lstStyle/>
          <a:p>
            <a:pPr indent="0" marL="0">
              <a:buNone/>
            </a:pPr>
            <a:r>
              <a:rPr lang="en-US" sz="1200" dirty="0">
                <a:solidFill>
                  <a:schemeClr val="tx1"/>
                </a:solidFill>
              </a:rPr>
              <a:t>Forward</a:t>
            </a:r>
            <a:endParaRPr lang="en-US" sz="1200" dirty="0"/>
          </a:p>
        </p:txBody>
      </p:sp>
      <p:sp>
        <p:nvSpPr>
          <p:cNvPr id="31" name="Text 29"/>
          <p:cNvSpPr txBox="1"/>
          <p:nvPr/>
        </p:nvSpPr>
        <p:spPr>
          <a:xfrm>
            <a:off x="10698480" y="3831336"/>
            <a:ext cx="731520" cy="329184"/>
          </a:xfrm>
          <a:prstGeom prst="rect">
            <a:avLst/>
          </a:prstGeom>
          <a:noFill/>
          <a:ln/>
        </p:spPr>
        <p:txBody>
          <a:bodyPr wrap="square" lIns="0" tIns="0" rIns="0" bIns="0" rtlCol="0" anchor="ctr"/>
          <a:lstStyle/>
          <a:p>
            <a:pPr algn="r" indent="0" marL="0">
              <a:buNone/>
            </a:pPr>
            <a:r>
              <a:rPr lang="en-US" sz="1100" dirty="0">
                <a:solidFill>
                  <a:srgbClr val="71717A"/>
                </a:solidFill>
              </a:rPr>
              <a:t>18:58</a:t>
            </a:r>
            <a:endParaRPr lang="en-US" sz="1100" dirty="0"/>
          </a:p>
        </p:txBody>
      </p:sp>
      <p:sp>
        <p:nvSpPr>
          <p:cNvPr id="32" name="Text 30"/>
          <p:cNvSpPr txBox="1"/>
          <p:nvPr/>
        </p:nvSpPr>
        <p:spPr>
          <a:xfrm>
            <a:off x="6309360" y="4178808"/>
            <a:ext cx="5120640" cy="365760"/>
          </a:xfrm>
          <a:prstGeom prst="rect">
            <a:avLst/>
          </a:prstGeom>
          <a:noFill/>
          <a:ln/>
        </p:spPr>
        <p:txBody>
          <a:bodyPr wrap="square" lIns="0" tIns="0" rIns="0" bIns="0" rtlCol="0" anchor="t">
            <a:normAutofit/>
          </a:bodyPr>
          <a:lstStyle/>
          <a:p>
            <a:pPr indent="0" marL="0">
              <a:buNone/>
            </a:pPr>
            <a:r>
              <a:rPr lang="en-US" sz="1100" dirty="0">
                <a:solidFill>
                  <a:schemeClr val="tx1"/>
                </a:solidFill>
              </a:rPr>
              <a:t>Fwd: Seelawathie amma wheelchair eke, 14 Hettimulla Road, call 07X 555 0101</a:t>
            </a:r>
            <a:endParaRPr lang="en-US" sz="1100" dirty="0"/>
          </a:p>
        </p:txBody>
      </p:sp>
      <p:sp>
        <p:nvSpPr>
          <p:cNvPr id="33" name="Shape 31"/>
          <p:cNvSpPr/>
          <p:nvPr/>
        </p:nvSpPr>
        <p:spPr>
          <a:xfrm>
            <a:off x="6126480" y="4709160"/>
            <a:ext cx="5486400" cy="896112"/>
          </a:xfrm>
          <a:prstGeom prst="roundRect">
            <a:avLst>
              <a:gd name="adj" fmla="val 12245"/>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34" name="Shape 32"/>
          <p:cNvSpPr/>
          <p:nvPr/>
        </p:nvSpPr>
        <p:spPr>
          <a:xfrm>
            <a:off x="6291072" y="4837176"/>
            <a:ext cx="755294" cy="329184"/>
          </a:xfrm>
          <a:prstGeom prst="roundRect">
            <a:avLst>
              <a:gd name="adj" fmla="val 50000"/>
            </a:avLst>
          </a:prstGeom>
          <a:solidFill>
            <a:schemeClr val="bg2"/>
          </a:solidFill>
          <a:ln w="9525">
            <a:solidFill>
              <a:srgbClr val="E4E4E7"/>
            </a:solidFill>
            <a:prstDash val="solid"/>
          </a:ln>
        </p:spPr>
      </p:sp>
      <p:sp>
        <p:nvSpPr>
          <p:cNvPr id="35" name="Shape 33"/>
          <p:cNvSpPr/>
          <p:nvPr/>
        </p:nvSpPr>
        <p:spPr>
          <a:xfrm>
            <a:off x="6428232" y="4956048"/>
            <a:ext cx="91440" cy="91440"/>
          </a:xfrm>
          <a:prstGeom prst="ellipse">
            <a:avLst/>
          </a:prstGeom>
          <a:solidFill>
            <a:schemeClr val="accent1"/>
          </a:solidFill>
          <a:ln/>
        </p:spPr>
      </p:sp>
      <p:sp>
        <p:nvSpPr>
          <p:cNvPr id="36" name="Text 34"/>
          <p:cNvSpPr txBox="1"/>
          <p:nvPr/>
        </p:nvSpPr>
        <p:spPr>
          <a:xfrm>
            <a:off x="6565392" y="4837176"/>
            <a:ext cx="480974" cy="329184"/>
          </a:xfrm>
          <a:prstGeom prst="rect">
            <a:avLst/>
          </a:prstGeom>
          <a:noFill/>
          <a:ln/>
        </p:spPr>
        <p:txBody>
          <a:bodyPr wrap="none" lIns="0" tIns="0" rIns="0" bIns="0" rtlCol="0" anchor="ctr"/>
          <a:lstStyle/>
          <a:p>
            <a:pPr indent="0" marL="0">
              <a:buNone/>
            </a:pPr>
            <a:r>
              <a:rPr lang="en-US" sz="1200" dirty="0">
                <a:solidFill>
                  <a:schemeClr val="tx1"/>
                </a:solidFill>
              </a:rPr>
              <a:t>SMS</a:t>
            </a:r>
            <a:endParaRPr lang="en-US" sz="1200" dirty="0"/>
          </a:p>
        </p:txBody>
      </p:sp>
      <p:sp>
        <p:nvSpPr>
          <p:cNvPr id="37" name="Text 35"/>
          <p:cNvSpPr txBox="1"/>
          <p:nvPr/>
        </p:nvSpPr>
        <p:spPr>
          <a:xfrm>
            <a:off x="10698480" y="4837176"/>
            <a:ext cx="731520" cy="329184"/>
          </a:xfrm>
          <a:prstGeom prst="rect">
            <a:avLst/>
          </a:prstGeom>
          <a:noFill/>
          <a:ln/>
        </p:spPr>
        <p:txBody>
          <a:bodyPr wrap="square" lIns="0" tIns="0" rIns="0" bIns="0" rtlCol="0" anchor="ctr"/>
          <a:lstStyle/>
          <a:p>
            <a:pPr algn="r" indent="0" marL="0">
              <a:buNone/>
            </a:pPr>
            <a:r>
              <a:rPr lang="en-US" sz="1100" dirty="0">
                <a:solidFill>
                  <a:srgbClr val="71717A"/>
                </a:solidFill>
              </a:rPr>
              <a:t>21:15</a:t>
            </a:r>
            <a:endParaRPr lang="en-US" sz="1100" dirty="0"/>
          </a:p>
        </p:txBody>
      </p:sp>
      <p:sp>
        <p:nvSpPr>
          <p:cNvPr id="38" name="Text 36"/>
          <p:cNvSpPr txBox="1"/>
          <p:nvPr/>
        </p:nvSpPr>
        <p:spPr>
          <a:xfrm>
            <a:off x="6309360" y="5184648"/>
            <a:ext cx="5120640" cy="365760"/>
          </a:xfrm>
          <a:prstGeom prst="rect">
            <a:avLst/>
          </a:prstGeom>
          <a:noFill/>
          <a:ln/>
        </p:spPr>
        <p:txBody>
          <a:bodyPr wrap="square" lIns="0" tIns="0" rIns="0" bIns="0" rtlCol="0" anchor="t">
            <a:normAutofit/>
          </a:bodyPr>
          <a:lstStyle/>
          <a:p>
            <a:pPr indent="0" marL="0">
              <a:buNone/>
            </a:pPr>
            <a:r>
              <a:rPr lang="en-US" sz="1100" dirty="0">
                <a:solidFill>
                  <a:schemeClr val="tx1"/>
                </a:solidFill>
              </a:rPr>
              <a:t>Update from Kasun: water is now waist deep inside. Still 2 of us, grandmother and me.</a:t>
            </a:r>
            <a:endParaRPr lang="en-US" sz="1100" dirty="0"/>
          </a:p>
        </p:txBody>
      </p:sp>
      <p:sp>
        <p:nvSpPr>
          <p:cNvPr id="39" name="Shape 37"/>
          <p:cNvSpPr/>
          <p:nvPr/>
        </p:nvSpPr>
        <p:spPr>
          <a:xfrm>
            <a:off x="6126480" y="5760720"/>
            <a:ext cx="5486400" cy="420624"/>
          </a:xfrm>
          <a:prstGeom prst="roundRect">
            <a:avLst>
              <a:gd name="adj" fmla="val 50000"/>
            </a:avLst>
          </a:prstGeom>
          <a:solidFill>
            <a:schemeClr val="accent1">
              <a:alpha val="10000"/>
            </a:schemeClr>
          </a:solidFill>
          <a:ln/>
        </p:spPr>
      </p:sp>
      <p:sp>
        <p:nvSpPr>
          <p:cNvPr id="40" name="Text 38"/>
          <p:cNvSpPr txBox="1"/>
          <p:nvPr/>
        </p:nvSpPr>
        <p:spPr>
          <a:xfrm>
            <a:off x="6126480" y="5760720"/>
            <a:ext cx="5486400" cy="420624"/>
          </a:xfrm>
          <a:prstGeom prst="rect">
            <a:avLst/>
          </a:prstGeom>
          <a:noFill/>
          <a:ln/>
        </p:spPr>
        <p:txBody>
          <a:bodyPr wrap="square" lIns="0" tIns="0" rIns="0" bIns="0" rtlCol="0" anchor="ctr"/>
          <a:lstStyle/>
          <a:p>
            <a:pPr algn="ctr" indent="0" marL="0">
              <a:buNone/>
            </a:pPr>
            <a:r>
              <a:rPr lang="en-US" sz="1400" dirty="0">
                <a:solidFill>
                  <a:schemeClr val="tx1"/>
                </a:solidFill>
              </a:rPr>
              <a:t>4 messages · 3 senders · </a:t>
            </a:r>
            <a:pPr algn="ctr" indent="0" marL="0">
              <a:buNone/>
            </a:pPr>
            <a:r>
              <a:rPr lang="en-US" sz="1400" b="1" dirty="0">
                <a:solidFill>
                  <a:schemeClr val="accent1"/>
                </a:solidFill>
              </a:rPr>
              <a:t>1 household</a:t>
            </a:r>
            <a:endParaRPr lang="en-US" sz="14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WHY IT MATTERS</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Scattered messages cost calls, time and trust</a:t>
            </a:r>
            <a:endParaRPr lang="en-US" sz="3400" dirty="0"/>
          </a:p>
        </p:txBody>
      </p:sp>
      <p:pic>
        <p:nvPicPr>
          <p:cNvPr id="4" name="Image 0" descr="Satellite view of flooding in Sri Lanka">    </p:cNvPr>
          <p:cNvPicPr>
            <a:picLocks noChangeAspect="1"/>
          </p:cNvPicPr>
          <p:nvPr/>
        </p:nvPicPr>
        <p:blipFill>
          <a:blip r:embed="rId1"/>
          <a:stretch>
            <a:fillRect/>
          </a:stretch>
        </p:blipFill>
        <p:spPr>
          <a:xfrm>
            <a:off x="548640" y="1783080"/>
            <a:ext cx="3931920" cy="4343400"/>
          </a:xfrm>
          <a:prstGeom prst="rect">
            <a:avLst/>
          </a:prstGeom>
        </p:spPr>
      </p:pic>
      <p:sp>
        <p:nvSpPr>
          <p:cNvPr id="5" name="Shape 2"/>
          <p:cNvSpPr/>
          <p:nvPr/>
        </p:nvSpPr>
        <p:spPr>
          <a:xfrm>
            <a:off x="731520" y="5532120"/>
            <a:ext cx="3566160" cy="411480"/>
          </a:xfrm>
          <a:prstGeom prst="roundRect">
            <a:avLst>
              <a:gd name="adj" fmla="val 48889"/>
            </a:avLst>
          </a:prstGeom>
          <a:solidFill>
            <a:srgbClr val="0B1020">
              <a:alpha val="70000"/>
            </a:srgbClr>
          </a:solidFill>
          <a:ln/>
        </p:spPr>
      </p:sp>
      <p:sp>
        <p:nvSpPr>
          <p:cNvPr id="6" name="Text 3"/>
          <p:cNvSpPr txBox="1"/>
          <p:nvPr/>
        </p:nvSpPr>
        <p:spPr>
          <a:xfrm>
            <a:off x="731520" y="5532120"/>
            <a:ext cx="3566160" cy="411480"/>
          </a:xfrm>
          <a:prstGeom prst="rect">
            <a:avLst/>
          </a:prstGeom>
          <a:noFill/>
          <a:ln/>
        </p:spPr>
        <p:txBody>
          <a:bodyPr wrap="square" lIns="0" tIns="0" rIns="0" bIns="0" rtlCol="0" anchor="ctr"/>
          <a:lstStyle/>
          <a:p>
            <a:pPr algn="ctr" indent="0" marL="0">
              <a:buNone/>
            </a:pPr>
            <a:r>
              <a:rPr lang="en-US" sz="1100" dirty="0">
                <a:solidFill>
                  <a:srgbClr val="FFFFFF"/>
                </a:solidFill>
              </a:rPr>
              <a:t>Flooding in Sri Lanka, 9 Dec 2025 · NASA MODIS</a:t>
            </a:r>
            <a:endParaRPr lang="en-US" sz="1100" dirty="0"/>
          </a:p>
        </p:txBody>
      </p:sp>
      <p:sp>
        <p:nvSpPr>
          <p:cNvPr id="7" name="Shape 4"/>
          <p:cNvSpPr/>
          <p:nvPr/>
        </p:nvSpPr>
        <p:spPr>
          <a:xfrm>
            <a:off x="4800600" y="1783080"/>
            <a:ext cx="6839712" cy="1325880"/>
          </a:xfrm>
          <a:prstGeom prst="roundRect">
            <a:avLst>
              <a:gd name="adj" fmla="val 8276"/>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8" name="Shape 5"/>
          <p:cNvSpPr/>
          <p:nvPr/>
        </p:nvSpPr>
        <p:spPr>
          <a:xfrm>
            <a:off x="5029200" y="2057400"/>
            <a:ext cx="566928" cy="566928"/>
          </a:xfrm>
          <a:prstGeom prst="roundRect">
            <a:avLst>
              <a:gd name="adj" fmla="val 28000"/>
            </a:avLst>
          </a:prstGeom>
          <a:solidFill>
            <a:schemeClr val="accent1">
              <a:alpha val="12000"/>
            </a:schemeClr>
          </a:solidFill>
          <a:ln/>
        </p:spPr>
      </p:sp>
      <p:pic>
        <p:nvPicPr>
          <p:cNvPr id="9" name="Image 1" descr="Copy icon">    </p:cNvPr>
          <p:cNvPicPr>
            <a:picLocks noChangeAspect="1"/>
          </p:cNvPicPr>
          <p:nvPr/>
        </p:nvPicPr>
        <p:blipFill>
          <a:blip r:embed="rId2"/>
          <a:stretch>
            <a:fillRect/>
          </a:stretch>
        </p:blipFill>
        <p:spPr>
          <a:xfrm>
            <a:off x="5170932" y="2199132"/>
            <a:ext cx="283464" cy="283464"/>
          </a:xfrm>
          <a:prstGeom prst="rect">
            <a:avLst/>
          </a:prstGeom>
        </p:spPr>
      </p:pic>
      <p:sp>
        <p:nvSpPr>
          <p:cNvPr id="10" name="Text 6"/>
          <p:cNvSpPr txBox="1"/>
          <p:nvPr/>
        </p:nvSpPr>
        <p:spPr>
          <a:xfrm>
            <a:off x="5806440" y="1984248"/>
            <a:ext cx="5669280" cy="384048"/>
          </a:xfrm>
          <a:prstGeom prst="rect">
            <a:avLst/>
          </a:prstGeom>
          <a:noFill/>
          <a:ln/>
        </p:spPr>
        <p:txBody>
          <a:bodyPr wrap="square" lIns="0" tIns="0" rIns="0" bIns="0" rtlCol="0" anchor="ctr"/>
          <a:lstStyle/>
          <a:p>
            <a:pPr indent="0" marL="0">
              <a:buNone/>
            </a:pPr>
            <a:r>
              <a:rPr lang="en-US" sz="1800" b="1" dirty="0">
                <a:solidFill>
                  <a:schemeClr val="tx1"/>
                </a:solidFill>
              </a:rPr>
              <a:t>Officers call the same family again and again</a:t>
            </a:r>
            <a:endParaRPr lang="en-US" sz="1800" dirty="0"/>
          </a:p>
        </p:txBody>
      </p:sp>
      <p:sp>
        <p:nvSpPr>
          <p:cNvPr id="11" name="Text 7"/>
          <p:cNvSpPr txBox="1"/>
          <p:nvPr/>
        </p:nvSpPr>
        <p:spPr>
          <a:xfrm>
            <a:off x="5806440" y="2386584"/>
            <a:ext cx="5669280" cy="594360"/>
          </a:xfrm>
          <a:prstGeom prst="rect">
            <a:avLst/>
          </a:prstGeom>
          <a:noFill/>
          <a:ln/>
        </p:spPr>
        <p:txBody>
          <a:bodyPr wrap="square" lIns="0" tIns="0" rIns="0" bIns="0" rtlCol="0" anchor="t"/>
          <a:lstStyle/>
          <a:p>
            <a:pPr indent="0" marL="0">
              <a:buNone/>
            </a:pPr>
            <a:r>
              <a:rPr lang="en-US" sz="1400" dirty="0">
                <a:solidFill>
                  <a:srgbClr val="71717A"/>
                </a:solidFill>
              </a:rPr>
              <a:t>Relatives, forwards and updates each look like a new case. In our storm night, 24 of the calls would have been repeats.</a:t>
            </a:r>
            <a:endParaRPr lang="en-US" sz="1400" dirty="0"/>
          </a:p>
        </p:txBody>
      </p:sp>
      <p:sp>
        <p:nvSpPr>
          <p:cNvPr id="12" name="Shape 8"/>
          <p:cNvSpPr/>
          <p:nvPr/>
        </p:nvSpPr>
        <p:spPr>
          <a:xfrm>
            <a:off x="4800600" y="3291840"/>
            <a:ext cx="6839712" cy="1325880"/>
          </a:xfrm>
          <a:prstGeom prst="roundRect">
            <a:avLst>
              <a:gd name="adj" fmla="val 8276"/>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3" name="Shape 9"/>
          <p:cNvSpPr/>
          <p:nvPr/>
        </p:nvSpPr>
        <p:spPr>
          <a:xfrm>
            <a:off x="5029200" y="3566160"/>
            <a:ext cx="566928" cy="566928"/>
          </a:xfrm>
          <a:prstGeom prst="roundRect">
            <a:avLst>
              <a:gd name="adj" fmla="val 28000"/>
            </a:avLst>
          </a:prstGeom>
          <a:solidFill>
            <a:schemeClr val="accent4">
              <a:alpha val="12000"/>
            </a:schemeClr>
          </a:solidFill>
          <a:ln/>
        </p:spPr>
      </p:sp>
      <p:pic>
        <p:nvPicPr>
          <p:cNvPr id="14" name="Image 2" descr="EyeOff icon">    </p:cNvPr>
          <p:cNvPicPr>
            <a:picLocks noChangeAspect="1"/>
          </p:cNvPicPr>
          <p:nvPr/>
        </p:nvPicPr>
        <p:blipFill>
          <a:blip r:embed="rId3"/>
          <a:stretch>
            <a:fillRect/>
          </a:stretch>
        </p:blipFill>
        <p:spPr>
          <a:xfrm>
            <a:off x="5170932" y="3707892"/>
            <a:ext cx="283464" cy="283464"/>
          </a:xfrm>
          <a:prstGeom prst="rect">
            <a:avLst/>
          </a:prstGeom>
        </p:spPr>
      </p:pic>
      <p:sp>
        <p:nvSpPr>
          <p:cNvPr id="15" name="Text 10"/>
          <p:cNvSpPr txBox="1"/>
          <p:nvPr/>
        </p:nvSpPr>
        <p:spPr>
          <a:xfrm>
            <a:off x="5806440" y="3493008"/>
            <a:ext cx="5669280" cy="384048"/>
          </a:xfrm>
          <a:prstGeom prst="rect">
            <a:avLst/>
          </a:prstGeom>
          <a:noFill/>
          <a:ln/>
        </p:spPr>
        <p:txBody>
          <a:bodyPr wrap="square" lIns="0" tIns="0" rIns="0" bIns="0" rtlCol="0" anchor="ctr"/>
          <a:lstStyle/>
          <a:p>
            <a:pPr indent="0" marL="0">
              <a:buNone/>
            </a:pPr>
            <a:r>
              <a:rPr lang="en-US" sz="1800" b="1" dirty="0">
                <a:solidFill>
                  <a:schemeClr val="tx1"/>
                </a:solidFill>
              </a:rPr>
              <a:t>The most vulnerable get buried</a:t>
            </a:r>
            <a:endParaRPr lang="en-US" sz="1800" dirty="0"/>
          </a:p>
        </p:txBody>
      </p:sp>
      <p:sp>
        <p:nvSpPr>
          <p:cNvPr id="16" name="Text 11"/>
          <p:cNvSpPr txBox="1"/>
          <p:nvPr/>
        </p:nvSpPr>
        <p:spPr>
          <a:xfrm>
            <a:off x="5806440" y="3895344"/>
            <a:ext cx="5669280" cy="594360"/>
          </a:xfrm>
          <a:prstGeom prst="rect">
            <a:avLst/>
          </a:prstGeom>
          <a:noFill/>
          <a:ln/>
        </p:spPr>
        <p:txBody>
          <a:bodyPr wrap="square" lIns="0" tIns="0" rIns="0" bIns="0" rtlCol="0" anchor="t"/>
          <a:lstStyle/>
          <a:p>
            <a:pPr indent="0" marL="0">
              <a:buNone/>
            </a:pPr>
            <a:r>
              <a:rPr lang="en-US" sz="1400" dirty="0">
                <a:solidFill>
                  <a:srgbClr val="71717A"/>
                </a:solidFill>
              </a:rPr>
              <a:t>A wheelchair user or a child with asthma sits under the newest message instead of at the top of the list.</a:t>
            </a:r>
            <a:endParaRPr lang="en-US" sz="1400" dirty="0"/>
          </a:p>
        </p:txBody>
      </p:sp>
      <p:sp>
        <p:nvSpPr>
          <p:cNvPr id="17" name="Shape 12"/>
          <p:cNvSpPr/>
          <p:nvPr/>
        </p:nvSpPr>
        <p:spPr>
          <a:xfrm>
            <a:off x="4800600" y="4800600"/>
            <a:ext cx="6839712" cy="1325880"/>
          </a:xfrm>
          <a:prstGeom prst="roundRect">
            <a:avLst>
              <a:gd name="adj" fmla="val 8276"/>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8" name="Shape 13"/>
          <p:cNvSpPr/>
          <p:nvPr/>
        </p:nvSpPr>
        <p:spPr>
          <a:xfrm>
            <a:off x="5029200" y="5074920"/>
            <a:ext cx="566928" cy="566928"/>
          </a:xfrm>
          <a:prstGeom prst="roundRect">
            <a:avLst>
              <a:gd name="adj" fmla="val 28000"/>
            </a:avLst>
          </a:prstGeom>
          <a:solidFill>
            <a:schemeClr val="accent5">
              <a:alpha val="12000"/>
            </a:schemeClr>
          </a:solidFill>
          <a:ln/>
        </p:spPr>
      </p:sp>
      <p:pic>
        <p:nvPicPr>
          <p:cNvPr id="19" name="Image 3" descr="ShieldAlert icon">    </p:cNvPr>
          <p:cNvPicPr>
            <a:picLocks noChangeAspect="1"/>
          </p:cNvPicPr>
          <p:nvPr/>
        </p:nvPicPr>
        <p:blipFill>
          <a:blip r:embed="rId4"/>
          <a:stretch>
            <a:fillRect/>
          </a:stretch>
        </p:blipFill>
        <p:spPr>
          <a:xfrm>
            <a:off x="5170932" y="5216652"/>
            <a:ext cx="283464" cy="283464"/>
          </a:xfrm>
          <a:prstGeom prst="rect">
            <a:avLst/>
          </a:prstGeom>
        </p:spPr>
      </p:pic>
      <p:sp>
        <p:nvSpPr>
          <p:cNvPr id="20" name="Text 14"/>
          <p:cNvSpPr txBox="1"/>
          <p:nvPr/>
        </p:nvSpPr>
        <p:spPr>
          <a:xfrm>
            <a:off x="5806440" y="5001768"/>
            <a:ext cx="5669280" cy="384048"/>
          </a:xfrm>
          <a:prstGeom prst="rect">
            <a:avLst/>
          </a:prstGeom>
          <a:noFill/>
          <a:ln/>
        </p:spPr>
        <p:txBody>
          <a:bodyPr wrap="square" lIns="0" tIns="0" rIns="0" bIns="0" rtlCol="0" anchor="ctr"/>
          <a:lstStyle/>
          <a:p>
            <a:pPr indent="0" marL="0">
              <a:buNone/>
            </a:pPr>
            <a:r>
              <a:rPr lang="en-US" sz="1800" b="1" dirty="0">
                <a:solidFill>
                  <a:schemeClr val="tx1"/>
                </a:solidFill>
              </a:rPr>
              <a:t>Scams spread with the panic</a:t>
            </a:r>
            <a:endParaRPr lang="en-US" sz="1800" dirty="0"/>
          </a:p>
        </p:txBody>
      </p:sp>
      <p:sp>
        <p:nvSpPr>
          <p:cNvPr id="21" name="Text 15"/>
          <p:cNvSpPr txBox="1"/>
          <p:nvPr/>
        </p:nvSpPr>
        <p:spPr>
          <a:xfrm>
            <a:off x="5806440" y="5404104"/>
            <a:ext cx="5669280" cy="594360"/>
          </a:xfrm>
          <a:prstGeom prst="rect">
            <a:avLst/>
          </a:prstGeom>
          <a:noFill/>
          <a:ln/>
        </p:spPr>
        <p:txBody>
          <a:bodyPr wrap="square" lIns="0" tIns="0" rIns="0" bIns="0" rtlCol="0" anchor="t"/>
          <a:lstStyle/>
          <a:p>
            <a:pPr indent="0" marL="0">
              <a:buNone/>
            </a:pPr>
            <a:r>
              <a:rPr lang="en-US" sz="1400" dirty="0">
                <a:solidFill>
                  <a:srgbClr val="71717A"/>
                </a:solidFill>
              </a:rPr>
              <a:t>Fake “Ministry” appeals ask for OTP codes, bank logins and deposits to personal accounts.</a:t>
            </a:r>
            <a:endParaRPr lang="en-US" sz="14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THE GAP</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Information exists. Coordination does not.</a:t>
            </a:r>
            <a:endParaRPr lang="en-US" sz="3400" dirty="0"/>
          </a:p>
        </p:txBody>
      </p:sp>
      <p:sp>
        <p:nvSpPr>
          <p:cNvPr id="4" name="Shape 2"/>
          <p:cNvSpPr/>
          <p:nvPr/>
        </p:nvSpPr>
        <p:spPr>
          <a:xfrm>
            <a:off x="548640" y="1783080"/>
            <a:ext cx="4754880" cy="4297680"/>
          </a:xfrm>
          <a:prstGeom prst="roundRect">
            <a:avLst>
              <a:gd name="adj" fmla="val 2553"/>
            </a:avLst>
          </a:prstGeom>
          <a:solidFill>
            <a:schemeClr val="bg2"/>
          </a:solidFill>
          <a:ln/>
        </p:spPr>
      </p:sp>
      <p:sp>
        <p:nvSpPr>
          <p:cNvPr id="5" name="Text 3"/>
          <p:cNvSpPr txBox="1"/>
          <p:nvPr/>
        </p:nvSpPr>
        <p:spPr>
          <a:xfrm>
            <a:off x="868680" y="2011680"/>
            <a:ext cx="4114800" cy="365760"/>
          </a:xfrm>
          <a:prstGeom prst="rect">
            <a:avLst/>
          </a:prstGeom>
          <a:noFill/>
          <a:ln/>
        </p:spPr>
        <p:txBody>
          <a:bodyPr wrap="square" lIns="0" tIns="0" rIns="0" bIns="0" rtlCol="0" anchor="ctr"/>
          <a:lstStyle/>
          <a:p>
            <a:pPr indent="0" marL="0">
              <a:buNone/>
            </a:pPr>
            <a:r>
              <a:rPr lang="en-US" sz="1800" b="1" dirty="0">
                <a:solidFill>
                  <a:schemeClr val="tx1"/>
                </a:solidFill>
              </a:rPr>
              <a:t>What exists today</a:t>
            </a:r>
            <a:endParaRPr lang="en-US" sz="1800" dirty="0"/>
          </a:p>
        </p:txBody>
      </p:sp>
      <p:pic>
        <p:nvPicPr>
          <p:cNvPr id="6" name="Image 0" descr="preencoded.png">    </p:cNvPr>
          <p:cNvPicPr>
            <a:picLocks noChangeAspect="1"/>
          </p:cNvPicPr>
          <p:nvPr/>
        </p:nvPicPr>
        <p:blipFill>
          <a:blip r:embed="rId1"/>
          <a:stretch>
            <a:fillRect/>
          </a:stretch>
        </p:blipFill>
        <p:spPr>
          <a:xfrm>
            <a:off x="868680" y="2642616"/>
            <a:ext cx="274320" cy="274320"/>
          </a:xfrm>
          <a:prstGeom prst="rect">
            <a:avLst/>
          </a:prstGeom>
        </p:spPr>
      </p:pic>
      <p:sp>
        <p:nvSpPr>
          <p:cNvPr id="7" name="Text 4"/>
          <p:cNvSpPr txBox="1"/>
          <p:nvPr/>
        </p:nvSpPr>
        <p:spPr>
          <a:xfrm>
            <a:off x="1280160" y="2606040"/>
            <a:ext cx="3840480" cy="365760"/>
          </a:xfrm>
          <a:prstGeom prst="rect">
            <a:avLst/>
          </a:prstGeom>
          <a:noFill/>
          <a:ln/>
        </p:spPr>
        <p:txBody>
          <a:bodyPr wrap="square" lIns="0" tIns="0" rIns="0" bIns="0" rtlCol="0" anchor="ctr"/>
          <a:lstStyle/>
          <a:p>
            <a:pPr indent="0" marL="0">
              <a:buNone/>
            </a:pPr>
            <a:r>
              <a:rPr lang="en-US" sz="1500" dirty="0">
                <a:solidFill>
                  <a:srgbClr val="52525B"/>
                </a:solidFill>
              </a:rPr>
              <a:t>Hotline numbers and WhatsApp groups</a:t>
            </a:r>
            <a:endParaRPr lang="en-US" sz="1500" dirty="0"/>
          </a:p>
        </p:txBody>
      </p:sp>
      <p:pic>
        <p:nvPicPr>
          <p:cNvPr id="8" name="Image 1" descr="preencoded.png">    </p:cNvPr>
          <p:cNvPicPr>
            <a:picLocks noChangeAspect="1"/>
          </p:cNvPicPr>
          <p:nvPr/>
        </p:nvPicPr>
        <p:blipFill>
          <a:blip r:embed="rId2"/>
          <a:stretch>
            <a:fillRect/>
          </a:stretch>
        </p:blipFill>
        <p:spPr>
          <a:xfrm>
            <a:off x="868680" y="3209544"/>
            <a:ext cx="274320" cy="274320"/>
          </a:xfrm>
          <a:prstGeom prst="rect">
            <a:avLst/>
          </a:prstGeom>
        </p:spPr>
      </p:pic>
      <p:sp>
        <p:nvSpPr>
          <p:cNvPr id="9" name="Text 5"/>
          <p:cNvSpPr txBox="1"/>
          <p:nvPr/>
        </p:nvSpPr>
        <p:spPr>
          <a:xfrm>
            <a:off x="1280160" y="3172968"/>
            <a:ext cx="3840480" cy="365760"/>
          </a:xfrm>
          <a:prstGeom prst="rect">
            <a:avLst/>
          </a:prstGeom>
          <a:noFill/>
          <a:ln/>
        </p:spPr>
        <p:txBody>
          <a:bodyPr wrap="square" lIns="0" tIns="0" rIns="0" bIns="0" rtlCol="0" anchor="ctr"/>
          <a:lstStyle/>
          <a:p>
            <a:pPr indent="0" marL="0">
              <a:buNone/>
            </a:pPr>
            <a:r>
              <a:rPr lang="en-US" sz="1500" dirty="0">
                <a:solidFill>
                  <a:srgbClr val="52525B"/>
                </a:solidFill>
              </a:rPr>
              <a:t>Alerts, news and government notices</a:t>
            </a:r>
            <a:endParaRPr lang="en-US" sz="1500" dirty="0"/>
          </a:p>
        </p:txBody>
      </p:sp>
      <p:pic>
        <p:nvPicPr>
          <p:cNvPr id="10" name="Image 2" descr="preencoded.png">    </p:cNvPr>
          <p:cNvPicPr>
            <a:picLocks noChangeAspect="1"/>
          </p:cNvPicPr>
          <p:nvPr/>
        </p:nvPicPr>
        <p:blipFill>
          <a:blip r:embed="rId3"/>
          <a:stretch>
            <a:fillRect/>
          </a:stretch>
        </p:blipFill>
        <p:spPr>
          <a:xfrm>
            <a:off x="868680" y="3776472"/>
            <a:ext cx="274320" cy="274320"/>
          </a:xfrm>
          <a:prstGeom prst="rect">
            <a:avLst/>
          </a:prstGeom>
        </p:spPr>
      </p:pic>
      <p:sp>
        <p:nvSpPr>
          <p:cNvPr id="11" name="Text 6"/>
          <p:cNvSpPr txBox="1"/>
          <p:nvPr/>
        </p:nvSpPr>
        <p:spPr>
          <a:xfrm>
            <a:off x="1280160" y="3739896"/>
            <a:ext cx="3840480" cy="365760"/>
          </a:xfrm>
          <a:prstGeom prst="rect">
            <a:avLst/>
          </a:prstGeom>
          <a:noFill/>
          <a:ln/>
        </p:spPr>
        <p:txBody>
          <a:bodyPr wrap="square" lIns="0" tIns="0" rIns="0" bIns="0" rtlCol="0" anchor="ctr"/>
          <a:lstStyle/>
          <a:p>
            <a:pPr indent="0" marL="0">
              <a:buNone/>
            </a:pPr>
            <a:r>
              <a:rPr lang="en-US" sz="1500" dirty="0">
                <a:solidFill>
                  <a:srgbClr val="52525B"/>
                </a:solidFill>
              </a:rPr>
              <a:t>NGO and volunteer efforts</a:t>
            </a:r>
            <a:endParaRPr lang="en-US" sz="1500" dirty="0"/>
          </a:p>
        </p:txBody>
      </p:sp>
      <p:pic>
        <p:nvPicPr>
          <p:cNvPr id="12" name="Image 3" descr="preencoded.png">    </p:cNvPr>
          <p:cNvPicPr>
            <a:picLocks noChangeAspect="1"/>
          </p:cNvPicPr>
          <p:nvPr/>
        </p:nvPicPr>
        <p:blipFill>
          <a:blip r:embed="rId4"/>
          <a:stretch>
            <a:fillRect/>
          </a:stretch>
        </p:blipFill>
        <p:spPr>
          <a:xfrm>
            <a:off x="868680" y="4343400"/>
            <a:ext cx="274320" cy="274320"/>
          </a:xfrm>
          <a:prstGeom prst="rect">
            <a:avLst/>
          </a:prstGeom>
        </p:spPr>
      </p:pic>
      <p:sp>
        <p:nvSpPr>
          <p:cNvPr id="13" name="Text 7"/>
          <p:cNvSpPr txBox="1"/>
          <p:nvPr/>
        </p:nvSpPr>
        <p:spPr>
          <a:xfrm>
            <a:off x="1280160" y="4306824"/>
            <a:ext cx="3840480" cy="365760"/>
          </a:xfrm>
          <a:prstGeom prst="rect">
            <a:avLst/>
          </a:prstGeom>
          <a:noFill/>
          <a:ln/>
        </p:spPr>
        <p:txBody>
          <a:bodyPr wrap="square" lIns="0" tIns="0" rIns="0" bIns="0" rtlCol="0" anchor="ctr"/>
          <a:lstStyle/>
          <a:p>
            <a:pPr indent="0" marL="0">
              <a:buNone/>
            </a:pPr>
            <a:r>
              <a:rPr lang="en-US" sz="1500" dirty="0">
                <a:solidFill>
                  <a:srgbClr val="52525B"/>
                </a:solidFill>
              </a:rPr>
              <a:t>Fund-raising appeals of every kind</a:t>
            </a:r>
            <a:endParaRPr lang="en-US" sz="1500" dirty="0"/>
          </a:p>
        </p:txBody>
      </p:sp>
      <p:sp>
        <p:nvSpPr>
          <p:cNvPr id="14" name="Text 8"/>
          <p:cNvSpPr txBox="1"/>
          <p:nvPr/>
        </p:nvSpPr>
        <p:spPr>
          <a:xfrm>
            <a:off x="868680" y="5120640"/>
            <a:ext cx="4206240" cy="640080"/>
          </a:xfrm>
          <a:prstGeom prst="rect">
            <a:avLst/>
          </a:prstGeom>
          <a:noFill/>
          <a:ln/>
        </p:spPr>
        <p:txBody>
          <a:bodyPr wrap="square" lIns="0" tIns="0" rIns="0" bIns="0" rtlCol="0" anchor="t"/>
          <a:lstStyle/>
          <a:p>
            <a:pPr indent="0" marL="0">
              <a:buNone/>
            </a:pPr>
            <a:r>
              <a:rPr lang="en-US" sz="1300" i="1" dirty="0">
                <a:solidFill>
                  <a:srgbClr val="71717A"/>
                </a:solidFill>
              </a:rPr>
              <a:t>Each works alone. Nobody holds the whole picture.</a:t>
            </a:r>
            <a:endParaRPr lang="en-US" sz="1300" dirty="0"/>
          </a:p>
        </p:txBody>
      </p:sp>
      <p:sp>
        <p:nvSpPr>
          <p:cNvPr id="15" name="Shape 9"/>
          <p:cNvSpPr/>
          <p:nvPr/>
        </p:nvSpPr>
        <p:spPr>
          <a:xfrm>
            <a:off x="5596128" y="3611880"/>
            <a:ext cx="548640" cy="548640"/>
          </a:xfrm>
          <a:prstGeom prst="ellipse">
            <a:avLst/>
          </a:prstGeom>
          <a:solidFill>
            <a:schemeClr val="accent1"/>
          </a:solidFill>
          <a:ln/>
        </p:spPr>
      </p:sp>
      <p:pic>
        <p:nvPicPr>
          <p:cNvPr id="16" name="Image 4" descr="ArrowRight icon">    </p:cNvPr>
          <p:cNvPicPr>
            <a:picLocks noChangeAspect="1"/>
          </p:cNvPicPr>
          <p:nvPr/>
        </p:nvPicPr>
        <p:blipFill>
          <a:blip r:embed="rId5"/>
          <a:stretch>
            <a:fillRect/>
          </a:stretch>
        </p:blipFill>
        <p:spPr>
          <a:xfrm>
            <a:off x="5733288" y="3749040"/>
            <a:ext cx="274320" cy="274320"/>
          </a:xfrm>
          <a:prstGeom prst="rect">
            <a:avLst/>
          </a:prstGeom>
        </p:spPr>
      </p:pic>
      <p:sp>
        <p:nvSpPr>
          <p:cNvPr id="17" name="Shape 10"/>
          <p:cNvSpPr/>
          <p:nvPr/>
        </p:nvSpPr>
        <p:spPr>
          <a:xfrm>
            <a:off x="6446520" y="1783080"/>
            <a:ext cx="5193792" cy="4297680"/>
          </a:xfrm>
          <a:prstGeom prst="roundRect">
            <a:avLst>
              <a:gd name="adj" fmla="val 2553"/>
            </a:avLst>
          </a:prstGeom>
          <a:solidFill>
            <a:schemeClr val="accent1">
              <a:alpha val="7000"/>
            </a:schemeClr>
          </a:solidFill>
          <a:ln w="9525">
            <a:solidFill>
              <a:srgbClr val="BFDBFE"/>
            </a:solidFill>
            <a:prstDash val="solid"/>
          </a:ln>
        </p:spPr>
      </p:sp>
      <p:sp>
        <p:nvSpPr>
          <p:cNvPr id="18" name="Text 11"/>
          <p:cNvSpPr txBox="1"/>
          <p:nvPr/>
        </p:nvSpPr>
        <p:spPr>
          <a:xfrm>
            <a:off x="6766560" y="2011680"/>
            <a:ext cx="4572000" cy="365760"/>
          </a:xfrm>
          <a:prstGeom prst="rect">
            <a:avLst/>
          </a:prstGeom>
          <a:noFill/>
          <a:ln/>
        </p:spPr>
        <p:txBody>
          <a:bodyPr wrap="square" lIns="0" tIns="0" rIns="0" bIns="0" rtlCol="0" anchor="ctr"/>
          <a:lstStyle/>
          <a:p>
            <a:pPr indent="0" marL="0">
              <a:buNone/>
            </a:pPr>
            <a:r>
              <a:rPr lang="en-US" sz="1800" b="1" dirty="0">
                <a:solidFill>
                  <a:schemeClr val="accent1"/>
                </a:solidFill>
              </a:rPr>
              <a:t>What a flood desk needs</a:t>
            </a:r>
            <a:endParaRPr lang="en-US" sz="1800" dirty="0"/>
          </a:p>
        </p:txBody>
      </p:sp>
      <p:pic>
        <p:nvPicPr>
          <p:cNvPr id="19" name="Image 5" descr="preencoded.png">    </p:cNvPr>
          <p:cNvPicPr>
            <a:picLocks noChangeAspect="1"/>
          </p:cNvPicPr>
          <p:nvPr/>
        </p:nvPicPr>
        <p:blipFill>
          <a:blip r:embed="rId6"/>
          <a:stretch>
            <a:fillRect/>
          </a:stretch>
        </p:blipFill>
        <p:spPr>
          <a:xfrm>
            <a:off x="6766560" y="2642616"/>
            <a:ext cx="274320" cy="274320"/>
          </a:xfrm>
          <a:prstGeom prst="rect">
            <a:avLst/>
          </a:prstGeom>
        </p:spPr>
      </p:pic>
      <p:sp>
        <p:nvSpPr>
          <p:cNvPr id="20" name="Text 12"/>
          <p:cNvSpPr txBox="1"/>
          <p:nvPr/>
        </p:nvSpPr>
        <p:spPr>
          <a:xfrm>
            <a:off x="7178040" y="2606040"/>
            <a:ext cx="4297680" cy="365760"/>
          </a:xfrm>
          <a:prstGeom prst="rect">
            <a:avLst/>
          </a:prstGeom>
          <a:noFill/>
          <a:ln/>
        </p:spPr>
        <p:txBody>
          <a:bodyPr wrap="square" lIns="0" tIns="0" rIns="0" bIns="0" rtlCol="0" anchor="ctr"/>
          <a:lstStyle/>
          <a:p>
            <a:pPr indent="0" marL="0">
              <a:buNone/>
            </a:pPr>
            <a:r>
              <a:rPr lang="en-US" sz="1500" dirty="0">
                <a:solidFill>
                  <a:schemeClr val="tx1"/>
                </a:solidFill>
              </a:rPr>
              <a:t>One verified record per household</a:t>
            </a:r>
            <a:endParaRPr lang="en-US" sz="1500" dirty="0"/>
          </a:p>
        </p:txBody>
      </p:sp>
      <p:pic>
        <p:nvPicPr>
          <p:cNvPr id="21" name="Image 6" descr="preencoded.png">    </p:cNvPr>
          <p:cNvPicPr>
            <a:picLocks noChangeAspect="1"/>
          </p:cNvPicPr>
          <p:nvPr/>
        </p:nvPicPr>
        <p:blipFill>
          <a:blip r:embed="rId7"/>
          <a:stretch>
            <a:fillRect/>
          </a:stretch>
        </p:blipFill>
        <p:spPr>
          <a:xfrm>
            <a:off x="6766560" y="3209544"/>
            <a:ext cx="274320" cy="274320"/>
          </a:xfrm>
          <a:prstGeom prst="rect">
            <a:avLst/>
          </a:prstGeom>
        </p:spPr>
      </p:pic>
      <p:sp>
        <p:nvSpPr>
          <p:cNvPr id="22" name="Text 13"/>
          <p:cNvSpPr txBox="1"/>
          <p:nvPr/>
        </p:nvSpPr>
        <p:spPr>
          <a:xfrm>
            <a:off x="7178040" y="3172968"/>
            <a:ext cx="4297680" cy="365760"/>
          </a:xfrm>
          <a:prstGeom prst="rect">
            <a:avLst/>
          </a:prstGeom>
          <a:noFill/>
          <a:ln/>
        </p:spPr>
        <p:txBody>
          <a:bodyPr wrap="square" lIns="0" tIns="0" rIns="0" bIns="0" rtlCol="0" anchor="ctr"/>
          <a:lstStyle/>
          <a:p>
            <a:pPr indent="0" marL="0">
              <a:buNone/>
            </a:pPr>
            <a:r>
              <a:rPr lang="en-US" sz="1500" dirty="0">
                <a:solidFill>
                  <a:schemeClr val="tx1"/>
                </a:solidFill>
              </a:rPr>
              <a:t>A call queue ranked by need, with reasons</a:t>
            </a:r>
            <a:endParaRPr lang="en-US" sz="1500" dirty="0"/>
          </a:p>
        </p:txBody>
      </p:sp>
      <p:pic>
        <p:nvPicPr>
          <p:cNvPr id="23" name="Image 7" descr="preencoded.png">    </p:cNvPr>
          <p:cNvPicPr>
            <a:picLocks noChangeAspect="1"/>
          </p:cNvPicPr>
          <p:nvPr/>
        </p:nvPicPr>
        <p:blipFill>
          <a:blip r:embed="rId8"/>
          <a:stretch>
            <a:fillRect/>
          </a:stretch>
        </p:blipFill>
        <p:spPr>
          <a:xfrm>
            <a:off x="6766560" y="3776472"/>
            <a:ext cx="274320" cy="274320"/>
          </a:xfrm>
          <a:prstGeom prst="rect">
            <a:avLst/>
          </a:prstGeom>
        </p:spPr>
      </p:pic>
      <p:sp>
        <p:nvSpPr>
          <p:cNvPr id="24" name="Text 14"/>
          <p:cNvSpPr txBox="1"/>
          <p:nvPr/>
        </p:nvSpPr>
        <p:spPr>
          <a:xfrm>
            <a:off x="7178040" y="3739896"/>
            <a:ext cx="4297680" cy="365760"/>
          </a:xfrm>
          <a:prstGeom prst="rect">
            <a:avLst/>
          </a:prstGeom>
          <a:noFill/>
          <a:ln/>
        </p:spPr>
        <p:txBody>
          <a:bodyPr wrap="square" lIns="0" tIns="0" rIns="0" bIns="0" rtlCol="0" anchor="ctr"/>
          <a:lstStyle/>
          <a:p>
            <a:pPr indent="0" marL="0">
              <a:buNone/>
            </a:pPr>
            <a:r>
              <a:rPr lang="en-US" sz="1500" dirty="0">
                <a:solidFill>
                  <a:schemeClr val="tx1"/>
                </a:solidFill>
              </a:rPr>
              <a:t>Relief requests linked to delivery</a:t>
            </a:r>
            <a:endParaRPr lang="en-US" sz="1500" dirty="0"/>
          </a:p>
        </p:txBody>
      </p:sp>
      <p:pic>
        <p:nvPicPr>
          <p:cNvPr id="25" name="Image 8" descr="preencoded.png">    </p:cNvPr>
          <p:cNvPicPr>
            <a:picLocks noChangeAspect="1"/>
          </p:cNvPicPr>
          <p:nvPr/>
        </p:nvPicPr>
        <p:blipFill>
          <a:blip r:embed="rId9"/>
          <a:stretch>
            <a:fillRect/>
          </a:stretch>
        </p:blipFill>
        <p:spPr>
          <a:xfrm>
            <a:off x="6766560" y="4343400"/>
            <a:ext cx="274320" cy="274320"/>
          </a:xfrm>
          <a:prstGeom prst="rect">
            <a:avLst/>
          </a:prstGeom>
        </p:spPr>
      </p:pic>
      <p:sp>
        <p:nvSpPr>
          <p:cNvPr id="26" name="Text 15"/>
          <p:cNvSpPr txBox="1"/>
          <p:nvPr/>
        </p:nvSpPr>
        <p:spPr>
          <a:xfrm>
            <a:off x="7178040" y="4306824"/>
            <a:ext cx="4297680" cy="365760"/>
          </a:xfrm>
          <a:prstGeom prst="rect">
            <a:avLst/>
          </a:prstGeom>
          <a:noFill/>
          <a:ln/>
        </p:spPr>
        <p:txBody>
          <a:bodyPr wrap="square" lIns="0" tIns="0" rIns="0" bIns="0" rtlCol="0" anchor="ctr"/>
          <a:lstStyle/>
          <a:p>
            <a:pPr indent="0" marL="0">
              <a:buNone/>
            </a:pPr>
            <a:r>
              <a:rPr lang="en-US" sz="1500" dirty="0">
                <a:solidFill>
                  <a:schemeClr val="tx1"/>
                </a:solidFill>
              </a:rPr>
              <a:t>Appeals checked before anyone pays</a:t>
            </a:r>
            <a:endParaRPr lang="en-US" sz="1500" dirty="0"/>
          </a:p>
        </p:txBody>
      </p:sp>
      <p:pic>
        <p:nvPicPr>
          <p:cNvPr id="27" name="Image 9" descr="preencoded.png">    </p:cNvPr>
          <p:cNvPicPr>
            <a:picLocks noChangeAspect="1"/>
          </p:cNvPicPr>
          <p:nvPr/>
        </p:nvPicPr>
        <p:blipFill>
          <a:blip r:embed="rId10"/>
          <a:stretch>
            <a:fillRect/>
          </a:stretch>
        </p:blipFill>
        <p:spPr>
          <a:xfrm>
            <a:off x="6766560" y="4910328"/>
            <a:ext cx="274320" cy="274320"/>
          </a:xfrm>
          <a:prstGeom prst="rect">
            <a:avLst/>
          </a:prstGeom>
        </p:spPr>
      </p:pic>
      <p:sp>
        <p:nvSpPr>
          <p:cNvPr id="28" name="Text 16"/>
          <p:cNvSpPr txBox="1"/>
          <p:nvPr/>
        </p:nvSpPr>
        <p:spPr>
          <a:xfrm>
            <a:off x="7178040" y="4873752"/>
            <a:ext cx="4297680" cy="365760"/>
          </a:xfrm>
          <a:prstGeom prst="rect">
            <a:avLst/>
          </a:prstGeom>
          <a:noFill/>
          <a:ln/>
        </p:spPr>
        <p:txBody>
          <a:bodyPr wrap="square" lIns="0" tIns="0" rIns="0" bIns="0" rtlCol="0" anchor="ctr"/>
          <a:lstStyle/>
          <a:p>
            <a:pPr indent="0" marL="0">
              <a:buNone/>
            </a:pPr>
            <a:r>
              <a:rPr lang="en-US" sz="1500" dirty="0">
                <a:solidFill>
                  <a:schemeClr val="tx1"/>
                </a:solidFill>
              </a:rPr>
              <a:t>One shared picture for citizens, officers, relief groups and the district</a:t>
            </a:r>
            <a:endParaRPr lang="en-US" sz="15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OUR SOLUTION</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CrisisConnect: one trusted queue</a:t>
            </a:r>
            <a:endParaRPr lang="en-US" sz="3400" dirty="0"/>
          </a:p>
        </p:txBody>
      </p:sp>
      <p:sp>
        <p:nvSpPr>
          <p:cNvPr id="4" name="Text 2"/>
          <p:cNvSpPr txBox="1"/>
          <p:nvPr/>
        </p:nvSpPr>
        <p:spPr>
          <a:xfrm>
            <a:off x="548640" y="1691640"/>
            <a:ext cx="4206240" cy="914400"/>
          </a:xfrm>
          <a:prstGeom prst="rect">
            <a:avLst/>
          </a:prstGeom>
          <a:noFill/>
          <a:ln/>
        </p:spPr>
        <p:txBody>
          <a:bodyPr wrap="square" lIns="0" tIns="0" rIns="0" bIns="0" rtlCol="0" anchor="t"/>
          <a:lstStyle/>
          <a:p>
            <a:pPr indent="0" marL="0">
              <a:buNone/>
            </a:pPr>
            <a:r>
              <a:rPr lang="en-US" sz="1600" dirty="0">
                <a:solidFill>
                  <a:schemeClr val="tx1"/>
                </a:solidFill>
              </a:rPr>
              <a:t>Every message becomes part of one verified household record that follows the case from the first SOS to delivered help.</a:t>
            </a:r>
            <a:endParaRPr lang="en-US" sz="1600" dirty="0"/>
          </a:p>
        </p:txBody>
      </p:sp>
      <p:sp>
        <p:nvSpPr>
          <p:cNvPr id="5" name="Shape 3"/>
          <p:cNvSpPr/>
          <p:nvPr/>
        </p:nvSpPr>
        <p:spPr>
          <a:xfrm>
            <a:off x="548640" y="2743200"/>
            <a:ext cx="457200" cy="457200"/>
          </a:xfrm>
          <a:prstGeom prst="roundRect">
            <a:avLst>
              <a:gd name="adj" fmla="val 28000"/>
            </a:avLst>
          </a:prstGeom>
          <a:solidFill>
            <a:schemeClr val="accent1">
              <a:alpha val="12000"/>
            </a:schemeClr>
          </a:solidFill>
          <a:ln/>
        </p:spPr>
      </p:sp>
      <p:pic>
        <p:nvPicPr>
          <p:cNvPr id="6" name="Image 0" descr="GitMerge icon">    </p:cNvPr>
          <p:cNvPicPr>
            <a:picLocks noChangeAspect="1"/>
          </p:cNvPicPr>
          <p:nvPr/>
        </p:nvPicPr>
        <p:blipFill>
          <a:blip r:embed="rId1"/>
          <a:stretch>
            <a:fillRect/>
          </a:stretch>
        </p:blipFill>
        <p:spPr>
          <a:xfrm>
            <a:off x="662940" y="2857500"/>
            <a:ext cx="228600" cy="228600"/>
          </a:xfrm>
          <a:prstGeom prst="rect">
            <a:avLst/>
          </a:prstGeom>
        </p:spPr>
      </p:pic>
      <p:sp>
        <p:nvSpPr>
          <p:cNvPr id="7" name="Text 4"/>
          <p:cNvSpPr txBox="1"/>
          <p:nvPr/>
        </p:nvSpPr>
        <p:spPr>
          <a:xfrm>
            <a:off x="1188720" y="2706624"/>
            <a:ext cx="3611880" cy="566928"/>
          </a:xfrm>
          <a:prstGeom prst="rect">
            <a:avLst/>
          </a:prstGeom>
          <a:noFill/>
          <a:ln/>
        </p:spPr>
        <p:txBody>
          <a:bodyPr wrap="square" lIns="0" tIns="0" rIns="0" bIns="0" rtlCol="0" anchor="t"/>
          <a:lstStyle/>
          <a:p>
            <a:pPr indent="0" marL="0">
              <a:buNone/>
            </a:pPr>
            <a:r>
              <a:rPr lang="en-US" sz="1300" b="1" dirty="0">
                <a:solidFill>
                  <a:schemeClr val="tx1"/>
                </a:solidFill>
              </a:rPr>
              <a:t>Merge  </a:t>
            </a:r>
            <a:pPr indent="0" marL="0">
              <a:buNone/>
            </a:pPr>
            <a:r>
              <a:rPr lang="en-US" sz="1300" dirty="0">
                <a:solidFill>
                  <a:srgbClr val="71717A"/>
                </a:solidFill>
              </a:rPr>
              <a:t>Messages that share a phone, a full name or a house become one incident.</a:t>
            </a:r>
            <a:endParaRPr lang="en-US" sz="1300" dirty="0"/>
          </a:p>
        </p:txBody>
      </p:sp>
      <p:sp>
        <p:nvSpPr>
          <p:cNvPr id="8" name="Shape 5"/>
          <p:cNvSpPr/>
          <p:nvPr/>
        </p:nvSpPr>
        <p:spPr>
          <a:xfrm>
            <a:off x="548640" y="3547872"/>
            <a:ext cx="457200" cy="457200"/>
          </a:xfrm>
          <a:prstGeom prst="roundRect">
            <a:avLst>
              <a:gd name="adj" fmla="val 28000"/>
            </a:avLst>
          </a:prstGeom>
          <a:solidFill>
            <a:schemeClr val="accent2">
              <a:alpha val="12000"/>
            </a:schemeClr>
          </a:solidFill>
          <a:ln/>
        </p:spPr>
      </p:sp>
      <p:pic>
        <p:nvPicPr>
          <p:cNvPr id="9" name="Image 1" descr="ListOrdered icon">    </p:cNvPr>
          <p:cNvPicPr>
            <a:picLocks noChangeAspect="1"/>
          </p:cNvPicPr>
          <p:nvPr/>
        </p:nvPicPr>
        <p:blipFill>
          <a:blip r:embed="rId2"/>
          <a:stretch>
            <a:fillRect/>
          </a:stretch>
        </p:blipFill>
        <p:spPr>
          <a:xfrm>
            <a:off x="662940" y="3662172"/>
            <a:ext cx="228600" cy="228600"/>
          </a:xfrm>
          <a:prstGeom prst="rect">
            <a:avLst/>
          </a:prstGeom>
        </p:spPr>
      </p:pic>
      <p:sp>
        <p:nvSpPr>
          <p:cNvPr id="10" name="Text 6"/>
          <p:cNvSpPr txBox="1"/>
          <p:nvPr/>
        </p:nvSpPr>
        <p:spPr>
          <a:xfrm>
            <a:off x="1188720" y="3511296"/>
            <a:ext cx="3611880" cy="566928"/>
          </a:xfrm>
          <a:prstGeom prst="rect">
            <a:avLst/>
          </a:prstGeom>
          <a:noFill/>
          <a:ln/>
        </p:spPr>
        <p:txBody>
          <a:bodyPr wrap="square" lIns="0" tIns="0" rIns="0" bIns="0" rtlCol="0" anchor="t"/>
          <a:lstStyle/>
          <a:p>
            <a:pPr indent="0" marL="0">
              <a:buNone/>
            </a:pPr>
            <a:r>
              <a:rPr lang="en-US" sz="1300" b="1" dirty="0">
                <a:solidFill>
                  <a:schemeClr val="tx1"/>
                </a:solidFill>
              </a:rPr>
              <a:t>Rank  </a:t>
            </a:r>
            <a:pPr indent="0" marL="0">
              <a:buNone/>
            </a:pPr>
            <a:r>
              <a:rPr lang="en-US" sz="1300" dirty="0">
                <a:solidFill>
                  <a:srgbClr val="71717A"/>
                </a:solidFill>
              </a:rPr>
              <a:t>Most vulnerable first, and every rank says why.</a:t>
            </a:r>
            <a:endParaRPr lang="en-US" sz="1300" dirty="0"/>
          </a:p>
        </p:txBody>
      </p:sp>
      <p:sp>
        <p:nvSpPr>
          <p:cNvPr id="11" name="Shape 7"/>
          <p:cNvSpPr/>
          <p:nvPr/>
        </p:nvSpPr>
        <p:spPr>
          <a:xfrm>
            <a:off x="548640" y="4352544"/>
            <a:ext cx="457200" cy="457200"/>
          </a:xfrm>
          <a:prstGeom prst="roundRect">
            <a:avLst>
              <a:gd name="adj" fmla="val 28000"/>
            </a:avLst>
          </a:prstGeom>
          <a:solidFill>
            <a:schemeClr val="accent3">
              <a:alpha val="12000"/>
            </a:schemeClr>
          </a:solidFill>
          <a:ln/>
        </p:spPr>
      </p:sp>
      <p:pic>
        <p:nvPicPr>
          <p:cNvPr id="12" name="Image 2" descr="UserCheck icon">    </p:cNvPr>
          <p:cNvPicPr>
            <a:picLocks noChangeAspect="1"/>
          </p:cNvPicPr>
          <p:nvPr/>
        </p:nvPicPr>
        <p:blipFill>
          <a:blip r:embed="rId3"/>
          <a:stretch>
            <a:fillRect/>
          </a:stretch>
        </p:blipFill>
        <p:spPr>
          <a:xfrm>
            <a:off x="662940" y="4466844"/>
            <a:ext cx="228600" cy="228600"/>
          </a:xfrm>
          <a:prstGeom prst="rect">
            <a:avLst/>
          </a:prstGeom>
        </p:spPr>
      </p:pic>
      <p:sp>
        <p:nvSpPr>
          <p:cNvPr id="13" name="Text 8"/>
          <p:cNvSpPr txBox="1"/>
          <p:nvPr/>
        </p:nvSpPr>
        <p:spPr>
          <a:xfrm>
            <a:off x="1188720" y="4315968"/>
            <a:ext cx="3611880" cy="566928"/>
          </a:xfrm>
          <a:prstGeom prst="rect">
            <a:avLst/>
          </a:prstGeom>
          <a:noFill/>
          <a:ln/>
        </p:spPr>
        <p:txBody>
          <a:bodyPr wrap="square" lIns="0" tIns="0" rIns="0" bIns="0" rtlCol="0" anchor="t"/>
          <a:lstStyle/>
          <a:p>
            <a:pPr indent="0" marL="0">
              <a:buNone/>
            </a:pPr>
            <a:r>
              <a:rPr lang="en-US" sz="1300" b="1" dirty="0">
                <a:solidFill>
                  <a:schemeClr val="tx1"/>
                </a:solidFill>
              </a:rPr>
              <a:t>Verify  </a:t>
            </a:r>
            <a:pPr indent="0" marL="0">
              <a:buNone/>
            </a:pPr>
            <a:r>
              <a:rPr lang="en-US" sz="1300" dirty="0">
                <a:solidFill>
                  <a:srgbClr val="71717A"/>
                </a:solidFill>
              </a:rPr>
              <a:t>An officer confirms by phone before help is sent.</a:t>
            </a:r>
            <a:endParaRPr lang="en-US" sz="1300" dirty="0"/>
          </a:p>
        </p:txBody>
      </p:sp>
      <p:sp>
        <p:nvSpPr>
          <p:cNvPr id="14" name="Shape 9"/>
          <p:cNvSpPr/>
          <p:nvPr/>
        </p:nvSpPr>
        <p:spPr>
          <a:xfrm>
            <a:off x="548640" y="5157216"/>
            <a:ext cx="457200" cy="457200"/>
          </a:xfrm>
          <a:prstGeom prst="roundRect">
            <a:avLst>
              <a:gd name="adj" fmla="val 28000"/>
            </a:avLst>
          </a:prstGeom>
          <a:solidFill>
            <a:schemeClr val="accent4">
              <a:alpha val="12000"/>
            </a:schemeClr>
          </a:solidFill>
          <a:ln/>
        </p:spPr>
      </p:sp>
      <p:pic>
        <p:nvPicPr>
          <p:cNvPr id="15" name="Image 3" descr="Truck icon">    </p:cNvPr>
          <p:cNvPicPr>
            <a:picLocks noChangeAspect="1"/>
          </p:cNvPicPr>
          <p:nvPr/>
        </p:nvPicPr>
        <p:blipFill>
          <a:blip r:embed="rId4"/>
          <a:stretch>
            <a:fillRect/>
          </a:stretch>
        </p:blipFill>
        <p:spPr>
          <a:xfrm>
            <a:off x="662940" y="5271516"/>
            <a:ext cx="228600" cy="228600"/>
          </a:xfrm>
          <a:prstGeom prst="rect">
            <a:avLst/>
          </a:prstGeom>
        </p:spPr>
      </p:pic>
      <p:sp>
        <p:nvSpPr>
          <p:cNvPr id="16" name="Text 10"/>
          <p:cNvSpPr txBox="1"/>
          <p:nvPr/>
        </p:nvSpPr>
        <p:spPr>
          <a:xfrm>
            <a:off x="1188720" y="5120640"/>
            <a:ext cx="3611880" cy="566928"/>
          </a:xfrm>
          <a:prstGeom prst="rect">
            <a:avLst/>
          </a:prstGeom>
          <a:noFill/>
          <a:ln/>
        </p:spPr>
        <p:txBody>
          <a:bodyPr wrap="square" lIns="0" tIns="0" rIns="0" bIns="0" rtlCol="0" anchor="t"/>
          <a:lstStyle/>
          <a:p>
            <a:pPr indent="0" marL="0">
              <a:buNone/>
            </a:pPr>
            <a:r>
              <a:rPr lang="en-US" sz="1300" b="1" dirty="0">
                <a:solidFill>
                  <a:schemeClr val="tx1"/>
                </a:solidFill>
              </a:rPr>
              <a:t>Deliver  </a:t>
            </a:r>
            <a:pPr indent="0" marL="0">
              <a:buNone/>
            </a:pPr>
            <a:r>
              <a:rPr lang="en-US" sz="1300" dirty="0">
                <a:solidFill>
                  <a:srgbClr val="71717A"/>
                </a:solidFill>
              </a:rPr>
              <a:t>Relief groups accept, dispatch and mark help delivered.</a:t>
            </a:r>
            <a:endParaRPr lang="en-US" sz="1300" dirty="0"/>
          </a:p>
        </p:txBody>
      </p:sp>
      <p:sp>
        <p:nvSpPr>
          <p:cNvPr id="17" name="Shape 11"/>
          <p:cNvSpPr/>
          <p:nvPr/>
        </p:nvSpPr>
        <p:spPr>
          <a:xfrm>
            <a:off x="5074920" y="1783080"/>
            <a:ext cx="6565392" cy="4312403"/>
          </a:xfrm>
          <a:prstGeom prst="roundRect">
            <a:avLst>
              <a:gd name="adj" fmla="val 2544"/>
            </a:avLst>
          </a:prstGeom>
          <a:solidFill>
            <a:schemeClr val="bg1"/>
          </a:solidFill>
          <a:ln/>
          <a:effectLst>
            <a:outerShdw sx="100000" sy="100000" kx="0" ky="0" algn="bl" rotWithShape="0" blurRad="228600" dist="76200" dir="5400000">
              <a:srgbClr val="0B1020">
                <a:alpha val="18000"/>
              </a:srgbClr>
            </a:outerShdw>
          </a:effectLst>
        </p:spPr>
      </p:sp>
      <p:pic>
        <p:nvPicPr>
          <p:cNvPr id="18" name="Image 4" descr="CrisisConnect start page with the portal choices">    </p:cNvPr>
          <p:cNvPicPr>
            <a:picLocks noChangeAspect="1"/>
          </p:cNvPicPr>
          <p:nvPr/>
        </p:nvPicPr>
        <p:blipFill>
          <a:blip r:embed="rId5"/>
          <a:stretch>
            <a:fillRect/>
          </a:stretch>
        </p:blipFill>
        <p:spPr>
          <a:xfrm>
            <a:off x="5074920" y="1783080"/>
            <a:ext cx="6565392" cy="4312403"/>
          </a:xfrm>
          <a:prstGeom prst="rect">
            <a:avLst/>
          </a:prstGeom>
        </p:spPr>
      </p:pic>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WHO IT SERVES</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Four portals. One shared picture.</a:t>
            </a:r>
            <a:endParaRPr lang="en-US" sz="3400" dirty="0"/>
          </a:p>
        </p:txBody>
      </p:sp>
      <p:sp>
        <p:nvSpPr>
          <p:cNvPr id="4" name="Shape 2"/>
          <p:cNvSpPr/>
          <p:nvPr/>
        </p:nvSpPr>
        <p:spPr>
          <a:xfrm>
            <a:off x="548640" y="1783080"/>
            <a:ext cx="2615184" cy="4343400"/>
          </a:xfrm>
          <a:prstGeom prst="roundRect">
            <a:avLst>
              <a:gd name="adj" fmla="val 4196"/>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pic>
        <p:nvPicPr>
          <p:cNvPr id="5" name="Image 0" descr="Citizen portal photo">    </p:cNvPr>
          <p:cNvPicPr>
            <a:picLocks noChangeAspect="1"/>
          </p:cNvPicPr>
          <p:nvPr/>
        </p:nvPicPr>
        <p:blipFill>
          <a:blip r:embed="rId1"/>
          <a:stretch>
            <a:fillRect/>
          </a:stretch>
        </p:blipFill>
        <p:spPr>
          <a:xfrm>
            <a:off x="548640" y="1783080"/>
            <a:ext cx="2615184" cy="1600200"/>
          </a:xfrm>
          <a:prstGeom prst="rect">
            <a:avLst/>
          </a:prstGeom>
        </p:spPr>
      </p:pic>
      <p:sp>
        <p:nvSpPr>
          <p:cNvPr id="6" name="Shape 3"/>
          <p:cNvSpPr/>
          <p:nvPr/>
        </p:nvSpPr>
        <p:spPr>
          <a:xfrm>
            <a:off x="749808" y="3154680"/>
            <a:ext cx="457200" cy="457200"/>
          </a:xfrm>
          <a:prstGeom prst="roundRect">
            <a:avLst>
              <a:gd name="adj" fmla="val 28000"/>
            </a:avLst>
          </a:prstGeom>
          <a:solidFill>
            <a:schemeClr val="accent1"/>
          </a:solidFill>
          <a:ln/>
        </p:spPr>
      </p:sp>
      <p:pic>
        <p:nvPicPr>
          <p:cNvPr id="7" name="Image 1" descr="LifeBuoy icon">    </p:cNvPr>
          <p:cNvPicPr>
            <a:picLocks noChangeAspect="1"/>
          </p:cNvPicPr>
          <p:nvPr/>
        </p:nvPicPr>
        <p:blipFill>
          <a:blip r:embed="rId2"/>
          <a:stretch>
            <a:fillRect/>
          </a:stretch>
        </p:blipFill>
        <p:spPr>
          <a:xfrm>
            <a:off x="864108" y="3268980"/>
            <a:ext cx="228600" cy="228600"/>
          </a:xfrm>
          <a:prstGeom prst="rect">
            <a:avLst/>
          </a:prstGeom>
        </p:spPr>
      </p:pic>
      <p:sp>
        <p:nvSpPr>
          <p:cNvPr id="8" name="Text 4"/>
          <p:cNvSpPr txBox="1"/>
          <p:nvPr/>
        </p:nvSpPr>
        <p:spPr>
          <a:xfrm>
            <a:off x="749808" y="3749040"/>
            <a:ext cx="2212848" cy="365760"/>
          </a:xfrm>
          <a:prstGeom prst="rect">
            <a:avLst/>
          </a:prstGeom>
          <a:noFill/>
          <a:ln/>
        </p:spPr>
        <p:txBody>
          <a:bodyPr wrap="square" lIns="0" tIns="0" rIns="0" bIns="0" rtlCol="0" anchor="ctr"/>
          <a:lstStyle/>
          <a:p>
            <a:pPr indent="0" marL="0">
              <a:buNone/>
            </a:pPr>
            <a:r>
              <a:rPr lang="en-US" sz="1800" b="1" dirty="0">
                <a:solidFill>
                  <a:schemeClr val="tx1"/>
                </a:solidFill>
              </a:rPr>
              <a:t>Citizen</a:t>
            </a:r>
            <a:endParaRPr lang="en-US" sz="1800" dirty="0"/>
          </a:p>
        </p:txBody>
      </p:sp>
      <p:sp>
        <p:nvSpPr>
          <p:cNvPr id="9" name="Text 5"/>
          <p:cNvSpPr txBox="1"/>
          <p:nvPr/>
        </p:nvSpPr>
        <p:spPr>
          <a:xfrm>
            <a:off x="749808" y="4114800"/>
            <a:ext cx="2212848" cy="502920"/>
          </a:xfrm>
          <a:prstGeom prst="rect">
            <a:avLst/>
          </a:prstGeom>
          <a:noFill/>
          <a:ln/>
        </p:spPr>
        <p:txBody>
          <a:bodyPr wrap="square" lIns="0" tIns="0" rIns="0" bIns="0" rtlCol="0" anchor="t"/>
          <a:lstStyle/>
          <a:p>
            <a:pPr indent="0" marL="0">
              <a:buNone/>
            </a:pPr>
            <a:r>
              <a:rPr lang="en-US" sz="1200" b="1" dirty="0">
                <a:solidFill>
                  <a:schemeClr val="accent1"/>
                </a:solidFill>
              </a:rPr>
              <a:t>People in the flood and their families</a:t>
            </a:r>
            <a:endParaRPr lang="en-US" sz="1200" dirty="0"/>
          </a:p>
        </p:txBody>
      </p:sp>
      <p:sp>
        <p:nvSpPr>
          <p:cNvPr id="10" name="Text 6"/>
          <p:cNvSpPr txBox="1"/>
          <p:nvPr/>
        </p:nvSpPr>
        <p:spPr>
          <a:xfrm>
            <a:off x="749808" y="4663440"/>
            <a:ext cx="2212848" cy="914400"/>
          </a:xfrm>
          <a:prstGeom prst="rect">
            <a:avLst/>
          </a:prstGeom>
          <a:noFill/>
          <a:ln/>
        </p:spPr>
        <p:txBody>
          <a:bodyPr wrap="square" lIns="0" tIns="0" rIns="0" bIns="0" rtlCol="0" anchor="t"/>
          <a:lstStyle/>
          <a:p>
            <a:pPr indent="0" marL="0">
              <a:buNone/>
            </a:pPr>
            <a:r>
              <a:rPr lang="en-US" sz="1400" dirty="0">
                <a:solidFill>
                  <a:srgbClr val="71717A"/>
                </a:solidFill>
              </a:rPr>
              <a:t>Send an SOS, track the request, and check an appeal before paying.</a:t>
            </a:r>
            <a:endParaRPr lang="en-US" sz="1400" dirty="0"/>
          </a:p>
        </p:txBody>
      </p:sp>
      <p:sp>
        <p:nvSpPr>
          <p:cNvPr id="11" name="Shape 7"/>
          <p:cNvSpPr/>
          <p:nvPr/>
        </p:nvSpPr>
        <p:spPr>
          <a:xfrm>
            <a:off x="749808" y="5577840"/>
            <a:ext cx="2212848" cy="0"/>
          </a:xfrm>
          <a:prstGeom prst="line">
            <a:avLst/>
          </a:prstGeom>
          <a:noFill/>
          <a:ln w="9525">
            <a:solidFill>
              <a:srgbClr val="E4E4E7"/>
            </a:solidFill>
            <a:prstDash val="solid"/>
          </a:ln>
        </p:spPr>
      </p:sp>
      <p:sp>
        <p:nvSpPr>
          <p:cNvPr id="12" name="Text 8"/>
          <p:cNvSpPr txBox="1"/>
          <p:nvPr/>
        </p:nvSpPr>
        <p:spPr>
          <a:xfrm>
            <a:off x="749808" y="5669280"/>
            <a:ext cx="2212848" cy="292608"/>
          </a:xfrm>
          <a:prstGeom prst="rect">
            <a:avLst/>
          </a:prstGeom>
          <a:noFill/>
          <a:ln/>
        </p:spPr>
        <p:txBody>
          <a:bodyPr wrap="square" lIns="0" tIns="0" rIns="0" bIns="0" rtlCol="0" anchor="ctr"/>
          <a:lstStyle/>
          <a:p>
            <a:pPr indent="0" marL="0">
              <a:buNone/>
            </a:pPr>
            <a:r>
              <a:rPr lang="en-US" sz="1100" b="1" dirty="0">
                <a:solidFill>
                  <a:schemeClr val="accent1"/>
                </a:solidFill>
              </a:rPr>
              <a:t>5 pages · SOS, track, check, map</a:t>
            </a:r>
            <a:endParaRPr lang="en-US" sz="1100" dirty="0"/>
          </a:p>
        </p:txBody>
      </p:sp>
      <p:sp>
        <p:nvSpPr>
          <p:cNvPr id="13" name="Shape 9"/>
          <p:cNvSpPr/>
          <p:nvPr/>
        </p:nvSpPr>
        <p:spPr>
          <a:xfrm>
            <a:off x="3364992" y="1783080"/>
            <a:ext cx="2615184" cy="4343400"/>
          </a:xfrm>
          <a:prstGeom prst="roundRect">
            <a:avLst>
              <a:gd name="adj" fmla="val 4196"/>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pic>
        <p:nvPicPr>
          <p:cNvPr id="14" name="Image 2" descr="Division officer portal photo">    </p:cNvPr>
          <p:cNvPicPr>
            <a:picLocks noChangeAspect="1"/>
          </p:cNvPicPr>
          <p:nvPr/>
        </p:nvPicPr>
        <p:blipFill>
          <a:blip r:embed="rId3"/>
          <a:stretch>
            <a:fillRect/>
          </a:stretch>
        </p:blipFill>
        <p:spPr>
          <a:xfrm>
            <a:off x="3364992" y="1783080"/>
            <a:ext cx="2615184" cy="1600200"/>
          </a:xfrm>
          <a:prstGeom prst="rect">
            <a:avLst/>
          </a:prstGeom>
        </p:spPr>
      </p:pic>
      <p:sp>
        <p:nvSpPr>
          <p:cNvPr id="15" name="Shape 10"/>
          <p:cNvSpPr/>
          <p:nvPr/>
        </p:nvSpPr>
        <p:spPr>
          <a:xfrm>
            <a:off x="3566160" y="3154680"/>
            <a:ext cx="457200" cy="457200"/>
          </a:xfrm>
          <a:prstGeom prst="roundRect">
            <a:avLst>
              <a:gd name="adj" fmla="val 28000"/>
            </a:avLst>
          </a:prstGeom>
          <a:solidFill>
            <a:schemeClr val="accent2"/>
          </a:solidFill>
          <a:ln/>
        </p:spPr>
      </p:sp>
      <p:pic>
        <p:nvPicPr>
          <p:cNvPr id="16" name="Image 3" descr="PhoneCall icon">    </p:cNvPr>
          <p:cNvPicPr>
            <a:picLocks noChangeAspect="1"/>
          </p:cNvPicPr>
          <p:nvPr/>
        </p:nvPicPr>
        <p:blipFill>
          <a:blip r:embed="rId4"/>
          <a:stretch>
            <a:fillRect/>
          </a:stretch>
        </p:blipFill>
        <p:spPr>
          <a:xfrm>
            <a:off x="3680460" y="3268980"/>
            <a:ext cx="228600" cy="228600"/>
          </a:xfrm>
          <a:prstGeom prst="rect">
            <a:avLst/>
          </a:prstGeom>
        </p:spPr>
      </p:pic>
      <p:sp>
        <p:nvSpPr>
          <p:cNvPr id="17" name="Text 11"/>
          <p:cNvSpPr txBox="1"/>
          <p:nvPr/>
        </p:nvSpPr>
        <p:spPr>
          <a:xfrm>
            <a:off x="3566160" y="3749040"/>
            <a:ext cx="2212848" cy="365760"/>
          </a:xfrm>
          <a:prstGeom prst="rect">
            <a:avLst/>
          </a:prstGeom>
          <a:noFill/>
          <a:ln/>
        </p:spPr>
        <p:txBody>
          <a:bodyPr wrap="square" lIns="0" tIns="0" rIns="0" bIns="0" rtlCol="0" anchor="ctr"/>
          <a:lstStyle/>
          <a:p>
            <a:pPr indent="0" marL="0">
              <a:buNone/>
            </a:pPr>
            <a:r>
              <a:rPr lang="en-US" sz="1800" b="1" dirty="0">
                <a:solidFill>
                  <a:schemeClr val="tx1"/>
                </a:solidFill>
              </a:rPr>
              <a:t>Division officer</a:t>
            </a:r>
            <a:endParaRPr lang="en-US" sz="1800" dirty="0"/>
          </a:p>
        </p:txBody>
      </p:sp>
      <p:sp>
        <p:nvSpPr>
          <p:cNvPr id="18" name="Text 12"/>
          <p:cNvSpPr txBox="1"/>
          <p:nvPr/>
        </p:nvSpPr>
        <p:spPr>
          <a:xfrm>
            <a:off x="3566160" y="4114800"/>
            <a:ext cx="2212848" cy="502920"/>
          </a:xfrm>
          <a:prstGeom prst="rect">
            <a:avLst/>
          </a:prstGeom>
          <a:noFill/>
          <a:ln/>
        </p:spPr>
        <p:txBody>
          <a:bodyPr wrap="square" lIns="0" tIns="0" rIns="0" bIns="0" rtlCol="0" anchor="t"/>
          <a:lstStyle/>
          <a:p>
            <a:pPr indent="0" marL="0">
              <a:buNone/>
            </a:pPr>
            <a:r>
              <a:rPr lang="en-US" sz="1200" b="1" dirty="0">
                <a:solidFill>
                  <a:schemeClr val="accent2"/>
                </a:solidFill>
              </a:rPr>
              <a:t>Grama Niladhari and divisional desks</a:t>
            </a:r>
            <a:endParaRPr lang="en-US" sz="1200" dirty="0"/>
          </a:p>
        </p:txBody>
      </p:sp>
      <p:sp>
        <p:nvSpPr>
          <p:cNvPr id="19" name="Text 13"/>
          <p:cNvSpPr txBox="1"/>
          <p:nvPr/>
        </p:nvSpPr>
        <p:spPr>
          <a:xfrm>
            <a:off x="3566160" y="4663440"/>
            <a:ext cx="2212848" cy="914400"/>
          </a:xfrm>
          <a:prstGeom prst="rect">
            <a:avLst/>
          </a:prstGeom>
          <a:noFill/>
          <a:ln/>
        </p:spPr>
        <p:txBody>
          <a:bodyPr wrap="square" lIns="0" tIns="0" rIns="0" bIns="0" rtlCol="0" anchor="t"/>
          <a:lstStyle/>
          <a:p>
            <a:pPr indent="0" marL="0">
              <a:buNone/>
            </a:pPr>
            <a:r>
              <a:rPr lang="en-US" sz="1400" dirty="0">
                <a:solidFill>
                  <a:srgbClr val="71717A"/>
                </a:solidFill>
              </a:rPr>
              <a:t>Call the most vulnerable first, confirm by phone, request relief.</a:t>
            </a:r>
            <a:endParaRPr lang="en-US" sz="1400" dirty="0"/>
          </a:p>
        </p:txBody>
      </p:sp>
      <p:sp>
        <p:nvSpPr>
          <p:cNvPr id="20" name="Shape 14"/>
          <p:cNvSpPr/>
          <p:nvPr/>
        </p:nvSpPr>
        <p:spPr>
          <a:xfrm>
            <a:off x="3566160" y="5577840"/>
            <a:ext cx="2212848" cy="0"/>
          </a:xfrm>
          <a:prstGeom prst="line">
            <a:avLst/>
          </a:prstGeom>
          <a:noFill/>
          <a:ln w="9525">
            <a:solidFill>
              <a:srgbClr val="E4E4E7"/>
            </a:solidFill>
            <a:prstDash val="solid"/>
          </a:ln>
        </p:spPr>
      </p:sp>
      <p:sp>
        <p:nvSpPr>
          <p:cNvPr id="21" name="Text 15"/>
          <p:cNvSpPr txBox="1"/>
          <p:nvPr/>
        </p:nvSpPr>
        <p:spPr>
          <a:xfrm>
            <a:off x="3566160" y="5669280"/>
            <a:ext cx="2212848" cy="292608"/>
          </a:xfrm>
          <a:prstGeom prst="rect">
            <a:avLst/>
          </a:prstGeom>
          <a:noFill/>
          <a:ln/>
        </p:spPr>
        <p:txBody>
          <a:bodyPr wrap="square" lIns="0" tIns="0" rIns="0" bIns="0" rtlCol="0" anchor="ctr"/>
          <a:lstStyle/>
          <a:p>
            <a:pPr indent="0" marL="0">
              <a:buNone/>
            </a:pPr>
            <a:r>
              <a:rPr lang="en-US" sz="1100" b="1" dirty="0">
                <a:solidFill>
                  <a:schemeClr val="accent2"/>
                </a:solidFill>
              </a:rPr>
              <a:t>3 pages · queue, requests, route</a:t>
            </a:r>
            <a:endParaRPr lang="en-US" sz="1100" dirty="0"/>
          </a:p>
        </p:txBody>
      </p:sp>
      <p:sp>
        <p:nvSpPr>
          <p:cNvPr id="22" name="Shape 16"/>
          <p:cNvSpPr/>
          <p:nvPr/>
        </p:nvSpPr>
        <p:spPr>
          <a:xfrm>
            <a:off x="6181344" y="1783080"/>
            <a:ext cx="2615184" cy="4343400"/>
          </a:xfrm>
          <a:prstGeom prst="roundRect">
            <a:avLst>
              <a:gd name="adj" fmla="val 4196"/>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pic>
        <p:nvPicPr>
          <p:cNvPr id="23" name="Image 4" descr="Relief group portal photo">    </p:cNvPr>
          <p:cNvPicPr>
            <a:picLocks noChangeAspect="1"/>
          </p:cNvPicPr>
          <p:nvPr/>
        </p:nvPicPr>
        <p:blipFill>
          <a:blip r:embed="rId5"/>
          <a:stretch>
            <a:fillRect/>
          </a:stretch>
        </p:blipFill>
        <p:spPr>
          <a:xfrm>
            <a:off x="6181344" y="1783080"/>
            <a:ext cx="2615184" cy="1600200"/>
          </a:xfrm>
          <a:prstGeom prst="rect">
            <a:avLst/>
          </a:prstGeom>
        </p:spPr>
      </p:pic>
      <p:sp>
        <p:nvSpPr>
          <p:cNvPr id="24" name="Shape 17"/>
          <p:cNvSpPr/>
          <p:nvPr/>
        </p:nvSpPr>
        <p:spPr>
          <a:xfrm>
            <a:off x="6382512" y="3154680"/>
            <a:ext cx="457200" cy="457200"/>
          </a:xfrm>
          <a:prstGeom prst="roundRect">
            <a:avLst>
              <a:gd name="adj" fmla="val 28000"/>
            </a:avLst>
          </a:prstGeom>
          <a:solidFill>
            <a:schemeClr val="accent3"/>
          </a:solidFill>
          <a:ln/>
        </p:spPr>
      </p:sp>
      <p:pic>
        <p:nvPicPr>
          <p:cNvPr id="25" name="Image 5" descr="HeartHandshake icon">    </p:cNvPr>
          <p:cNvPicPr>
            <a:picLocks noChangeAspect="1"/>
          </p:cNvPicPr>
          <p:nvPr/>
        </p:nvPicPr>
        <p:blipFill>
          <a:blip r:embed="rId6"/>
          <a:stretch>
            <a:fillRect/>
          </a:stretch>
        </p:blipFill>
        <p:spPr>
          <a:xfrm>
            <a:off x="6496812" y="3268980"/>
            <a:ext cx="228600" cy="228600"/>
          </a:xfrm>
          <a:prstGeom prst="rect">
            <a:avLst/>
          </a:prstGeom>
        </p:spPr>
      </p:pic>
      <p:sp>
        <p:nvSpPr>
          <p:cNvPr id="26" name="Text 18"/>
          <p:cNvSpPr txBox="1"/>
          <p:nvPr/>
        </p:nvSpPr>
        <p:spPr>
          <a:xfrm>
            <a:off x="6382512" y="3749040"/>
            <a:ext cx="2212848" cy="365760"/>
          </a:xfrm>
          <a:prstGeom prst="rect">
            <a:avLst/>
          </a:prstGeom>
          <a:noFill/>
          <a:ln/>
        </p:spPr>
        <p:txBody>
          <a:bodyPr wrap="square" lIns="0" tIns="0" rIns="0" bIns="0" rtlCol="0" anchor="ctr"/>
          <a:lstStyle/>
          <a:p>
            <a:pPr indent="0" marL="0">
              <a:buNone/>
            </a:pPr>
            <a:r>
              <a:rPr lang="en-US" sz="1800" b="1" dirty="0">
                <a:solidFill>
                  <a:schemeClr val="tx1"/>
                </a:solidFill>
              </a:rPr>
              <a:t>Relief group</a:t>
            </a:r>
            <a:endParaRPr lang="en-US" sz="1800" dirty="0"/>
          </a:p>
        </p:txBody>
      </p:sp>
      <p:sp>
        <p:nvSpPr>
          <p:cNvPr id="27" name="Text 19"/>
          <p:cNvSpPr txBox="1"/>
          <p:nvPr/>
        </p:nvSpPr>
        <p:spPr>
          <a:xfrm>
            <a:off x="6382512" y="4114800"/>
            <a:ext cx="2212848" cy="502920"/>
          </a:xfrm>
          <a:prstGeom prst="rect">
            <a:avLst/>
          </a:prstGeom>
          <a:noFill/>
          <a:ln/>
        </p:spPr>
        <p:txBody>
          <a:bodyPr wrap="square" lIns="0" tIns="0" rIns="0" bIns="0" rtlCol="0" anchor="t"/>
          <a:lstStyle/>
          <a:p>
            <a:pPr indent="0" marL="0">
              <a:buNone/>
            </a:pPr>
            <a:r>
              <a:rPr lang="en-US" sz="1200" b="1" dirty="0">
                <a:solidFill>
                  <a:schemeClr val="accent3"/>
                </a:solidFill>
              </a:rPr>
              <a:t>Registered NGOs and volunteers</a:t>
            </a:r>
            <a:endParaRPr lang="en-US" sz="1200" dirty="0"/>
          </a:p>
        </p:txBody>
      </p:sp>
      <p:sp>
        <p:nvSpPr>
          <p:cNvPr id="28" name="Text 20"/>
          <p:cNvSpPr txBox="1"/>
          <p:nvPr/>
        </p:nvSpPr>
        <p:spPr>
          <a:xfrm>
            <a:off x="6382512" y="4663440"/>
            <a:ext cx="2212848" cy="914400"/>
          </a:xfrm>
          <a:prstGeom prst="rect">
            <a:avLst/>
          </a:prstGeom>
          <a:noFill/>
          <a:ln/>
        </p:spPr>
        <p:txBody>
          <a:bodyPr wrap="square" lIns="0" tIns="0" rIns="0" bIns="0" rtlCol="0" anchor="t"/>
          <a:lstStyle/>
          <a:p>
            <a:pPr indent="0" marL="0">
              <a:buNone/>
            </a:pPr>
            <a:r>
              <a:rPr lang="en-US" sz="1400" dirty="0">
                <a:solidFill>
                  <a:srgbClr val="71717A"/>
                </a:solidFill>
              </a:rPr>
              <a:t>Accept requests that fit, plan the run, mark help delivered.</a:t>
            </a:r>
            <a:endParaRPr lang="en-US" sz="1400" dirty="0"/>
          </a:p>
        </p:txBody>
      </p:sp>
      <p:sp>
        <p:nvSpPr>
          <p:cNvPr id="29" name="Shape 21"/>
          <p:cNvSpPr/>
          <p:nvPr/>
        </p:nvSpPr>
        <p:spPr>
          <a:xfrm>
            <a:off x="6382512" y="5577840"/>
            <a:ext cx="2212848" cy="0"/>
          </a:xfrm>
          <a:prstGeom prst="line">
            <a:avLst/>
          </a:prstGeom>
          <a:noFill/>
          <a:ln w="9525">
            <a:solidFill>
              <a:srgbClr val="E4E4E7"/>
            </a:solidFill>
            <a:prstDash val="solid"/>
          </a:ln>
        </p:spPr>
      </p:sp>
      <p:sp>
        <p:nvSpPr>
          <p:cNvPr id="30" name="Text 22"/>
          <p:cNvSpPr txBox="1"/>
          <p:nvPr/>
        </p:nvSpPr>
        <p:spPr>
          <a:xfrm>
            <a:off x="6382512" y="5669280"/>
            <a:ext cx="2212848" cy="292608"/>
          </a:xfrm>
          <a:prstGeom prst="rect">
            <a:avLst/>
          </a:prstGeom>
          <a:noFill/>
          <a:ln/>
        </p:spPr>
        <p:txBody>
          <a:bodyPr wrap="square" lIns="0" tIns="0" rIns="0" bIns="0" rtlCol="0" anchor="ctr"/>
          <a:lstStyle/>
          <a:p>
            <a:pPr indent="0" marL="0">
              <a:buNone/>
            </a:pPr>
            <a:r>
              <a:rPr lang="en-US" sz="1100" b="1" dirty="0">
                <a:solidFill>
                  <a:schemeClr val="accent3"/>
                </a:solidFill>
              </a:rPr>
              <a:t>4 pages · inbox, route, group</a:t>
            </a:r>
            <a:endParaRPr lang="en-US" sz="1100" dirty="0"/>
          </a:p>
        </p:txBody>
      </p:sp>
      <p:sp>
        <p:nvSpPr>
          <p:cNvPr id="31" name="Shape 23"/>
          <p:cNvSpPr/>
          <p:nvPr/>
        </p:nvSpPr>
        <p:spPr>
          <a:xfrm>
            <a:off x="8997696" y="1783080"/>
            <a:ext cx="2615184" cy="4343400"/>
          </a:xfrm>
          <a:prstGeom prst="roundRect">
            <a:avLst>
              <a:gd name="adj" fmla="val 4196"/>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pic>
        <p:nvPicPr>
          <p:cNvPr id="32" name="Image 6" descr="District portal photo">    </p:cNvPr>
          <p:cNvPicPr>
            <a:picLocks noChangeAspect="1"/>
          </p:cNvPicPr>
          <p:nvPr/>
        </p:nvPicPr>
        <p:blipFill>
          <a:blip r:embed="rId7"/>
          <a:stretch>
            <a:fillRect/>
          </a:stretch>
        </p:blipFill>
        <p:spPr>
          <a:xfrm>
            <a:off x="8997696" y="1783080"/>
            <a:ext cx="2615184" cy="1600200"/>
          </a:xfrm>
          <a:prstGeom prst="rect">
            <a:avLst/>
          </a:prstGeom>
        </p:spPr>
      </p:pic>
      <p:sp>
        <p:nvSpPr>
          <p:cNvPr id="33" name="Shape 24"/>
          <p:cNvSpPr/>
          <p:nvPr/>
        </p:nvSpPr>
        <p:spPr>
          <a:xfrm>
            <a:off x="9198864" y="3154680"/>
            <a:ext cx="457200" cy="457200"/>
          </a:xfrm>
          <a:prstGeom prst="roundRect">
            <a:avLst>
              <a:gd name="adj" fmla="val 28000"/>
            </a:avLst>
          </a:prstGeom>
          <a:solidFill>
            <a:schemeClr val="accent4"/>
          </a:solidFill>
          <a:ln/>
        </p:spPr>
      </p:sp>
      <p:pic>
        <p:nvPicPr>
          <p:cNvPr id="34" name="Image 7" descr="LayoutDashboard icon">    </p:cNvPr>
          <p:cNvPicPr>
            <a:picLocks noChangeAspect="1"/>
          </p:cNvPicPr>
          <p:nvPr/>
        </p:nvPicPr>
        <p:blipFill>
          <a:blip r:embed="rId8"/>
          <a:stretch>
            <a:fillRect/>
          </a:stretch>
        </p:blipFill>
        <p:spPr>
          <a:xfrm>
            <a:off x="9313164" y="3268980"/>
            <a:ext cx="228600" cy="228600"/>
          </a:xfrm>
          <a:prstGeom prst="rect">
            <a:avLst/>
          </a:prstGeom>
        </p:spPr>
      </p:pic>
      <p:sp>
        <p:nvSpPr>
          <p:cNvPr id="35" name="Text 25"/>
          <p:cNvSpPr txBox="1"/>
          <p:nvPr/>
        </p:nvSpPr>
        <p:spPr>
          <a:xfrm>
            <a:off x="9198864" y="3749040"/>
            <a:ext cx="2212848" cy="365760"/>
          </a:xfrm>
          <a:prstGeom prst="rect">
            <a:avLst/>
          </a:prstGeom>
          <a:noFill/>
          <a:ln/>
        </p:spPr>
        <p:txBody>
          <a:bodyPr wrap="square" lIns="0" tIns="0" rIns="0" bIns="0" rtlCol="0" anchor="ctr"/>
          <a:lstStyle/>
          <a:p>
            <a:pPr indent="0" marL="0">
              <a:buNone/>
            </a:pPr>
            <a:r>
              <a:rPr lang="en-US" sz="1800" b="1" dirty="0">
                <a:solidFill>
                  <a:schemeClr val="tx1"/>
                </a:solidFill>
              </a:rPr>
              <a:t>District</a:t>
            </a:r>
            <a:endParaRPr lang="en-US" sz="1800" dirty="0"/>
          </a:p>
        </p:txBody>
      </p:sp>
      <p:sp>
        <p:nvSpPr>
          <p:cNvPr id="36" name="Text 26"/>
          <p:cNvSpPr txBox="1"/>
          <p:nvPr/>
        </p:nvSpPr>
        <p:spPr>
          <a:xfrm>
            <a:off x="9198864" y="4114800"/>
            <a:ext cx="2212848" cy="502920"/>
          </a:xfrm>
          <a:prstGeom prst="rect">
            <a:avLst/>
          </a:prstGeom>
          <a:noFill/>
          <a:ln/>
        </p:spPr>
        <p:txBody>
          <a:bodyPr wrap="square" lIns="0" tIns="0" rIns="0" bIns="0" rtlCol="0" anchor="t"/>
          <a:lstStyle/>
          <a:p>
            <a:pPr indent="0" marL="0">
              <a:buNone/>
            </a:pPr>
            <a:r>
              <a:rPr lang="en-US" sz="1200" b="1" dirty="0">
                <a:solidFill>
                  <a:schemeClr val="accent4"/>
                </a:solidFill>
              </a:rPr>
              <a:t>Secretariat and disaster management</a:t>
            </a:r>
            <a:endParaRPr lang="en-US" sz="1200" dirty="0"/>
          </a:p>
        </p:txBody>
      </p:sp>
      <p:sp>
        <p:nvSpPr>
          <p:cNvPr id="37" name="Text 27"/>
          <p:cNvSpPr txBox="1"/>
          <p:nvPr/>
        </p:nvSpPr>
        <p:spPr>
          <a:xfrm>
            <a:off x="9198864" y="4663440"/>
            <a:ext cx="2212848" cy="914400"/>
          </a:xfrm>
          <a:prstGeom prst="rect">
            <a:avLst/>
          </a:prstGeom>
          <a:noFill/>
          <a:ln/>
        </p:spPr>
        <p:txBody>
          <a:bodyPr wrap="square" lIns="0" tIns="0" rIns="0" bIns="0" rtlCol="0" anchor="t"/>
          <a:lstStyle/>
          <a:p>
            <a:pPr indent="0" marL="0">
              <a:buNone/>
            </a:pPr>
            <a:r>
              <a:rPr lang="en-US" sz="1400" dirty="0">
                <a:solidFill>
                  <a:srgbClr val="71717A"/>
                </a:solidFill>
              </a:rPr>
              <a:t>See every division, escalate, check appeals, publish bulletins.</a:t>
            </a:r>
            <a:endParaRPr lang="en-US" sz="1400" dirty="0"/>
          </a:p>
        </p:txBody>
      </p:sp>
      <p:sp>
        <p:nvSpPr>
          <p:cNvPr id="38" name="Shape 28"/>
          <p:cNvSpPr/>
          <p:nvPr/>
        </p:nvSpPr>
        <p:spPr>
          <a:xfrm>
            <a:off x="9198864" y="5577840"/>
            <a:ext cx="2212848" cy="0"/>
          </a:xfrm>
          <a:prstGeom prst="line">
            <a:avLst/>
          </a:prstGeom>
          <a:noFill/>
          <a:ln w="9525">
            <a:solidFill>
              <a:srgbClr val="E4E4E7"/>
            </a:solidFill>
            <a:prstDash val="solid"/>
          </a:ln>
        </p:spPr>
      </p:sp>
      <p:sp>
        <p:nvSpPr>
          <p:cNvPr id="39" name="Text 29"/>
          <p:cNvSpPr txBox="1"/>
          <p:nvPr/>
        </p:nvSpPr>
        <p:spPr>
          <a:xfrm>
            <a:off x="9198864" y="5669280"/>
            <a:ext cx="2212848" cy="292608"/>
          </a:xfrm>
          <a:prstGeom prst="rect">
            <a:avLst/>
          </a:prstGeom>
          <a:noFill/>
          <a:ln/>
        </p:spPr>
        <p:txBody>
          <a:bodyPr wrap="square" lIns="0" tIns="0" rIns="0" bIns="0" rtlCol="0" anchor="ctr"/>
          <a:lstStyle/>
          <a:p>
            <a:pPr indent="0" marL="0">
              <a:buNone/>
            </a:pPr>
            <a:r>
              <a:rPr lang="en-US" sz="1100" b="1" dirty="0">
                <a:solidFill>
                  <a:schemeClr val="accent4"/>
                </a:solidFill>
              </a:rPr>
              <a:t>11 pages · map, appeals, agents</a:t>
            </a:r>
            <a:endParaRPr lang="en-US" sz="11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HOW IT WORKS</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AI reads and ranks. People verify and act.</a:t>
            </a:r>
            <a:endParaRPr lang="en-US" sz="3400" dirty="0"/>
          </a:p>
        </p:txBody>
      </p:sp>
      <p:sp>
        <p:nvSpPr>
          <p:cNvPr id="4" name="Text 2"/>
          <p:cNvSpPr txBox="1"/>
          <p:nvPr/>
        </p:nvSpPr>
        <p:spPr>
          <a:xfrm>
            <a:off x="548640" y="1783080"/>
            <a:ext cx="2743200" cy="274320"/>
          </a:xfrm>
          <a:prstGeom prst="rect">
            <a:avLst/>
          </a:prstGeom>
          <a:noFill/>
          <a:ln/>
        </p:spPr>
        <p:txBody>
          <a:bodyPr wrap="square" lIns="0" tIns="0" rIns="0" bIns="0" rtlCol="0" anchor="ctr"/>
          <a:lstStyle/>
          <a:p>
            <a:pPr indent="0" marL="0">
              <a:buNone/>
            </a:pPr>
            <a:r>
              <a:rPr lang="en-US" sz="1100" b="1" spc="200" kern="0" dirty="0">
                <a:solidFill>
                  <a:schemeClr val="accent2"/>
                </a:solidFill>
              </a:rPr>
              <a:t>ENGINE</a:t>
            </a:r>
            <a:endParaRPr lang="en-US" sz="1100" dirty="0"/>
          </a:p>
        </p:txBody>
      </p:sp>
      <p:sp>
        <p:nvSpPr>
          <p:cNvPr id="5" name="Shape 3"/>
          <p:cNvSpPr/>
          <p:nvPr/>
        </p:nvSpPr>
        <p:spPr>
          <a:xfrm>
            <a:off x="548640" y="2103120"/>
            <a:ext cx="2606040" cy="1874520"/>
          </a:xfrm>
          <a:prstGeom prst="roundRect">
            <a:avLst>
              <a:gd name="adj" fmla="val 5854"/>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6" name="Shape 4"/>
          <p:cNvSpPr/>
          <p:nvPr/>
        </p:nvSpPr>
        <p:spPr>
          <a:xfrm>
            <a:off x="731520" y="2286000"/>
            <a:ext cx="457200" cy="457200"/>
          </a:xfrm>
          <a:prstGeom prst="roundRect">
            <a:avLst>
              <a:gd name="adj" fmla="val 28000"/>
            </a:avLst>
          </a:prstGeom>
          <a:solidFill>
            <a:schemeClr val="accent2">
              <a:alpha val="12000"/>
            </a:schemeClr>
          </a:solidFill>
          <a:ln/>
        </p:spPr>
      </p:sp>
      <p:pic>
        <p:nvPicPr>
          <p:cNvPr id="7" name="Image 0" descr="MessagesSquare icon">    </p:cNvPr>
          <p:cNvPicPr>
            <a:picLocks noChangeAspect="1"/>
          </p:cNvPicPr>
          <p:nvPr/>
        </p:nvPicPr>
        <p:blipFill>
          <a:blip r:embed="rId1"/>
          <a:stretch>
            <a:fillRect/>
          </a:stretch>
        </p:blipFill>
        <p:spPr>
          <a:xfrm>
            <a:off x="845820" y="2400300"/>
            <a:ext cx="228600" cy="228600"/>
          </a:xfrm>
          <a:prstGeom prst="rect">
            <a:avLst/>
          </a:prstGeom>
        </p:spPr>
      </p:pic>
      <p:sp>
        <p:nvSpPr>
          <p:cNvPr id="8" name="Text 5"/>
          <p:cNvSpPr txBox="1"/>
          <p:nvPr/>
        </p:nvSpPr>
        <p:spPr>
          <a:xfrm>
            <a:off x="1325880" y="2286000"/>
            <a:ext cx="1691640" cy="457200"/>
          </a:xfrm>
          <a:prstGeom prst="rect">
            <a:avLst/>
          </a:prstGeom>
          <a:noFill/>
          <a:ln/>
        </p:spPr>
        <p:txBody>
          <a:bodyPr wrap="square" lIns="0" tIns="0" rIns="0" bIns="0" rtlCol="0" anchor="ctr"/>
          <a:lstStyle/>
          <a:p>
            <a:pPr indent="0" marL="0">
              <a:buNone/>
            </a:pPr>
            <a:r>
              <a:rPr lang="en-US" sz="1700" b="1" dirty="0">
                <a:solidFill>
                  <a:schemeClr val="tx1"/>
                </a:solidFill>
              </a:rPr>
              <a:t>1  Read</a:t>
            </a:r>
            <a:endParaRPr lang="en-US" sz="1700" dirty="0"/>
          </a:p>
        </p:txBody>
      </p:sp>
      <p:sp>
        <p:nvSpPr>
          <p:cNvPr id="9" name="Text 6"/>
          <p:cNvSpPr txBox="1"/>
          <p:nvPr/>
        </p:nvSpPr>
        <p:spPr>
          <a:xfrm>
            <a:off x="731520" y="2852928"/>
            <a:ext cx="2240280" cy="1051560"/>
          </a:xfrm>
          <a:prstGeom prst="rect">
            <a:avLst/>
          </a:prstGeom>
          <a:noFill/>
          <a:ln/>
        </p:spPr>
        <p:txBody>
          <a:bodyPr wrap="square" lIns="0" tIns="0" rIns="0" bIns="0" rtlCol="0" anchor="t"/>
          <a:lstStyle/>
          <a:p>
            <a:pPr indent="0" marL="0">
              <a:buNone/>
            </a:pPr>
            <a:r>
              <a:rPr lang="en-US" sz="1200" dirty="0">
                <a:solidFill>
                  <a:srgbClr val="71717A"/>
                </a:solidFill>
              </a:rPr>
              <a:t>Each SOS, update, offer or appeal is read into the same fields: who, how many, where, which phone, who is vulnerable.</a:t>
            </a:r>
            <a:endParaRPr lang="en-US" sz="1200" dirty="0"/>
          </a:p>
        </p:txBody>
      </p:sp>
      <p:sp>
        <p:nvSpPr>
          <p:cNvPr id="10" name="Shape 7"/>
          <p:cNvSpPr/>
          <p:nvPr/>
        </p:nvSpPr>
        <p:spPr>
          <a:xfrm>
            <a:off x="3364992" y="2103120"/>
            <a:ext cx="2606040" cy="1874520"/>
          </a:xfrm>
          <a:prstGeom prst="roundRect">
            <a:avLst>
              <a:gd name="adj" fmla="val 5854"/>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1" name="Shape 8"/>
          <p:cNvSpPr/>
          <p:nvPr/>
        </p:nvSpPr>
        <p:spPr>
          <a:xfrm>
            <a:off x="3547872" y="2286000"/>
            <a:ext cx="457200" cy="457200"/>
          </a:xfrm>
          <a:prstGeom prst="roundRect">
            <a:avLst>
              <a:gd name="adj" fmla="val 28000"/>
            </a:avLst>
          </a:prstGeom>
          <a:solidFill>
            <a:schemeClr val="accent2">
              <a:alpha val="12000"/>
            </a:schemeClr>
          </a:solidFill>
          <a:ln/>
        </p:spPr>
      </p:sp>
      <p:pic>
        <p:nvPicPr>
          <p:cNvPr id="12" name="Image 1" descr="GitMerge icon">    </p:cNvPr>
          <p:cNvPicPr>
            <a:picLocks noChangeAspect="1"/>
          </p:cNvPicPr>
          <p:nvPr/>
        </p:nvPicPr>
        <p:blipFill>
          <a:blip r:embed="rId2"/>
          <a:stretch>
            <a:fillRect/>
          </a:stretch>
        </p:blipFill>
        <p:spPr>
          <a:xfrm>
            <a:off x="3662172" y="2400300"/>
            <a:ext cx="228600" cy="228600"/>
          </a:xfrm>
          <a:prstGeom prst="rect">
            <a:avLst/>
          </a:prstGeom>
        </p:spPr>
      </p:pic>
      <p:sp>
        <p:nvSpPr>
          <p:cNvPr id="13" name="Text 9"/>
          <p:cNvSpPr txBox="1"/>
          <p:nvPr/>
        </p:nvSpPr>
        <p:spPr>
          <a:xfrm>
            <a:off x="4142232" y="2286000"/>
            <a:ext cx="1691640" cy="457200"/>
          </a:xfrm>
          <a:prstGeom prst="rect">
            <a:avLst/>
          </a:prstGeom>
          <a:noFill/>
          <a:ln/>
        </p:spPr>
        <p:txBody>
          <a:bodyPr wrap="square" lIns="0" tIns="0" rIns="0" bIns="0" rtlCol="0" anchor="ctr"/>
          <a:lstStyle/>
          <a:p>
            <a:pPr indent="0" marL="0">
              <a:buNone/>
            </a:pPr>
            <a:r>
              <a:rPr lang="en-US" sz="1700" b="1" dirty="0">
                <a:solidFill>
                  <a:schemeClr val="tx1"/>
                </a:solidFill>
              </a:rPr>
              <a:t>2  Match</a:t>
            </a:r>
            <a:endParaRPr lang="en-US" sz="1700" dirty="0"/>
          </a:p>
        </p:txBody>
      </p:sp>
      <p:sp>
        <p:nvSpPr>
          <p:cNvPr id="14" name="Text 10"/>
          <p:cNvSpPr txBox="1"/>
          <p:nvPr/>
        </p:nvSpPr>
        <p:spPr>
          <a:xfrm>
            <a:off x="3547872" y="2852928"/>
            <a:ext cx="2240280" cy="1051560"/>
          </a:xfrm>
          <a:prstGeom prst="rect">
            <a:avLst/>
          </a:prstGeom>
          <a:noFill/>
          <a:ln/>
        </p:spPr>
        <p:txBody>
          <a:bodyPr wrap="square" lIns="0" tIns="0" rIns="0" bIns="0" rtlCol="0" anchor="t"/>
          <a:lstStyle/>
          <a:p>
            <a:pPr indent="0" marL="0">
              <a:buNone/>
            </a:pPr>
            <a:r>
              <a:rPr lang="en-US" sz="1200" dirty="0">
                <a:solidFill>
                  <a:srgbClr val="71717A"/>
                </a:solidFill>
              </a:rPr>
              <a:t>Walkers find messages that share a phone, a full name or a household-level place.</a:t>
            </a:r>
            <a:endParaRPr lang="en-US" sz="1200" dirty="0"/>
          </a:p>
        </p:txBody>
      </p:sp>
      <p:sp>
        <p:nvSpPr>
          <p:cNvPr id="15" name="Shape 11"/>
          <p:cNvSpPr/>
          <p:nvPr/>
        </p:nvSpPr>
        <p:spPr>
          <a:xfrm>
            <a:off x="6181344" y="2103120"/>
            <a:ext cx="2606040" cy="1874520"/>
          </a:xfrm>
          <a:prstGeom prst="roundRect">
            <a:avLst>
              <a:gd name="adj" fmla="val 5854"/>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6" name="Shape 12"/>
          <p:cNvSpPr/>
          <p:nvPr/>
        </p:nvSpPr>
        <p:spPr>
          <a:xfrm>
            <a:off x="6364224" y="2286000"/>
            <a:ext cx="457200" cy="457200"/>
          </a:xfrm>
          <a:prstGeom prst="roundRect">
            <a:avLst>
              <a:gd name="adj" fmla="val 28000"/>
            </a:avLst>
          </a:prstGeom>
          <a:solidFill>
            <a:schemeClr val="accent2">
              <a:alpha val="12000"/>
            </a:schemeClr>
          </a:solidFill>
          <a:ln/>
        </p:spPr>
      </p:sp>
      <p:pic>
        <p:nvPicPr>
          <p:cNvPr id="17" name="Image 2" descr="Scale icon">    </p:cNvPr>
          <p:cNvPicPr>
            <a:picLocks noChangeAspect="1"/>
          </p:cNvPicPr>
          <p:nvPr/>
        </p:nvPicPr>
        <p:blipFill>
          <a:blip r:embed="rId3"/>
          <a:stretch>
            <a:fillRect/>
          </a:stretch>
        </p:blipFill>
        <p:spPr>
          <a:xfrm>
            <a:off x="6478524" y="2400300"/>
            <a:ext cx="228600" cy="228600"/>
          </a:xfrm>
          <a:prstGeom prst="rect">
            <a:avLst/>
          </a:prstGeom>
        </p:spPr>
      </p:pic>
      <p:sp>
        <p:nvSpPr>
          <p:cNvPr id="18" name="Text 13"/>
          <p:cNvSpPr txBox="1"/>
          <p:nvPr/>
        </p:nvSpPr>
        <p:spPr>
          <a:xfrm>
            <a:off x="6958584" y="2286000"/>
            <a:ext cx="1691640" cy="457200"/>
          </a:xfrm>
          <a:prstGeom prst="rect">
            <a:avLst/>
          </a:prstGeom>
          <a:noFill/>
          <a:ln/>
        </p:spPr>
        <p:txBody>
          <a:bodyPr wrap="square" lIns="0" tIns="0" rIns="0" bIns="0" rtlCol="0" anchor="ctr"/>
          <a:lstStyle/>
          <a:p>
            <a:pPr indent="0" marL="0">
              <a:buNone/>
            </a:pPr>
            <a:r>
              <a:rPr lang="en-US" sz="1700" b="1" dirty="0">
                <a:solidFill>
                  <a:schemeClr val="tx1"/>
                </a:solidFill>
              </a:rPr>
              <a:t>3  Referee</a:t>
            </a:r>
            <a:endParaRPr lang="en-US" sz="1700" dirty="0"/>
          </a:p>
        </p:txBody>
      </p:sp>
      <p:sp>
        <p:nvSpPr>
          <p:cNvPr id="19" name="Text 14"/>
          <p:cNvSpPr txBox="1"/>
          <p:nvPr/>
        </p:nvSpPr>
        <p:spPr>
          <a:xfrm>
            <a:off x="6364224" y="2852928"/>
            <a:ext cx="2240280" cy="1051560"/>
          </a:xfrm>
          <a:prstGeom prst="rect">
            <a:avLst/>
          </a:prstGeom>
          <a:noFill/>
          <a:ln/>
        </p:spPr>
        <p:txBody>
          <a:bodyPr wrap="square" lIns="0" tIns="0" rIns="0" bIns="0" rtlCol="0" anchor="t"/>
          <a:lstStyle/>
          <a:p>
            <a:pPr indent="0" marL="0">
              <a:buNone/>
            </a:pPr>
            <a:r>
              <a:rPr lang="en-US" sz="1200" dirty="0">
                <a:solidFill>
                  <a:srgbClr val="71717A"/>
                </a:solidFill>
              </a:rPr>
              <a:t>Clear matches merge. Unclear ones wait for a person. Nothing merges on a guess.</a:t>
            </a:r>
            <a:endParaRPr lang="en-US" sz="1200" dirty="0"/>
          </a:p>
        </p:txBody>
      </p:sp>
      <p:sp>
        <p:nvSpPr>
          <p:cNvPr id="20" name="Shape 15"/>
          <p:cNvSpPr/>
          <p:nvPr/>
        </p:nvSpPr>
        <p:spPr>
          <a:xfrm>
            <a:off x="8997696" y="2103120"/>
            <a:ext cx="2606040" cy="1874520"/>
          </a:xfrm>
          <a:prstGeom prst="roundRect">
            <a:avLst>
              <a:gd name="adj" fmla="val 5854"/>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21" name="Shape 16"/>
          <p:cNvSpPr/>
          <p:nvPr/>
        </p:nvSpPr>
        <p:spPr>
          <a:xfrm>
            <a:off x="9180576" y="2286000"/>
            <a:ext cx="457200" cy="457200"/>
          </a:xfrm>
          <a:prstGeom prst="roundRect">
            <a:avLst>
              <a:gd name="adj" fmla="val 28000"/>
            </a:avLst>
          </a:prstGeom>
          <a:solidFill>
            <a:schemeClr val="accent2">
              <a:alpha val="12000"/>
            </a:schemeClr>
          </a:solidFill>
          <a:ln/>
        </p:spPr>
      </p:sp>
      <p:pic>
        <p:nvPicPr>
          <p:cNvPr id="22" name="Image 3" descr="ListOrdered icon">    </p:cNvPr>
          <p:cNvPicPr>
            <a:picLocks noChangeAspect="1"/>
          </p:cNvPicPr>
          <p:nvPr/>
        </p:nvPicPr>
        <p:blipFill>
          <a:blip r:embed="rId4"/>
          <a:stretch>
            <a:fillRect/>
          </a:stretch>
        </p:blipFill>
        <p:spPr>
          <a:xfrm>
            <a:off x="9294876" y="2400300"/>
            <a:ext cx="228600" cy="228600"/>
          </a:xfrm>
          <a:prstGeom prst="rect">
            <a:avLst/>
          </a:prstGeom>
        </p:spPr>
      </p:pic>
      <p:sp>
        <p:nvSpPr>
          <p:cNvPr id="23" name="Text 17"/>
          <p:cNvSpPr txBox="1"/>
          <p:nvPr/>
        </p:nvSpPr>
        <p:spPr>
          <a:xfrm>
            <a:off x="9774936" y="2286000"/>
            <a:ext cx="1691640" cy="457200"/>
          </a:xfrm>
          <a:prstGeom prst="rect">
            <a:avLst/>
          </a:prstGeom>
          <a:noFill/>
          <a:ln/>
        </p:spPr>
        <p:txBody>
          <a:bodyPr wrap="square" lIns="0" tIns="0" rIns="0" bIns="0" rtlCol="0" anchor="ctr"/>
          <a:lstStyle/>
          <a:p>
            <a:pPr indent="0" marL="0">
              <a:buNone/>
            </a:pPr>
            <a:r>
              <a:rPr lang="en-US" sz="1700" b="1" dirty="0">
                <a:solidFill>
                  <a:schemeClr val="tx1"/>
                </a:solidFill>
              </a:rPr>
              <a:t>4  Rank</a:t>
            </a:r>
            <a:endParaRPr lang="en-US" sz="1700" dirty="0"/>
          </a:p>
        </p:txBody>
      </p:sp>
      <p:sp>
        <p:nvSpPr>
          <p:cNvPr id="24" name="Text 18"/>
          <p:cNvSpPr txBox="1"/>
          <p:nvPr/>
        </p:nvSpPr>
        <p:spPr>
          <a:xfrm>
            <a:off x="9180576" y="2852928"/>
            <a:ext cx="2240280" cy="1051560"/>
          </a:xfrm>
          <a:prstGeom prst="rect">
            <a:avLst/>
          </a:prstGeom>
          <a:noFill/>
          <a:ln/>
        </p:spPr>
        <p:txBody>
          <a:bodyPr wrap="square" lIns="0" tIns="0" rIns="0" bIns="0" rtlCol="0" anchor="t"/>
          <a:lstStyle/>
          <a:p>
            <a:pPr indent="0" marL="0">
              <a:buNone/>
            </a:pPr>
            <a:r>
              <a:rPr lang="en-US" sz="1200" dirty="0">
                <a:solidFill>
                  <a:srgbClr val="71717A"/>
                </a:solidFill>
              </a:rPr>
              <a:t>Open incidents are ranked by risk, vulnerable people and waiting time, with reasons.</a:t>
            </a:r>
            <a:endParaRPr lang="en-US" sz="1200" dirty="0"/>
          </a:p>
        </p:txBody>
      </p:sp>
      <p:sp>
        <p:nvSpPr>
          <p:cNvPr id="25" name="Text 19"/>
          <p:cNvSpPr txBox="1"/>
          <p:nvPr/>
        </p:nvSpPr>
        <p:spPr>
          <a:xfrm>
            <a:off x="548640" y="4206240"/>
            <a:ext cx="2743200" cy="274320"/>
          </a:xfrm>
          <a:prstGeom prst="rect">
            <a:avLst/>
          </a:prstGeom>
          <a:noFill/>
          <a:ln/>
        </p:spPr>
        <p:txBody>
          <a:bodyPr wrap="square" lIns="0" tIns="0" rIns="0" bIns="0" rtlCol="0" anchor="ctr"/>
          <a:lstStyle/>
          <a:p>
            <a:pPr indent="0" marL="0">
              <a:buNone/>
            </a:pPr>
            <a:r>
              <a:rPr lang="en-US" sz="1100" b="1" spc="200" kern="0" dirty="0">
                <a:solidFill>
                  <a:schemeClr val="accent3"/>
                </a:solidFill>
              </a:rPr>
              <a:t>PEOPLE</a:t>
            </a:r>
            <a:endParaRPr lang="en-US" sz="1100" dirty="0"/>
          </a:p>
        </p:txBody>
      </p:sp>
      <p:sp>
        <p:nvSpPr>
          <p:cNvPr id="26" name="Shape 20"/>
          <p:cNvSpPr/>
          <p:nvPr/>
        </p:nvSpPr>
        <p:spPr>
          <a:xfrm>
            <a:off x="548640" y="4526280"/>
            <a:ext cx="3547872" cy="1554480"/>
          </a:xfrm>
          <a:prstGeom prst="roundRect">
            <a:avLst>
              <a:gd name="adj" fmla="val 7059"/>
            </a:avLst>
          </a:prstGeom>
          <a:solidFill>
            <a:schemeClr val="accent3">
              <a:alpha val="6000"/>
            </a:schemeClr>
          </a:solidFill>
          <a:ln w="9525">
            <a:solidFill>
              <a:srgbClr val="A7F3D0"/>
            </a:solidFill>
            <a:prstDash val="solid"/>
          </a:ln>
        </p:spPr>
      </p:sp>
      <p:sp>
        <p:nvSpPr>
          <p:cNvPr id="27" name="Shape 21"/>
          <p:cNvSpPr/>
          <p:nvPr/>
        </p:nvSpPr>
        <p:spPr>
          <a:xfrm>
            <a:off x="731520" y="4709160"/>
            <a:ext cx="457200" cy="457200"/>
          </a:xfrm>
          <a:prstGeom prst="roundRect">
            <a:avLst>
              <a:gd name="adj" fmla="val 28000"/>
            </a:avLst>
          </a:prstGeom>
          <a:solidFill>
            <a:schemeClr val="accent3"/>
          </a:solidFill>
          <a:ln/>
        </p:spPr>
      </p:sp>
      <p:pic>
        <p:nvPicPr>
          <p:cNvPr id="28" name="Image 4" descr="PhoneCall icon">    </p:cNvPr>
          <p:cNvPicPr>
            <a:picLocks noChangeAspect="1"/>
          </p:cNvPicPr>
          <p:nvPr/>
        </p:nvPicPr>
        <p:blipFill>
          <a:blip r:embed="rId5"/>
          <a:stretch>
            <a:fillRect/>
          </a:stretch>
        </p:blipFill>
        <p:spPr>
          <a:xfrm>
            <a:off x="845820" y="4823460"/>
            <a:ext cx="228600" cy="228600"/>
          </a:xfrm>
          <a:prstGeom prst="rect">
            <a:avLst/>
          </a:prstGeom>
        </p:spPr>
      </p:pic>
      <p:sp>
        <p:nvSpPr>
          <p:cNvPr id="29" name="Text 22"/>
          <p:cNvSpPr txBox="1"/>
          <p:nvPr/>
        </p:nvSpPr>
        <p:spPr>
          <a:xfrm>
            <a:off x="1325880" y="4709160"/>
            <a:ext cx="2633472" cy="457200"/>
          </a:xfrm>
          <a:prstGeom prst="rect">
            <a:avLst/>
          </a:prstGeom>
          <a:noFill/>
          <a:ln/>
        </p:spPr>
        <p:txBody>
          <a:bodyPr wrap="square" lIns="0" tIns="0" rIns="0" bIns="0" rtlCol="0" anchor="ctr"/>
          <a:lstStyle/>
          <a:p>
            <a:pPr indent="0" marL="0">
              <a:buNone/>
            </a:pPr>
            <a:r>
              <a:rPr lang="en-US" sz="1700" b="1" dirty="0">
                <a:solidFill>
                  <a:schemeClr val="tx1"/>
                </a:solidFill>
              </a:rPr>
              <a:t>5  Verify</a:t>
            </a:r>
            <a:endParaRPr lang="en-US" sz="1700" dirty="0"/>
          </a:p>
        </p:txBody>
      </p:sp>
      <p:sp>
        <p:nvSpPr>
          <p:cNvPr id="30" name="Text 23"/>
          <p:cNvSpPr txBox="1"/>
          <p:nvPr/>
        </p:nvSpPr>
        <p:spPr>
          <a:xfrm>
            <a:off x="731520" y="5285232"/>
            <a:ext cx="3182112" cy="685800"/>
          </a:xfrm>
          <a:prstGeom prst="rect">
            <a:avLst/>
          </a:prstGeom>
          <a:noFill/>
          <a:ln/>
        </p:spPr>
        <p:txBody>
          <a:bodyPr wrap="square" lIns="0" tIns="0" rIns="0" bIns="0" rtlCol="0" anchor="t"/>
          <a:lstStyle/>
          <a:p>
            <a:pPr indent="0" marL="0">
              <a:buNone/>
            </a:pPr>
            <a:r>
              <a:rPr lang="en-US" sz="1300" dirty="0">
                <a:solidFill>
                  <a:srgbClr val="3F3F46"/>
                </a:solidFill>
              </a:rPr>
              <a:t>An officer claims the case and confirms it by phone.</a:t>
            </a:r>
            <a:endParaRPr lang="en-US" sz="1300" dirty="0"/>
          </a:p>
        </p:txBody>
      </p:sp>
      <p:sp>
        <p:nvSpPr>
          <p:cNvPr id="31" name="Shape 24"/>
          <p:cNvSpPr/>
          <p:nvPr/>
        </p:nvSpPr>
        <p:spPr>
          <a:xfrm>
            <a:off x="4306824" y="4526280"/>
            <a:ext cx="3547872" cy="1554480"/>
          </a:xfrm>
          <a:prstGeom prst="roundRect">
            <a:avLst>
              <a:gd name="adj" fmla="val 7059"/>
            </a:avLst>
          </a:prstGeom>
          <a:solidFill>
            <a:schemeClr val="accent3">
              <a:alpha val="6000"/>
            </a:schemeClr>
          </a:solidFill>
          <a:ln w="9525">
            <a:solidFill>
              <a:srgbClr val="A7F3D0"/>
            </a:solidFill>
            <a:prstDash val="solid"/>
          </a:ln>
        </p:spPr>
      </p:sp>
      <p:sp>
        <p:nvSpPr>
          <p:cNvPr id="32" name="Shape 25"/>
          <p:cNvSpPr/>
          <p:nvPr/>
        </p:nvSpPr>
        <p:spPr>
          <a:xfrm>
            <a:off x="4489704" y="4709160"/>
            <a:ext cx="457200" cy="457200"/>
          </a:xfrm>
          <a:prstGeom prst="roundRect">
            <a:avLst>
              <a:gd name="adj" fmla="val 28000"/>
            </a:avLst>
          </a:prstGeom>
          <a:solidFill>
            <a:schemeClr val="accent3"/>
          </a:solidFill>
          <a:ln/>
        </p:spPr>
      </p:sp>
      <p:pic>
        <p:nvPicPr>
          <p:cNvPr id="33" name="Image 5" descr="Truck icon">    </p:cNvPr>
          <p:cNvPicPr>
            <a:picLocks noChangeAspect="1"/>
          </p:cNvPicPr>
          <p:nvPr/>
        </p:nvPicPr>
        <p:blipFill>
          <a:blip r:embed="rId6"/>
          <a:stretch>
            <a:fillRect/>
          </a:stretch>
        </p:blipFill>
        <p:spPr>
          <a:xfrm>
            <a:off x="4604004" y="4823460"/>
            <a:ext cx="228600" cy="228600"/>
          </a:xfrm>
          <a:prstGeom prst="rect">
            <a:avLst/>
          </a:prstGeom>
        </p:spPr>
      </p:pic>
      <p:sp>
        <p:nvSpPr>
          <p:cNvPr id="34" name="Text 26"/>
          <p:cNvSpPr txBox="1"/>
          <p:nvPr/>
        </p:nvSpPr>
        <p:spPr>
          <a:xfrm>
            <a:off x="5084064" y="4709160"/>
            <a:ext cx="2633472" cy="457200"/>
          </a:xfrm>
          <a:prstGeom prst="rect">
            <a:avLst/>
          </a:prstGeom>
          <a:noFill/>
          <a:ln/>
        </p:spPr>
        <p:txBody>
          <a:bodyPr wrap="square" lIns="0" tIns="0" rIns="0" bIns="0" rtlCol="0" anchor="ctr"/>
          <a:lstStyle/>
          <a:p>
            <a:pPr indent="0" marL="0">
              <a:buNone/>
            </a:pPr>
            <a:r>
              <a:rPr lang="en-US" sz="1700" b="1" dirty="0">
                <a:solidFill>
                  <a:schemeClr val="tx1"/>
                </a:solidFill>
              </a:rPr>
              <a:t>6  Dispatch</a:t>
            </a:r>
            <a:endParaRPr lang="en-US" sz="1700" dirty="0"/>
          </a:p>
        </p:txBody>
      </p:sp>
      <p:sp>
        <p:nvSpPr>
          <p:cNvPr id="35" name="Text 27"/>
          <p:cNvSpPr txBox="1"/>
          <p:nvPr/>
        </p:nvSpPr>
        <p:spPr>
          <a:xfrm>
            <a:off x="4489704" y="5285232"/>
            <a:ext cx="3182112" cy="685800"/>
          </a:xfrm>
          <a:prstGeom prst="rect">
            <a:avLst/>
          </a:prstGeom>
          <a:noFill/>
          <a:ln/>
        </p:spPr>
        <p:txBody>
          <a:bodyPr wrap="square" lIns="0" tIns="0" rIns="0" bIns="0" rtlCol="0" anchor="t"/>
          <a:lstStyle/>
          <a:p>
            <a:pPr indent="0" marL="0">
              <a:buNone/>
            </a:pPr>
            <a:r>
              <a:rPr lang="en-US" sz="1300" dirty="0">
                <a:solidFill>
                  <a:srgbClr val="3F3F46"/>
                </a:solidFill>
              </a:rPr>
              <a:t>An eligible relief group accepts. A decline reassigns it.</a:t>
            </a:r>
            <a:endParaRPr lang="en-US" sz="1300" dirty="0"/>
          </a:p>
        </p:txBody>
      </p:sp>
      <p:sp>
        <p:nvSpPr>
          <p:cNvPr id="36" name="Shape 28"/>
          <p:cNvSpPr/>
          <p:nvPr/>
        </p:nvSpPr>
        <p:spPr>
          <a:xfrm>
            <a:off x="8065008" y="4526280"/>
            <a:ext cx="3547872" cy="1554480"/>
          </a:xfrm>
          <a:prstGeom prst="roundRect">
            <a:avLst>
              <a:gd name="adj" fmla="val 7059"/>
            </a:avLst>
          </a:prstGeom>
          <a:solidFill>
            <a:schemeClr val="accent3">
              <a:alpha val="6000"/>
            </a:schemeClr>
          </a:solidFill>
          <a:ln w="9525">
            <a:solidFill>
              <a:srgbClr val="A7F3D0"/>
            </a:solidFill>
            <a:prstDash val="solid"/>
          </a:ln>
        </p:spPr>
      </p:sp>
      <p:sp>
        <p:nvSpPr>
          <p:cNvPr id="37" name="Shape 29"/>
          <p:cNvSpPr/>
          <p:nvPr/>
        </p:nvSpPr>
        <p:spPr>
          <a:xfrm>
            <a:off x="8247888" y="4709160"/>
            <a:ext cx="457200" cy="457200"/>
          </a:xfrm>
          <a:prstGeom prst="roundRect">
            <a:avLst>
              <a:gd name="adj" fmla="val 28000"/>
            </a:avLst>
          </a:prstGeom>
          <a:solidFill>
            <a:schemeClr val="accent3"/>
          </a:solidFill>
          <a:ln/>
        </p:spPr>
      </p:sp>
      <p:pic>
        <p:nvPicPr>
          <p:cNvPr id="38" name="Image 6" descr="PackageCheck icon">    </p:cNvPr>
          <p:cNvPicPr>
            <a:picLocks noChangeAspect="1"/>
          </p:cNvPicPr>
          <p:nvPr/>
        </p:nvPicPr>
        <p:blipFill>
          <a:blip r:embed="rId7"/>
          <a:stretch>
            <a:fillRect/>
          </a:stretch>
        </p:blipFill>
        <p:spPr>
          <a:xfrm>
            <a:off x="8362188" y="4823460"/>
            <a:ext cx="228600" cy="228600"/>
          </a:xfrm>
          <a:prstGeom prst="rect">
            <a:avLst/>
          </a:prstGeom>
        </p:spPr>
      </p:pic>
      <p:sp>
        <p:nvSpPr>
          <p:cNvPr id="39" name="Text 30"/>
          <p:cNvSpPr txBox="1"/>
          <p:nvPr/>
        </p:nvSpPr>
        <p:spPr>
          <a:xfrm>
            <a:off x="8842248" y="4709160"/>
            <a:ext cx="2633472" cy="457200"/>
          </a:xfrm>
          <a:prstGeom prst="rect">
            <a:avLst/>
          </a:prstGeom>
          <a:noFill/>
          <a:ln/>
        </p:spPr>
        <p:txBody>
          <a:bodyPr wrap="square" lIns="0" tIns="0" rIns="0" bIns="0" rtlCol="0" anchor="ctr"/>
          <a:lstStyle/>
          <a:p>
            <a:pPr indent="0" marL="0">
              <a:buNone/>
            </a:pPr>
            <a:r>
              <a:rPr lang="en-US" sz="1700" b="1" dirty="0">
                <a:solidFill>
                  <a:schemeClr val="tx1"/>
                </a:solidFill>
              </a:rPr>
              <a:t>7  Deliver</a:t>
            </a:r>
            <a:endParaRPr lang="en-US" sz="1700" dirty="0"/>
          </a:p>
        </p:txBody>
      </p:sp>
      <p:sp>
        <p:nvSpPr>
          <p:cNvPr id="40" name="Text 31"/>
          <p:cNvSpPr txBox="1"/>
          <p:nvPr/>
        </p:nvSpPr>
        <p:spPr>
          <a:xfrm>
            <a:off x="8247888" y="5285232"/>
            <a:ext cx="3182112" cy="685800"/>
          </a:xfrm>
          <a:prstGeom prst="rect">
            <a:avLst/>
          </a:prstGeom>
          <a:noFill/>
          <a:ln/>
        </p:spPr>
        <p:txBody>
          <a:bodyPr wrap="square" lIns="0" tIns="0" rIns="0" bIns="0" rtlCol="0" anchor="t"/>
          <a:lstStyle/>
          <a:p>
            <a:pPr indent="0" marL="0">
              <a:buNone/>
            </a:pPr>
            <a:r>
              <a:rPr lang="en-US" sz="1300" dirty="0">
                <a:solidFill>
                  <a:srgbClr val="3F3F46"/>
                </a:solidFill>
              </a:rPr>
              <a:t>Delivery is recorded and the citizen sees it.</a:t>
            </a:r>
            <a:endParaRPr lang="en-US" sz="13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DIVISION OFFICER</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Who to call next, and why</a:t>
            </a:r>
            <a:endParaRPr lang="en-US" sz="3400" dirty="0"/>
          </a:p>
        </p:txBody>
      </p:sp>
      <p:sp>
        <p:nvSpPr>
          <p:cNvPr id="4" name="Shape 2"/>
          <p:cNvSpPr/>
          <p:nvPr/>
        </p:nvSpPr>
        <p:spPr>
          <a:xfrm>
            <a:off x="548640" y="1783080"/>
            <a:ext cx="7406640" cy="3835101"/>
          </a:xfrm>
          <a:prstGeom prst="roundRect">
            <a:avLst>
              <a:gd name="adj" fmla="val 2861"/>
            </a:avLst>
          </a:prstGeom>
          <a:solidFill>
            <a:schemeClr val="bg1"/>
          </a:solidFill>
          <a:ln/>
          <a:effectLst>
            <a:outerShdw sx="100000" sy="100000" kx="0" ky="0" algn="bl" rotWithShape="0" blurRad="228600" dist="76200" dir="5400000">
              <a:srgbClr val="0B1020">
                <a:alpha val="18000"/>
              </a:srgbClr>
            </a:outerShdw>
          </a:effectLst>
        </p:spPr>
      </p:sp>
      <p:pic>
        <p:nvPicPr>
          <p:cNvPr id="5" name="Image 0" descr="Officer call queue ranked by vulnerability">    </p:cNvPr>
          <p:cNvPicPr>
            <a:picLocks noChangeAspect="1"/>
          </p:cNvPicPr>
          <p:nvPr/>
        </p:nvPicPr>
        <p:blipFill>
          <a:blip r:embed="rId1"/>
          <a:stretch>
            <a:fillRect/>
          </a:stretch>
        </p:blipFill>
        <p:spPr>
          <a:xfrm>
            <a:off x="548640" y="1783080"/>
            <a:ext cx="7406640" cy="3835101"/>
          </a:xfrm>
          <a:prstGeom prst="rect">
            <a:avLst/>
          </a:prstGeom>
        </p:spPr>
      </p:pic>
      <p:sp>
        <p:nvSpPr>
          <p:cNvPr id="6" name="Shape 3"/>
          <p:cNvSpPr/>
          <p:nvPr/>
        </p:nvSpPr>
        <p:spPr>
          <a:xfrm>
            <a:off x="8275320" y="1783080"/>
            <a:ext cx="384048" cy="384048"/>
          </a:xfrm>
          <a:prstGeom prst="ellipse">
            <a:avLst/>
          </a:prstGeom>
          <a:solidFill>
            <a:schemeClr val="accent1"/>
          </a:solidFill>
          <a:ln/>
        </p:spPr>
      </p:sp>
      <p:sp>
        <p:nvSpPr>
          <p:cNvPr id="7" name="Text 4"/>
          <p:cNvSpPr txBox="1"/>
          <p:nvPr/>
        </p:nvSpPr>
        <p:spPr>
          <a:xfrm>
            <a:off x="8275320" y="17830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8" name="Text 5"/>
          <p:cNvSpPr txBox="1"/>
          <p:nvPr/>
        </p:nvSpPr>
        <p:spPr>
          <a:xfrm>
            <a:off x="8778240" y="1764792"/>
            <a:ext cx="2880360" cy="411480"/>
          </a:xfrm>
          <a:prstGeom prst="rect">
            <a:avLst/>
          </a:prstGeom>
          <a:noFill/>
          <a:ln/>
        </p:spPr>
        <p:txBody>
          <a:bodyPr wrap="square" lIns="0" tIns="0" rIns="0" bIns="0" rtlCol="0" anchor="ctr"/>
          <a:lstStyle/>
          <a:p>
            <a:pPr indent="0" marL="0">
              <a:buNone/>
            </a:pPr>
            <a:r>
              <a:rPr lang="en-US" sz="1600" b="1" dirty="0">
                <a:solidFill>
                  <a:schemeClr val="tx1"/>
                </a:solidFill>
              </a:rPr>
              <a:t>Most vulnerable first</a:t>
            </a:r>
            <a:endParaRPr lang="en-US" sz="1600" dirty="0"/>
          </a:p>
        </p:txBody>
      </p:sp>
      <p:sp>
        <p:nvSpPr>
          <p:cNvPr id="9" name="Text 6"/>
          <p:cNvSpPr txBox="1"/>
          <p:nvPr/>
        </p:nvSpPr>
        <p:spPr>
          <a:xfrm>
            <a:off x="8778240" y="2194560"/>
            <a:ext cx="2880360" cy="960120"/>
          </a:xfrm>
          <a:prstGeom prst="rect">
            <a:avLst/>
          </a:prstGeom>
          <a:noFill/>
          <a:ln/>
        </p:spPr>
        <p:txBody>
          <a:bodyPr wrap="square" lIns="0" tIns="0" rIns="0" bIns="0" rtlCol="0" anchor="t"/>
          <a:lstStyle/>
          <a:p>
            <a:pPr indent="0" marL="0">
              <a:buNone/>
            </a:pPr>
            <a:r>
              <a:rPr lang="en-US" sz="1300" dirty="0">
                <a:solidFill>
                  <a:srgbClr val="71717A"/>
                </a:solidFill>
              </a:rPr>
              <a:t>Elderly, child, medical and pregnant flags lift a household. A model can never lower them.</a:t>
            </a:r>
            <a:endParaRPr lang="en-US" sz="1300" dirty="0"/>
          </a:p>
        </p:txBody>
      </p:sp>
      <p:sp>
        <p:nvSpPr>
          <p:cNvPr id="10" name="Shape 7"/>
          <p:cNvSpPr/>
          <p:nvPr/>
        </p:nvSpPr>
        <p:spPr>
          <a:xfrm>
            <a:off x="8275320" y="3246120"/>
            <a:ext cx="384048" cy="384048"/>
          </a:xfrm>
          <a:prstGeom prst="ellipse">
            <a:avLst/>
          </a:prstGeom>
          <a:solidFill>
            <a:schemeClr val="accent1"/>
          </a:solidFill>
          <a:ln/>
        </p:spPr>
      </p:sp>
      <p:sp>
        <p:nvSpPr>
          <p:cNvPr id="11" name="Text 8"/>
          <p:cNvSpPr txBox="1"/>
          <p:nvPr/>
        </p:nvSpPr>
        <p:spPr>
          <a:xfrm>
            <a:off x="8275320" y="324612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2" name="Text 9"/>
          <p:cNvSpPr txBox="1"/>
          <p:nvPr/>
        </p:nvSpPr>
        <p:spPr>
          <a:xfrm>
            <a:off x="8778240" y="3227832"/>
            <a:ext cx="2880360" cy="411480"/>
          </a:xfrm>
          <a:prstGeom prst="rect">
            <a:avLst/>
          </a:prstGeom>
          <a:noFill/>
          <a:ln/>
        </p:spPr>
        <p:txBody>
          <a:bodyPr wrap="square" lIns="0" tIns="0" rIns="0" bIns="0" rtlCol="0" anchor="ctr"/>
          <a:lstStyle/>
          <a:p>
            <a:pPr indent="0" marL="0">
              <a:buNone/>
            </a:pPr>
            <a:r>
              <a:rPr lang="en-US" sz="1600" b="1" dirty="0">
                <a:solidFill>
                  <a:schemeClr val="tx1"/>
                </a:solidFill>
              </a:rPr>
              <a:t>Every rank explained</a:t>
            </a:r>
            <a:endParaRPr lang="en-US" sz="1600" dirty="0"/>
          </a:p>
        </p:txBody>
      </p:sp>
      <p:sp>
        <p:nvSpPr>
          <p:cNvPr id="13" name="Text 10"/>
          <p:cNvSpPr txBox="1"/>
          <p:nvPr/>
        </p:nvSpPr>
        <p:spPr>
          <a:xfrm>
            <a:off x="8778240" y="3657600"/>
            <a:ext cx="2880360" cy="960120"/>
          </a:xfrm>
          <a:prstGeom prst="rect">
            <a:avLst/>
          </a:prstGeom>
          <a:noFill/>
          <a:ln/>
        </p:spPr>
        <p:txBody>
          <a:bodyPr wrap="square" lIns="0" tIns="0" rIns="0" bIns="0" rtlCol="0" anchor="t"/>
          <a:lstStyle/>
          <a:p>
            <a:pPr indent="0" marL="0">
              <a:buNone/>
            </a:pPr>
            <a:r>
              <a:rPr lang="en-US" sz="1300" dirty="0">
                <a:solidFill>
                  <a:srgbClr val="71717A"/>
                </a:solidFill>
              </a:rPr>
              <a:t>Each card states why it is where it is, in words, not colour alone.</a:t>
            </a:r>
            <a:endParaRPr lang="en-US" sz="1300" dirty="0"/>
          </a:p>
        </p:txBody>
      </p:sp>
      <p:sp>
        <p:nvSpPr>
          <p:cNvPr id="14" name="Shape 11"/>
          <p:cNvSpPr/>
          <p:nvPr/>
        </p:nvSpPr>
        <p:spPr>
          <a:xfrm>
            <a:off x="8275320" y="4709160"/>
            <a:ext cx="384048" cy="384048"/>
          </a:xfrm>
          <a:prstGeom prst="ellipse">
            <a:avLst/>
          </a:prstGeom>
          <a:solidFill>
            <a:schemeClr val="accent1"/>
          </a:solidFill>
          <a:ln/>
        </p:spPr>
      </p:sp>
      <p:sp>
        <p:nvSpPr>
          <p:cNvPr id="15" name="Text 12"/>
          <p:cNvSpPr txBox="1"/>
          <p:nvPr/>
        </p:nvSpPr>
        <p:spPr>
          <a:xfrm>
            <a:off x="8275320" y="470916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6" name="Text 13"/>
          <p:cNvSpPr txBox="1"/>
          <p:nvPr/>
        </p:nvSpPr>
        <p:spPr>
          <a:xfrm>
            <a:off x="8778240" y="4690872"/>
            <a:ext cx="2880360" cy="411480"/>
          </a:xfrm>
          <a:prstGeom prst="rect">
            <a:avLst/>
          </a:prstGeom>
          <a:noFill/>
          <a:ln/>
        </p:spPr>
        <p:txBody>
          <a:bodyPr wrap="square" lIns="0" tIns="0" rIns="0" bIns="0" rtlCol="0" anchor="ctr"/>
          <a:lstStyle/>
          <a:p>
            <a:pPr indent="0" marL="0">
              <a:buNone/>
            </a:pPr>
            <a:r>
              <a:rPr lang="en-US" sz="1600" b="1" dirty="0">
                <a:solidFill>
                  <a:schemeClr val="tx1"/>
                </a:solidFill>
              </a:rPr>
              <a:t>Claim, call, confirm</a:t>
            </a:r>
            <a:endParaRPr lang="en-US" sz="1600" dirty="0"/>
          </a:p>
        </p:txBody>
      </p:sp>
      <p:sp>
        <p:nvSpPr>
          <p:cNvPr id="17" name="Text 14"/>
          <p:cNvSpPr txBox="1"/>
          <p:nvPr/>
        </p:nvSpPr>
        <p:spPr>
          <a:xfrm>
            <a:off x="8778240" y="5120640"/>
            <a:ext cx="2880360" cy="960120"/>
          </a:xfrm>
          <a:prstGeom prst="rect">
            <a:avLst/>
          </a:prstGeom>
          <a:noFill/>
          <a:ln/>
        </p:spPr>
        <p:txBody>
          <a:bodyPr wrap="square" lIns="0" tIns="0" rIns="0" bIns="0" rtlCol="0" anchor="t"/>
          <a:lstStyle/>
          <a:p>
            <a:pPr indent="0" marL="0">
              <a:buNone/>
            </a:pPr>
            <a:r>
              <a:rPr lang="en-US" sz="1300" dirty="0">
                <a:solidFill>
                  <a:srgbClr val="71717A"/>
                </a:solidFill>
              </a:rPr>
              <a:t>An officer claims a case, then confirms it by phone. A missed call does not verify anything.</a:t>
            </a:r>
            <a:endParaRPr lang="en-US" sz="13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CITIZEN</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Ask for help once. Check before you pay.</a:t>
            </a:r>
            <a:endParaRPr lang="en-US" sz="3400" dirty="0"/>
          </a:p>
        </p:txBody>
      </p:sp>
      <p:sp>
        <p:nvSpPr>
          <p:cNvPr id="4" name="Shape 2"/>
          <p:cNvSpPr/>
          <p:nvPr/>
        </p:nvSpPr>
        <p:spPr>
          <a:xfrm>
            <a:off x="548640" y="1783080"/>
            <a:ext cx="5440680" cy="3575150"/>
          </a:xfrm>
          <a:prstGeom prst="roundRect">
            <a:avLst>
              <a:gd name="adj" fmla="val 3069"/>
            </a:avLst>
          </a:prstGeom>
          <a:solidFill>
            <a:schemeClr val="bg1"/>
          </a:solidFill>
          <a:ln/>
          <a:effectLst>
            <a:outerShdw sx="100000" sy="100000" kx="0" ky="0" algn="bl" rotWithShape="0" blurRad="228600" dist="76200" dir="5400000">
              <a:srgbClr val="0B1020">
                <a:alpha val="18000"/>
              </a:srgbClr>
            </a:outerShdw>
          </a:effectLst>
        </p:spPr>
      </p:sp>
      <p:pic>
        <p:nvPicPr>
          <p:cNvPr id="5" name="Image 0" descr="Citizen SOS page with a location map">    </p:cNvPr>
          <p:cNvPicPr>
            <a:picLocks noChangeAspect="1"/>
          </p:cNvPicPr>
          <p:nvPr/>
        </p:nvPicPr>
        <p:blipFill>
          <a:blip r:embed="rId1"/>
          <a:stretch>
            <a:fillRect/>
          </a:stretch>
        </p:blipFill>
        <p:spPr>
          <a:xfrm>
            <a:off x="548640" y="1783080"/>
            <a:ext cx="5440680" cy="3575150"/>
          </a:xfrm>
          <a:prstGeom prst="rect">
            <a:avLst/>
          </a:prstGeom>
        </p:spPr>
      </p:pic>
      <p:sp>
        <p:nvSpPr>
          <p:cNvPr id="6" name="Shape 3"/>
          <p:cNvSpPr/>
          <p:nvPr/>
        </p:nvSpPr>
        <p:spPr>
          <a:xfrm>
            <a:off x="6199632" y="1783080"/>
            <a:ext cx="5440680" cy="3575150"/>
          </a:xfrm>
          <a:prstGeom prst="roundRect">
            <a:avLst>
              <a:gd name="adj" fmla="val 3069"/>
            </a:avLst>
          </a:prstGeom>
          <a:solidFill>
            <a:schemeClr val="bg1"/>
          </a:solidFill>
          <a:ln/>
          <a:effectLst>
            <a:outerShdw sx="100000" sy="100000" kx="0" ky="0" algn="bl" rotWithShape="0" blurRad="228600" dist="76200" dir="5400000">
              <a:srgbClr val="0B1020">
                <a:alpha val="18000"/>
              </a:srgbClr>
            </a:outerShdw>
          </a:effectLst>
        </p:spPr>
      </p:sp>
      <p:pic>
        <p:nvPicPr>
          <p:cNvPr id="7" name="Image 1" descr="Citizen appeal checker">    </p:cNvPr>
          <p:cNvPicPr>
            <a:picLocks noChangeAspect="1"/>
          </p:cNvPicPr>
          <p:nvPr/>
        </p:nvPicPr>
        <p:blipFill>
          <a:blip r:embed="rId2"/>
          <a:stretch>
            <a:fillRect/>
          </a:stretch>
        </p:blipFill>
        <p:spPr>
          <a:xfrm>
            <a:off x="6199632" y="1783080"/>
            <a:ext cx="5440680" cy="3575150"/>
          </a:xfrm>
          <a:prstGeom prst="rect">
            <a:avLst/>
          </a:prstGeom>
        </p:spPr>
      </p:pic>
      <p:sp>
        <p:nvSpPr>
          <p:cNvPr id="8" name="Text 4"/>
          <p:cNvSpPr txBox="1"/>
          <p:nvPr/>
        </p:nvSpPr>
        <p:spPr>
          <a:xfrm>
            <a:off x="548640" y="5585841"/>
            <a:ext cx="5440680" cy="594360"/>
          </a:xfrm>
          <a:prstGeom prst="rect">
            <a:avLst/>
          </a:prstGeom>
          <a:noFill/>
          <a:ln/>
        </p:spPr>
        <p:txBody>
          <a:bodyPr wrap="square" lIns="0" tIns="0" rIns="0" bIns="0" rtlCol="0" anchor="t"/>
          <a:lstStyle/>
          <a:p>
            <a:pPr indent="0" marL="0">
              <a:buNone/>
            </a:pPr>
            <a:r>
              <a:rPr lang="en-US" sz="1400" b="1" dirty="0">
                <a:solidFill>
                  <a:schemeClr val="accent1"/>
                </a:solidFill>
              </a:rPr>
              <a:t>Send an SOS  </a:t>
            </a:r>
            <a:pPr indent="0" marL="0">
              <a:buNone/>
            </a:pPr>
            <a:r>
              <a:rPr lang="en-US" sz="1400" dirty="0">
                <a:solidFill>
                  <a:srgbClr val="71717A"/>
                </a:solidFill>
              </a:rPr>
              <a:t>in Sinhala, Tamil or English, pin the location, and track it with a reference.</a:t>
            </a:r>
            <a:endParaRPr lang="en-US" sz="1400" dirty="0"/>
          </a:p>
        </p:txBody>
      </p:sp>
      <p:sp>
        <p:nvSpPr>
          <p:cNvPr id="9" name="Text 5"/>
          <p:cNvSpPr txBox="1"/>
          <p:nvPr/>
        </p:nvSpPr>
        <p:spPr>
          <a:xfrm>
            <a:off x="6199632" y="5585841"/>
            <a:ext cx="5440680" cy="594360"/>
          </a:xfrm>
          <a:prstGeom prst="rect">
            <a:avLst/>
          </a:prstGeom>
          <a:noFill/>
          <a:ln/>
        </p:spPr>
        <p:txBody>
          <a:bodyPr wrap="square" lIns="0" tIns="0" rIns="0" bIns="0" rtlCol="0" anchor="t"/>
          <a:lstStyle/>
          <a:p>
            <a:pPr indent="0" marL="0">
              <a:buNone/>
            </a:pPr>
            <a:r>
              <a:rPr lang="en-US" sz="1400" b="1" dirty="0">
                <a:solidFill>
                  <a:schemeClr val="accent5"/>
                </a:solidFill>
              </a:rPr>
              <a:t>Check a message  </a:t>
            </a:r>
            <a:pPr indent="0" marL="0">
              <a:buNone/>
            </a:pPr>
            <a:r>
              <a:rPr lang="en-US" sz="1400" dirty="0">
                <a:solidFill>
                  <a:srgbClr val="71717A"/>
                </a:solidFill>
              </a:rPr>
              <a:t>against official bulletins and the relief registry before paying or sharing.</a:t>
            </a:r>
            <a:endParaRPr lang="en-US" sz="14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DISTRICT COORDINATION</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Every division, one picture</a:t>
            </a:r>
            <a:endParaRPr lang="en-US" sz="3400" dirty="0"/>
          </a:p>
        </p:txBody>
      </p:sp>
      <p:sp>
        <p:nvSpPr>
          <p:cNvPr id="4" name="Shape 2"/>
          <p:cNvSpPr/>
          <p:nvPr/>
        </p:nvSpPr>
        <p:spPr>
          <a:xfrm>
            <a:off x="548640" y="1783080"/>
            <a:ext cx="7406640" cy="4297680"/>
          </a:xfrm>
          <a:prstGeom prst="roundRect">
            <a:avLst>
              <a:gd name="adj" fmla="val 2553"/>
            </a:avLst>
          </a:prstGeom>
          <a:solidFill>
            <a:schemeClr val="bg1"/>
          </a:solidFill>
          <a:ln/>
          <a:effectLst>
            <a:outerShdw sx="100000" sy="100000" kx="0" ky="0" algn="bl" rotWithShape="0" blurRad="228600" dist="76200" dir="5400000">
              <a:srgbClr val="0B1020">
                <a:alpha val="18000"/>
              </a:srgbClr>
            </a:outerShdw>
          </a:effectLst>
        </p:spPr>
      </p:sp>
      <p:pic>
        <p:nvPicPr>
          <p:cNvPr id="5" name="Image 0" descr="District overview with escalations">    </p:cNvPr>
          <p:cNvPicPr>
            <a:picLocks noChangeAspect="1"/>
          </p:cNvPicPr>
          <p:nvPr/>
        </p:nvPicPr>
        <p:blipFill>
          <a:blip r:embed="rId1"/>
          <a:stretch>
            <a:fillRect/>
          </a:stretch>
        </p:blipFill>
        <p:spPr>
          <a:xfrm>
            <a:off x="548640" y="1783080"/>
            <a:ext cx="7406640" cy="4297680"/>
          </a:xfrm>
          <a:prstGeom prst="rect">
            <a:avLst/>
          </a:prstGeom>
        </p:spPr>
      </p:pic>
      <p:sp>
        <p:nvSpPr>
          <p:cNvPr id="6" name="Shape 3"/>
          <p:cNvSpPr/>
          <p:nvPr/>
        </p:nvSpPr>
        <p:spPr>
          <a:xfrm>
            <a:off x="8275320" y="1783080"/>
            <a:ext cx="502920" cy="502920"/>
          </a:xfrm>
          <a:prstGeom prst="roundRect">
            <a:avLst>
              <a:gd name="adj" fmla="val 28000"/>
            </a:avLst>
          </a:prstGeom>
          <a:solidFill>
            <a:schemeClr val="accent5">
              <a:alpha val="12000"/>
            </a:schemeClr>
          </a:solidFill>
          <a:ln/>
        </p:spPr>
      </p:sp>
      <p:pic>
        <p:nvPicPr>
          <p:cNvPr id="7" name="Image 1" descr="Siren icon">    </p:cNvPr>
          <p:cNvPicPr>
            <a:picLocks noChangeAspect="1"/>
          </p:cNvPicPr>
          <p:nvPr/>
        </p:nvPicPr>
        <p:blipFill>
          <a:blip r:embed="rId2"/>
          <a:stretch>
            <a:fillRect/>
          </a:stretch>
        </p:blipFill>
        <p:spPr>
          <a:xfrm>
            <a:off x="8401050" y="1908810"/>
            <a:ext cx="251460" cy="251460"/>
          </a:xfrm>
          <a:prstGeom prst="rect">
            <a:avLst/>
          </a:prstGeom>
        </p:spPr>
      </p:pic>
      <p:sp>
        <p:nvSpPr>
          <p:cNvPr id="8" name="Text 4"/>
          <p:cNvSpPr txBox="1"/>
          <p:nvPr/>
        </p:nvSpPr>
        <p:spPr>
          <a:xfrm>
            <a:off x="8961120" y="1764792"/>
            <a:ext cx="2697480" cy="411480"/>
          </a:xfrm>
          <a:prstGeom prst="rect">
            <a:avLst/>
          </a:prstGeom>
          <a:noFill/>
          <a:ln/>
        </p:spPr>
        <p:txBody>
          <a:bodyPr wrap="square" lIns="0" tIns="0" rIns="0" bIns="0" rtlCol="0" anchor="ctr"/>
          <a:lstStyle/>
          <a:p>
            <a:pPr indent="0" marL="0">
              <a:buNone/>
            </a:pPr>
            <a:r>
              <a:rPr lang="en-US" sz="1600" b="1" dirty="0">
                <a:solidFill>
                  <a:schemeClr val="tx1"/>
                </a:solidFill>
              </a:rPr>
              <a:t>Escalations</a:t>
            </a:r>
            <a:endParaRPr lang="en-US" sz="1600" dirty="0"/>
          </a:p>
        </p:txBody>
      </p:sp>
      <p:sp>
        <p:nvSpPr>
          <p:cNvPr id="9" name="Text 5"/>
          <p:cNvSpPr txBox="1"/>
          <p:nvPr/>
        </p:nvSpPr>
        <p:spPr>
          <a:xfrm>
            <a:off x="8961120" y="2194560"/>
            <a:ext cx="2697480" cy="914400"/>
          </a:xfrm>
          <a:prstGeom prst="rect">
            <a:avLst/>
          </a:prstGeom>
          <a:noFill/>
          <a:ln/>
        </p:spPr>
        <p:txBody>
          <a:bodyPr wrap="square" lIns="0" tIns="0" rIns="0" bIns="0" rtlCol="0" anchor="t"/>
          <a:lstStyle/>
          <a:p>
            <a:pPr indent="0" marL="0">
              <a:buNone/>
            </a:pPr>
            <a:r>
              <a:rPr lang="en-US" sz="1300" dirty="0">
                <a:solidFill>
                  <a:srgbClr val="71717A"/>
                </a:solidFill>
              </a:rPr>
              <a:t>Cases waiting too long rise to the district.</a:t>
            </a:r>
            <a:endParaRPr lang="en-US" sz="1300" dirty="0"/>
          </a:p>
        </p:txBody>
      </p:sp>
      <p:sp>
        <p:nvSpPr>
          <p:cNvPr id="10" name="Shape 6"/>
          <p:cNvSpPr/>
          <p:nvPr/>
        </p:nvSpPr>
        <p:spPr>
          <a:xfrm>
            <a:off x="8275320" y="3246120"/>
            <a:ext cx="502920" cy="502920"/>
          </a:xfrm>
          <a:prstGeom prst="roundRect">
            <a:avLst>
              <a:gd name="adj" fmla="val 28000"/>
            </a:avLst>
          </a:prstGeom>
          <a:solidFill>
            <a:schemeClr val="accent2">
              <a:alpha val="12000"/>
            </a:schemeClr>
          </a:solidFill>
          <a:ln/>
        </p:spPr>
      </p:sp>
      <p:pic>
        <p:nvPicPr>
          <p:cNvPr id="11" name="Image 2" descr="ShieldCheck icon">    </p:cNvPr>
          <p:cNvPicPr>
            <a:picLocks noChangeAspect="1"/>
          </p:cNvPicPr>
          <p:nvPr/>
        </p:nvPicPr>
        <p:blipFill>
          <a:blip r:embed="rId3"/>
          <a:stretch>
            <a:fillRect/>
          </a:stretch>
        </p:blipFill>
        <p:spPr>
          <a:xfrm>
            <a:off x="8401050" y="3371850"/>
            <a:ext cx="251460" cy="251460"/>
          </a:xfrm>
          <a:prstGeom prst="rect">
            <a:avLst/>
          </a:prstGeom>
        </p:spPr>
      </p:pic>
      <p:sp>
        <p:nvSpPr>
          <p:cNvPr id="12" name="Text 7"/>
          <p:cNvSpPr txBox="1"/>
          <p:nvPr/>
        </p:nvSpPr>
        <p:spPr>
          <a:xfrm>
            <a:off x="8961120" y="3227832"/>
            <a:ext cx="2697480" cy="411480"/>
          </a:xfrm>
          <a:prstGeom prst="rect">
            <a:avLst/>
          </a:prstGeom>
          <a:noFill/>
          <a:ln/>
        </p:spPr>
        <p:txBody>
          <a:bodyPr wrap="square" lIns="0" tIns="0" rIns="0" bIns="0" rtlCol="0" anchor="ctr"/>
          <a:lstStyle/>
          <a:p>
            <a:pPr indent="0" marL="0">
              <a:buNone/>
            </a:pPr>
            <a:r>
              <a:rPr lang="en-US" sz="1600" b="1" dirty="0">
                <a:solidFill>
                  <a:schemeClr val="tx1"/>
                </a:solidFill>
              </a:rPr>
              <a:t>Appeals and rumours</a:t>
            </a:r>
            <a:endParaRPr lang="en-US" sz="1600" dirty="0"/>
          </a:p>
        </p:txBody>
      </p:sp>
      <p:sp>
        <p:nvSpPr>
          <p:cNvPr id="13" name="Text 8"/>
          <p:cNvSpPr txBox="1"/>
          <p:nvPr/>
        </p:nvSpPr>
        <p:spPr>
          <a:xfrm>
            <a:off x="8961120" y="3657600"/>
            <a:ext cx="2697480" cy="914400"/>
          </a:xfrm>
          <a:prstGeom prst="rect">
            <a:avLst/>
          </a:prstGeom>
          <a:noFill/>
          <a:ln/>
        </p:spPr>
        <p:txBody>
          <a:bodyPr wrap="square" lIns="0" tIns="0" rIns="0" bIns="0" rtlCol="0" anchor="t"/>
          <a:lstStyle/>
          <a:p>
            <a:pPr indent="0" marL="0">
              <a:buNone/>
            </a:pPr>
            <a:r>
              <a:rPr lang="en-US" sz="1300" dirty="0">
                <a:solidFill>
                  <a:srgbClr val="71717A"/>
                </a:solidFill>
              </a:rPr>
              <a:t>Payees and claims are checked against registries and official bulletins.</a:t>
            </a:r>
            <a:endParaRPr lang="en-US" sz="1300" dirty="0"/>
          </a:p>
        </p:txBody>
      </p:sp>
      <p:sp>
        <p:nvSpPr>
          <p:cNvPr id="14" name="Shape 9"/>
          <p:cNvSpPr/>
          <p:nvPr/>
        </p:nvSpPr>
        <p:spPr>
          <a:xfrm>
            <a:off x="8275320" y="4709160"/>
            <a:ext cx="502920" cy="502920"/>
          </a:xfrm>
          <a:prstGeom prst="roundRect">
            <a:avLst>
              <a:gd name="adj" fmla="val 28000"/>
            </a:avLst>
          </a:prstGeom>
          <a:solidFill>
            <a:schemeClr val="accent1">
              <a:alpha val="12000"/>
            </a:schemeClr>
          </a:solidFill>
          <a:ln/>
        </p:spPr>
      </p:sp>
      <p:pic>
        <p:nvPicPr>
          <p:cNvPr id="15" name="Image 3" descr="Bot icon">    </p:cNvPr>
          <p:cNvPicPr>
            <a:picLocks noChangeAspect="1"/>
          </p:cNvPicPr>
          <p:nvPr/>
        </p:nvPicPr>
        <p:blipFill>
          <a:blip r:embed="rId4"/>
          <a:stretch>
            <a:fillRect/>
          </a:stretch>
        </p:blipFill>
        <p:spPr>
          <a:xfrm>
            <a:off x="8401050" y="4834890"/>
            <a:ext cx="251460" cy="251460"/>
          </a:xfrm>
          <a:prstGeom prst="rect">
            <a:avLst/>
          </a:prstGeom>
        </p:spPr>
      </p:pic>
      <p:sp>
        <p:nvSpPr>
          <p:cNvPr id="16" name="Text 10"/>
          <p:cNvSpPr txBox="1"/>
          <p:nvPr/>
        </p:nvSpPr>
        <p:spPr>
          <a:xfrm>
            <a:off x="8961120" y="4690872"/>
            <a:ext cx="2697480" cy="411480"/>
          </a:xfrm>
          <a:prstGeom prst="rect">
            <a:avLst/>
          </a:prstGeom>
          <a:noFill/>
          <a:ln/>
        </p:spPr>
        <p:txBody>
          <a:bodyPr wrap="square" lIns="0" tIns="0" rIns="0" bIns="0" rtlCol="0" anchor="ctr"/>
          <a:lstStyle/>
          <a:p>
            <a:pPr indent="0" marL="0">
              <a:buNone/>
            </a:pPr>
            <a:r>
              <a:rPr lang="en-US" sz="1600" b="1" dirty="0">
                <a:solidFill>
                  <a:schemeClr val="tx1"/>
                </a:solidFill>
              </a:rPr>
              <a:t>Agent activity</a:t>
            </a:r>
            <a:endParaRPr lang="en-US" sz="1600" dirty="0"/>
          </a:p>
        </p:txBody>
      </p:sp>
      <p:sp>
        <p:nvSpPr>
          <p:cNvPr id="17" name="Text 11"/>
          <p:cNvSpPr txBox="1"/>
          <p:nvPr/>
        </p:nvSpPr>
        <p:spPr>
          <a:xfrm>
            <a:off x="8961120" y="5120640"/>
            <a:ext cx="2697480" cy="914400"/>
          </a:xfrm>
          <a:prstGeom prst="rect">
            <a:avLst/>
          </a:prstGeom>
          <a:noFill/>
          <a:ln/>
        </p:spPr>
        <p:txBody>
          <a:bodyPr wrap="square" lIns="0" tIns="0" rIns="0" bIns="0" rtlCol="0" anchor="t"/>
          <a:lstStyle/>
          <a:p>
            <a:pPr indent="0" marL="0">
              <a:buNone/>
            </a:pPr>
            <a:r>
              <a:rPr lang="en-US" sz="1300" dirty="0">
                <a:solidFill>
                  <a:srgbClr val="71717A"/>
                </a:solidFill>
              </a:rPr>
              <a:t>Every agent proposal, rule and human decision is logged.</a:t>
            </a:r>
            <a:endParaRPr lang="en-US" sz="13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LIVE DEMO</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One household, from first SOS to delivered help</a:t>
            </a:r>
            <a:endParaRPr lang="en-US" sz="3400" dirty="0"/>
          </a:p>
        </p:txBody>
      </p:sp>
      <p:sp>
        <p:nvSpPr>
          <p:cNvPr id="4" name="Shape 2"/>
          <p:cNvSpPr/>
          <p:nvPr/>
        </p:nvSpPr>
        <p:spPr>
          <a:xfrm>
            <a:off x="1325880" y="2432304"/>
            <a:ext cx="9539935" cy="0"/>
          </a:xfrm>
          <a:prstGeom prst="line">
            <a:avLst/>
          </a:prstGeom>
          <a:noFill/>
          <a:ln w="25400">
            <a:solidFill>
              <a:srgbClr val="BFDBFE"/>
            </a:solidFill>
            <a:prstDash val="solid"/>
          </a:ln>
        </p:spPr>
      </p:sp>
      <p:sp>
        <p:nvSpPr>
          <p:cNvPr id="5" name="Shape 3"/>
          <p:cNvSpPr/>
          <p:nvPr/>
        </p:nvSpPr>
        <p:spPr>
          <a:xfrm>
            <a:off x="1133856" y="2240280"/>
            <a:ext cx="384048" cy="384048"/>
          </a:xfrm>
          <a:prstGeom prst="ellipse">
            <a:avLst/>
          </a:prstGeom>
          <a:solidFill>
            <a:schemeClr val="accent1"/>
          </a:solidFill>
          <a:ln/>
        </p:spPr>
      </p:sp>
      <p:sp>
        <p:nvSpPr>
          <p:cNvPr id="6" name="Text 4"/>
          <p:cNvSpPr txBox="1"/>
          <p:nvPr/>
        </p:nvSpPr>
        <p:spPr>
          <a:xfrm>
            <a:off x="1133856"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1</a:t>
            </a:r>
            <a:endParaRPr lang="en-US" sz="1300" dirty="0"/>
          </a:p>
        </p:txBody>
      </p:sp>
      <p:sp>
        <p:nvSpPr>
          <p:cNvPr id="7" name="Text 5"/>
          <p:cNvSpPr txBox="1"/>
          <p:nvPr/>
        </p:nvSpPr>
        <p:spPr>
          <a:xfrm>
            <a:off x="539496" y="2788920"/>
            <a:ext cx="1572768" cy="566928"/>
          </a:xfrm>
          <a:prstGeom prst="rect">
            <a:avLst/>
          </a:prstGeom>
          <a:noFill/>
          <a:ln/>
        </p:spPr>
        <p:txBody>
          <a:bodyPr wrap="square" lIns="0" tIns="0" rIns="0" bIns="0" rtlCol="0" anchor="t"/>
          <a:lstStyle/>
          <a:p>
            <a:pPr algn="ctr" indent="0" marL="0">
              <a:buNone/>
            </a:pPr>
            <a:r>
              <a:rPr lang="en-US" sz="1300" b="1" dirty="0">
                <a:solidFill>
                  <a:schemeClr val="tx1"/>
                </a:solidFill>
              </a:rPr>
              <a:t>Two reports, one home</a:t>
            </a:r>
            <a:endParaRPr lang="en-US" sz="1300" dirty="0"/>
          </a:p>
        </p:txBody>
      </p:sp>
      <p:sp>
        <p:nvSpPr>
          <p:cNvPr id="8" name="Text 6"/>
          <p:cNvSpPr txBox="1"/>
          <p:nvPr/>
        </p:nvSpPr>
        <p:spPr>
          <a:xfrm>
            <a:off x="539496" y="3383280"/>
            <a:ext cx="1572768" cy="1188720"/>
          </a:xfrm>
          <a:prstGeom prst="rect">
            <a:avLst/>
          </a:prstGeom>
          <a:noFill/>
          <a:ln/>
        </p:spPr>
        <p:txBody>
          <a:bodyPr wrap="square" lIns="0" tIns="0" rIns="0" bIns="0" rtlCol="0" anchor="t"/>
          <a:lstStyle/>
          <a:p>
            <a:pPr algn="ctr" indent="0" marL="0">
              <a:buNone/>
            </a:pPr>
            <a:r>
              <a:rPr lang="en-US" sz="1100" dirty="0">
                <a:solidFill>
                  <a:srgbClr val="71717A"/>
                </a:solidFill>
              </a:rPr>
              <a:t>An SMS and a relative's WhatsApp become one incident.</a:t>
            </a:r>
            <a:endParaRPr lang="en-US" sz="1100" dirty="0"/>
          </a:p>
        </p:txBody>
      </p:sp>
      <p:sp>
        <p:nvSpPr>
          <p:cNvPr id="9" name="Shape 7"/>
          <p:cNvSpPr/>
          <p:nvPr/>
        </p:nvSpPr>
        <p:spPr>
          <a:xfrm>
            <a:off x="2723845" y="2240280"/>
            <a:ext cx="384048" cy="384048"/>
          </a:xfrm>
          <a:prstGeom prst="ellipse">
            <a:avLst/>
          </a:prstGeom>
          <a:solidFill>
            <a:schemeClr val="accent1"/>
          </a:solidFill>
          <a:ln/>
        </p:spPr>
      </p:sp>
      <p:sp>
        <p:nvSpPr>
          <p:cNvPr id="10" name="Text 8"/>
          <p:cNvSpPr txBox="1"/>
          <p:nvPr/>
        </p:nvSpPr>
        <p:spPr>
          <a:xfrm>
            <a:off x="2723845"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2</a:t>
            </a:r>
            <a:endParaRPr lang="en-US" sz="1300" dirty="0"/>
          </a:p>
        </p:txBody>
      </p:sp>
      <p:sp>
        <p:nvSpPr>
          <p:cNvPr id="11" name="Text 9"/>
          <p:cNvSpPr txBox="1"/>
          <p:nvPr/>
        </p:nvSpPr>
        <p:spPr>
          <a:xfrm>
            <a:off x="2129485" y="2788920"/>
            <a:ext cx="1572768" cy="566928"/>
          </a:xfrm>
          <a:prstGeom prst="rect">
            <a:avLst/>
          </a:prstGeom>
          <a:noFill/>
          <a:ln/>
        </p:spPr>
        <p:txBody>
          <a:bodyPr wrap="square" lIns="0" tIns="0" rIns="0" bIns="0" rtlCol="0" anchor="t"/>
          <a:lstStyle/>
          <a:p>
            <a:pPr algn="ctr" indent="0" marL="0">
              <a:buNone/>
            </a:pPr>
            <a:r>
              <a:rPr lang="en-US" sz="1300" b="1" dirty="0">
                <a:solidFill>
                  <a:schemeClr val="tx1"/>
                </a:solidFill>
              </a:rPr>
              <a:t>Same name, new home</a:t>
            </a:r>
            <a:endParaRPr lang="en-US" sz="1300" dirty="0"/>
          </a:p>
        </p:txBody>
      </p:sp>
      <p:sp>
        <p:nvSpPr>
          <p:cNvPr id="12" name="Text 10"/>
          <p:cNvSpPr txBox="1"/>
          <p:nvPr/>
        </p:nvSpPr>
        <p:spPr>
          <a:xfrm>
            <a:off x="2129485" y="3383280"/>
            <a:ext cx="1572768" cy="1188720"/>
          </a:xfrm>
          <a:prstGeom prst="rect">
            <a:avLst/>
          </a:prstGeom>
          <a:noFill/>
          <a:ln/>
        </p:spPr>
        <p:txBody>
          <a:bodyPr wrap="square" lIns="0" tIns="0" rIns="0" bIns="0" rtlCol="0" anchor="t"/>
          <a:lstStyle/>
          <a:p>
            <a:pPr algn="ctr" indent="0" marL="0">
              <a:buNone/>
            </a:pPr>
            <a:r>
              <a:rPr lang="en-US" sz="1100" dirty="0">
                <a:solidFill>
                  <a:srgbClr val="71717A"/>
                </a:solidFill>
              </a:rPr>
              <a:t>A different Perera household stays separate.</a:t>
            </a:r>
            <a:endParaRPr lang="en-US" sz="1100" dirty="0"/>
          </a:p>
        </p:txBody>
      </p:sp>
      <p:sp>
        <p:nvSpPr>
          <p:cNvPr id="13" name="Shape 11"/>
          <p:cNvSpPr/>
          <p:nvPr/>
        </p:nvSpPr>
        <p:spPr>
          <a:xfrm>
            <a:off x="4313834" y="2240280"/>
            <a:ext cx="384048" cy="384048"/>
          </a:xfrm>
          <a:prstGeom prst="ellipse">
            <a:avLst/>
          </a:prstGeom>
          <a:solidFill>
            <a:schemeClr val="accent2"/>
          </a:solidFill>
          <a:ln/>
        </p:spPr>
      </p:sp>
      <p:sp>
        <p:nvSpPr>
          <p:cNvPr id="14" name="Text 12"/>
          <p:cNvSpPr txBox="1"/>
          <p:nvPr/>
        </p:nvSpPr>
        <p:spPr>
          <a:xfrm>
            <a:off x="4313834"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3</a:t>
            </a:r>
            <a:endParaRPr lang="en-US" sz="1300" dirty="0"/>
          </a:p>
        </p:txBody>
      </p:sp>
      <p:sp>
        <p:nvSpPr>
          <p:cNvPr id="15" name="Text 13"/>
          <p:cNvSpPr txBox="1"/>
          <p:nvPr/>
        </p:nvSpPr>
        <p:spPr>
          <a:xfrm>
            <a:off x="3719474" y="2788920"/>
            <a:ext cx="1572768" cy="566928"/>
          </a:xfrm>
          <a:prstGeom prst="rect">
            <a:avLst/>
          </a:prstGeom>
          <a:noFill/>
          <a:ln/>
        </p:spPr>
        <p:txBody>
          <a:bodyPr wrap="square" lIns="0" tIns="0" rIns="0" bIns="0" rtlCol="0" anchor="t"/>
          <a:lstStyle/>
          <a:p>
            <a:pPr algn="ctr" indent="0" marL="0">
              <a:buNone/>
            </a:pPr>
            <a:r>
              <a:rPr lang="en-US" sz="1300" b="1" dirty="0">
                <a:solidFill>
                  <a:schemeClr val="tx1"/>
                </a:solidFill>
              </a:rPr>
              <a:t>Verified by phone</a:t>
            </a:r>
            <a:endParaRPr lang="en-US" sz="1300" dirty="0"/>
          </a:p>
        </p:txBody>
      </p:sp>
      <p:sp>
        <p:nvSpPr>
          <p:cNvPr id="16" name="Text 14"/>
          <p:cNvSpPr txBox="1"/>
          <p:nvPr/>
        </p:nvSpPr>
        <p:spPr>
          <a:xfrm>
            <a:off x="3719474" y="3383280"/>
            <a:ext cx="1572768" cy="1188720"/>
          </a:xfrm>
          <a:prstGeom prst="rect">
            <a:avLst/>
          </a:prstGeom>
          <a:noFill/>
          <a:ln/>
        </p:spPr>
        <p:txBody>
          <a:bodyPr wrap="square" lIns="0" tIns="0" rIns="0" bIns="0" rtlCol="0" anchor="t"/>
          <a:lstStyle/>
          <a:p>
            <a:pPr algn="ctr" indent="0" marL="0">
              <a:buNone/>
            </a:pPr>
            <a:r>
              <a:rPr lang="en-US" sz="1100" dirty="0">
                <a:solidFill>
                  <a:srgbClr val="71717A"/>
                </a:solidFill>
              </a:rPr>
              <a:t>A missed call does not verify. A real call does.</a:t>
            </a:r>
            <a:endParaRPr lang="en-US" sz="1100" dirty="0"/>
          </a:p>
        </p:txBody>
      </p:sp>
      <p:sp>
        <p:nvSpPr>
          <p:cNvPr id="17" name="Shape 15"/>
          <p:cNvSpPr/>
          <p:nvPr/>
        </p:nvSpPr>
        <p:spPr>
          <a:xfrm>
            <a:off x="5903824" y="2240280"/>
            <a:ext cx="384048" cy="384048"/>
          </a:xfrm>
          <a:prstGeom prst="ellipse">
            <a:avLst/>
          </a:prstGeom>
          <a:solidFill>
            <a:schemeClr val="accent4"/>
          </a:solidFill>
          <a:ln/>
        </p:spPr>
      </p:sp>
      <p:sp>
        <p:nvSpPr>
          <p:cNvPr id="18" name="Text 16"/>
          <p:cNvSpPr txBox="1"/>
          <p:nvPr/>
        </p:nvSpPr>
        <p:spPr>
          <a:xfrm>
            <a:off x="5903824"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4</a:t>
            </a:r>
            <a:endParaRPr lang="en-US" sz="1300" dirty="0"/>
          </a:p>
        </p:txBody>
      </p:sp>
      <p:sp>
        <p:nvSpPr>
          <p:cNvPr id="19" name="Text 17"/>
          <p:cNvSpPr txBox="1"/>
          <p:nvPr/>
        </p:nvSpPr>
        <p:spPr>
          <a:xfrm>
            <a:off x="5309464" y="2788920"/>
            <a:ext cx="1572768" cy="566928"/>
          </a:xfrm>
          <a:prstGeom prst="rect">
            <a:avLst/>
          </a:prstGeom>
          <a:noFill/>
          <a:ln/>
        </p:spPr>
        <p:txBody>
          <a:bodyPr wrap="square" lIns="0" tIns="0" rIns="0" bIns="0" rtlCol="0" anchor="t"/>
          <a:lstStyle/>
          <a:p>
            <a:pPr algn="ctr" indent="0" marL="0">
              <a:buNone/>
            </a:pPr>
            <a:r>
              <a:rPr lang="en-US" sz="1300" b="1" dirty="0">
                <a:solidFill>
                  <a:schemeClr val="tx1"/>
                </a:solidFill>
              </a:rPr>
              <a:t>Smart reassignment</a:t>
            </a:r>
            <a:endParaRPr lang="en-US" sz="1300" dirty="0"/>
          </a:p>
        </p:txBody>
      </p:sp>
      <p:sp>
        <p:nvSpPr>
          <p:cNvPr id="20" name="Text 18"/>
          <p:cNvSpPr txBox="1"/>
          <p:nvPr/>
        </p:nvSpPr>
        <p:spPr>
          <a:xfrm>
            <a:off x="5309464" y="3383280"/>
            <a:ext cx="1572768" cy="1188720"/>
          </a:xfrm>
          <a:prstGeom prst="rect">
            <a:avLst/>
          </a:prstGeom>
          <a:noFill/>
          <a:ln/>
        </p:spPr>
        <p:txBody>
          <a:bodyPr wrap="square" lIns="0" tIns="0" rIns="0" bIns="0" rtlCol="0" anchor="t"/>
          <a:lstStyle/>
          <a:p>
            <a:pPr algn="ctr" indent="0" marL="0">
              <a:buNone/>
            </a:pPr>
            <a:r>
              <a:rPr lang="en-US" sz="1100" dirty="0">
                <a:solidFill>
                  <a:srgbClr val="71717A"/>
                </a:solidFill>
              </a:rPr>
              <a:t>A boat request goes to an eligible group. A decline reassigns it.</a:t>
            </a:r>
            <a:endParaRPr lang="en-US" sz="1100" dirty="0"/>
          </a:p>
        </p:txBody>
      </p:sp>
      <p:sp>
        <p:nvSpPr>
          <p:cNvPr id="21" name="Shape 19"/>
          <p:cNvSpPr/>
          <p:nvPr/>
        </p:nvSpPr>
        <p:spPr>
          <a:xfrm>
            <a:off x="7493813" y="2240280"/>
            <a:ext cx="384048" cy="384048"/>
          </a:xfrm>
          <a:prstGeom prst="ellipse">
            <a:avLst/>
          </a:prstGeom>
          <a:solidFill>
            <a:schemeClr val="accent4"/>
          </a:solidFill>
          <a:ln/>
        </p:spPr>
      </p:sp>
      <p:sp>
        <p:nvSpPr>
          <p:cNvPr id="22" name="Text 20"/>
          <p:cNvSpPr txBox="1"/>
          <p:nvPr/>
        </p:nvSpPr>
        <p:spPr>
          <a:xfrm>
            <a:off x="7493813"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5</a:t>
            </a:r>
            <a:endParaRPr lang="en-US" sz="1300" dirty="0"/>
          </a:p>
        </p:txBody>
      </p:sp>
      <p:sp>
        <p:nvSpPr>
          <p:cNvPr id="23" name="Text 21"/>
          <p:cNvSpPr txBox="1"/>
          <p:nvPr/>
        </p:nvSpPr>
        <p:spPr>
          <a:xfrm>
            <a:off x="6899453" y="2788920"/>
            <a:ext cx="1572768" cy="566928"/>
          </a:xfrm>
          <a:prstGeom prst="rect">
            <a:avLst/>
          </a:prstGeom>
          <a:noFill/>
          <a:ln/>
        </p:spPr>
        <p:txBody>
          <a:bodyPr wrap="square" lIns="0" tIns="0" rIns="0" bIns="0" rtlCol="0" anchor="t"/>
          <a:lstStyle/>
          <a:p>
            <a:pPr algn="ctr" indent="0" marL="0">
              <a:buNone/>
            </a:pPr>
            <a:r>
              <a:rPr lang="en-US" sz="1300" b="1" dirty="0">
                <a:solidFill>
                  <a:schemeClr val="tx1"/>
                </a:solidFill>
              </a:rPr>
              <a:t>Help on the way</a:t>
            </a:r>
            <a:endParaRPr lang="en-US" sz="1300" dirty="0"/>
          </a:p>
        </p:txBody>
      </p:sp>
      <p:sp>
        <p:nvSpPr>
          <p:cNvPr id="24" name="Text 22"/>
          <p:cNvSpPr txBox="1"/>
          <p:nvPr/>
        </p:nvSpPr>
        <p:spPr>
          <a:xfrm>
            <a:off x="6899453" y="3383280"/>
            <a:ext cx="1572768" cy="1188720"/>
          </a:xfrm>
          <a:prstGeom prst="rect">
            <a:avLst/>
          </a:prstGeom>
          <a:noFill/>
          <a:ln/>
        </p:spPr>
        <p:txBody>
          <a:bodyPr wrap="square" lIns="0" tIns="0" rIns="0" bIns="0" rtlCol="0" anchor="t"/>
          <a:lstStyle/>
          <a:p>
            <a:pPr algn="ctr" indent="0" marL="0">
              <a:buNone/>
            </a:pPr>
            <a:r>
              <a:rPr lang="en-US" sz="1100" dirty="0">
                <a:solidFill>
                  <a:srgbClr val="71717A"/>
                </a:solidFill>
              </a:rPr>
              <a:t>The next group accepts and dispatches. The citizen sees it.</a:t>
            </a:r>
            <a:endParaRPr lang="en-US" sz="1100" dirty="0"/>
          </a:p>
        </p:txBody>
      </p:sp>
      <p:sp>
        <p:nvSpPr>
          <p:cNvPr id="25" name="Shape 23"/>
          <p:cNvSpPr/>
          <p:nvPr/>
        </p:nvSpPr>
        <p:spPr>
          <a:xfrm>
            <a:off x="9083802" y="2240280"/>
            <a:ext cx="384048" cy="384048"/>
          </a:xfrm>
          <a:prstGeom prst="ellipse">
            <a:avLst/>
          </a:prstGeom>
          <a:solidFill>
            <a:schemeClr val="accent5"/>
          </a:solidFill>
          <a:ln/>
        </p:spPr>
      </p:sp>
      <p:sp>
        <p:nvSpPr>
          <p:cNvPr id="26" name="Text 24"/>
          <p:cNvSpPr txBox="1"/>
          <p:nvPr/>
        </p:nvSpPr>
        <p:spPr>
          <a:xfrm>
            <a:off x="9083802"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6</a:t>
            </a:r>
            <a:endParaRPr lang="en-US" sz="1300" dirty="0"/>
          </a:p>
        </p:txBody>
      </p:sp>
      <p:sp>
        <p:nvSpPr>
          <p:cNvPr id="27" name="Text 25"/>
          <p:cNvSpPr txBox="1"/>
          <p:nvPr/>
        </p:nvSpPr>
        <p:spPr>
          <a:xfrm>
            <a:off x="8489442" y="2788920"/>
            <a:ext cx="1572768" cy="566928"/>
          </a:xfrm>
          <a:prstGeom prst="rect">
            <a:avLst/>
          </a:prstGeom>
          <a:noFill/>
          <a:ln/>
        </p:spPr>
        <p:txBody>
          <a:bodyPr wrap="square" lIns="0" tIns="0" rIns="0" bIns="0" rtlCol="0" anchor="t"/>
          <a:lstStyle/>
          <a:p>
            <a:pPr algn="ctr" indent="0" marL="0">
              <a:buNone/>
            </a:pPr>
            <a:r>
              <a:rPr lang="en-US" sz="1300" b="1" dirty="0">
                <a:solidFill>
                  <a:schemeClr val="tx1"/>
                </a:solidFill>
              </a:rPr>
              <a:t>Appeal checks</a:t>
            </a:r>
            <a:endParaRPr lang="en-US" sz="1300" dirty="0"/>
          </a:p>
        </p:txBody>
      </p:sp>
      <p:sp>
        <p:nvSpPr>
          <p:cNvPr id="28" name="Text 26"/>
          <p:cNvSpPr txBox="1"/>
          <p:nvPr/>
        </p:nvSpPr>
        <p:spPr>
          <a:xfrm>
            <a:off x="8489442" y="3383280"/>
            <a:ext cx="1572768" cy="1188720"/>
          </a:xfrm>
          <a:prstGeom prst="rect">
            <a:avLst/>
          </a:prstGeom>
          <a:noFill/>
          <a:ln/>
        </p:spPr>
        <p:txBody>
          <a:bodyPr wrap="square" lIns="0" tIns="0" rIns="0" bIns="0" rtlCol="0" anchor="t"/>
          <a:lstStyle/>
          <a:p>
            <a:pPr algn="ctr" indent="0" marL="0">
              <a:buNone/>
            </a:pPr>
            <a:r>
              <a:rPr lang="en-US" sz="1100" dirty="0">
                <a:solidFill>
                  <a:srgbClr val="71717A"/>
                </a:solidFill>
              </a:rPr>
              <a:t>An unregistered payee with an OTP request goes to an analyst.</a:t>
            </a:r>
            <a:endParaRPr lang="en-US" sz="1100" dirty="0"/>
          </a:p>
        </p:txBody>
      </p:sp>
      <p:sp>
        <p:nvSpPr>
          <p:cNvPr id="29" name="Shape 27"/>
          <p:cNvSpPr/>
          <p:nvPr/>
        </p:nvSpPr>
        <p:spPr>
          <a:xfrm>
            <a:off x="10673791" y="2240280"/>
            <a:ext cx="384048" cy="384048"/>
          </a:xfrm>
          <a:prstGeom prst="ellipse">
            <a:avLst/>
          </a:prstGeom>
          <a:solidFill>
            <a:schemeClr val="accent3"/>
          </a:solidFill>
          <a:ln/>
        </p:spPr>
      </p:sp>
      <p:sp>
        <p:nvSpPr>
          <p:cNvPr id="30" name="Text 28"/>
          <p:cNvSpPr txBox="1"/>
          <p:nvPr/>
        </p:nvSpPr>
        <p:spPr>
          <a:xfrm>
            <a:off x="10673791" y="2240280"/>
            <a:ext cx="384048" cy="384048"/>
          </a:xfrm>
          <a:prstGeom prst="rect">
            <a:avLst/>
          </a:prstGeom>
          <a:noFill/>
          <a:ln/>
        </p:spPr>
        <p:txBody>
          <a:bodyPr wrap="square" lIns="0" tIns="0" rIns="0" bIns="0" rtlCol="0" anchor="ctr"/>
          <a:lstStyle/>
          <a:p>
            <a:pPr algn="ctr" indent="0" marL="0">
              <a:buNone/>
            </a:pPr>
            <a:r>
              <a:rPr lang="en-US" sz="1300" b="1" dirty="0">
                <a:solidFill>
                  <a:srgbClr val="FFFFFF"/>
                </a:solidFill>
              </a:rPr>
              <a:t>7</a:t>
            </a:r>
            <a:endParaRPr lang="en-US" sz="1300" dirty="0"/>
          </a:p>
        </p:txBody>
      </p:sp>
      <p:sp>
        <p:nvSpPr>
          <p:cNvPr id="31" name="Text 29"/>
          <p:cNvSpPr txBox="1"/>
          <p:nvPr/>
        </p:nvSpPr>
        <p:spPr>
          <a:xfrm>
            <a:off x="10079431" y="2788920"/>
            <a:ext cx="1572768" cy="566928"/>
          </a:xfrm>
          <a:prstGeom prst="rect">
            <a:avLst/>
          </a:prstGeom>
          <a:noFill/>
          <a:ln/>
        </p:spPr>
        <p:txBody>
          <a:bodyPr wrap="square" lIns="0" tIns="0" rIns="0" bIns="0" rtlCol="0" anchor="t"/>
          <a:lstStyle/>
          <a:p>
            <a:pPr algn="ctr" indent="0" marL="0">
              <a:buNone/>
            </a:pPr>
            <a:r>
              <a:rPr lang="en-US" sz="1300" b="1" dirty="0">
                <a:solidFill>
                  <a:schemeClr val="tx1"/>
                </a:solidFill>
              </a:rPr>
              <a:t>Delivered</a:t>
            </a:r>
            <a:endParaRPr lang="en-US" sz="1300" dirty="0"/>
          </a:p>
        </p:txBody>
      </p:sp>
      <p:sp>
        <p:nvSpPr>
          <p:cNvPr id="32" name="Text 30"/>
          <p:cNvSpPr txBox="1"/>
          <p:nvPr/>
        </p:nvSpPr>
        <p:spPr>
          <a:xfrm>
            <a:off x="10079431" y="3383280"/>
            <a:ext cx="1572768" cy="1188720"/>
          </a:xfrm>
          <a:prstGeom prst="rect">
            <a:avLst/>
          </a:prstGeom>
          <a:noFill/>
          <a:ln/>
        </p:spPr>
        <p:txBody>
          <a:bodyPr wrap="square" lIns="0" tIns="0" rIns="0" bIns="0" rtlCol="0" anchor="t"/>
          <a:lstStyle/>
          <a:p>
            <a:pPr algn="ctr" indent="0" marL="0">
              <a:buNone/>
            </a:pPr>
            <a:r>
              <a:rPr lang="en-US" sz="1100" dirty="0">
                <a:solidFill>
                  <a:srgbClr val="71717A"/>
                </a:solidFill>
              </a:rPr>
              <a:t>Delivery is recorded and tracking updates for the citizen.</a:t>
            </a:r>
            <a:endParaRPr lang="en-US" sz="1100" dirty="0"/>
          </a:p>
        </p:txBody>
      </p:sp>
      <p:sp>
        <p:nvSpPr>
          <p:cNvPr id="33" name="Shape 31"/>
          <p:cNvSpPr/>
          <p:nvPr/>
        </p:nvSpPr>
        <p:spPr>
          <a:xfrm>
            <a:off x="548640" y="4846320"/>
            <a:ext cx="11094415" cy="1234440"/>
          </a:xfrm>
          <a:prstGeom prst="roundRect">
            <a:avLst>
              <a:gd name="adj" fmla="val 8889"/>
            </a:avLst>
          </a:prstGeom>
          <a:solidFill>
            <a:schemeClr val="bg2"/>
          </a:solidFill>
          <a:ln/>
        </p:spPr>
      </p:sp>
      <p:sp>
        <p:nvSpPr>
          <p:cNvPr id="34" name="Shape 32"/>
          <p:cNvSpPr/>
          <p:nvPr/>
        </p:nvSpPr>
        <p:spPr>
          <a:xfrm>
            <a:off x="822960" y="5120640"/>
            <a:ext cx="566928" cy="566928"/>
          </a:xfrm>
          <a:prstGeom prst="roundRect">
            <a:avLst>
              <a:gd name="adj" fmla="val 28000"/>
            </a:avLst>
          </a:prstGeom>
          <a:solidFill>
            <a:schemeClr val="accent1"/>
          </a:solidFill>
          <a:ln/>
        </p:spPr>
      </p:sp>
      <p:pic>
        <p:nvPicPr>
          <p:cNvPr id="35" name="Image 0" descr="Network icon">    </p:cNvPr>
          <p:cNvPicPr>
            <a:picLocks noChangeAspect="1"/>
          </p:cNvPicPr>
          <p:nvPr/>
        </p:nvPicPr>
        <p:blipFill>
          <a:blip r:embed="rId1"/>
          <a:stretch>
            <a:fillRect/>
          </a:stretch>
        </p:blipFill>
        <p:spPr>
          <a:xfrm>
            <a:off x="964692" y="5262372"/>
            <a:ext cx="283464" cy="283464"/>
          </a:xfrm>
          <a:prstGeom prst="rect">
            <a:avLst/>
          </a:prstGeom>
        </p:spPr>
      </p:pic>
      <p:sp>
        <p:nvSpPr>
          <p:cNvPr id="36" name="Text 33"/>
          <p:cNvSpPr txBox="1"/>
          <p:nvPr/>
        </p:nvSpPr>
        <p:spPr>
          <a:xfrm>
            <a:off x="1600200" y="5029200"/>
            <a:ext cx="9144000" cy="384048"/>
          </a:xfrm>
          <a:prstGeom prst="rect">
            <a:avLst/>
          </a:prstGeom>
          <a:noFill/>
          <a:ln/>
        </p:spPr>
        <p:txBody>
          <a:bodyPr wrap="square" lIns="0" tIns="0" rIns="0" bIns="0" rtlCol="0" anchor="ctr"/>
          <a:lstStyle/>
          <a:p>
            <a:pPr indent="0" marL="0">
              <a:buNone/>
            </a:pPr>
            <a:r>
              <a:rPr lang="en-US" sz="1600" b="1" dirty="0">
                <a:solidFill>
                  <a:schemeClr val="tx1"/>
                </a:solidFill>
              </a:rPr>
              <a:t>Then open the household story and the Jac graph</a:t>
            </a:r>
            <a:endParaRPr lang="en-US" sz="1600" dirty="0"/>
          </a:p>
        </p:txBody>
      </p:sp>
      <p:sp>
        <p:nvSpPr>
          <p:cNvPr id="37" name="Text 34"/>
          <p:cNvSpPr txBox="1"/>
          <p:nvPr/>
        </p:nvSpPr>
        <p:spPr>
          <a:xfrm>
            <a:off x="1600200" y="5413248"/>
            <a:ext cx="9692640" cy="457200"/>
          </a:xfrm>
          <a:prstGeom prst="rect">
            <a:avLst/>
          </a:prstGeom>
          <a:noFill/>
          <a:ln/>
        </p:spPr>
        <p:txBody>
          <a:bodyPr wrap="square" lIns="0" tIns="0" rIns="0" bIns="0" rtlCol="0" anchor="t"/>
          <a:lstStyle/>
          <a:p>
            <a:pPr indent="0" marL="0">
              <a:buNone/>
            </a:pPr>
            <a:r>
              <a:rPr lang="en-US" sz="1300" dirty="0">
                <a:solidFill>
                  <a:srgbClr val="71717A"/>
                </a:solidFill>
              </a:rPr>
              <a:t>Every message, agent proposal, rule, human decision and action is a node you can inspect, with the reason it happened.</a:t>
            </a:r>
            <a:endParaRPr lang="en-US" sz="13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WHY JAC AND JASECI</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household is a graph, so we built on one</a:t>
            </a:r>
            <a:endParaRPr lang="en-US" sz="3400" dirty="0"/>
          </a:p>
        </p:txBody>
      </p:sp>
      <p:sp>
        <p:nvSpPr>
          <p:cNvPr id="4" name="Shape 2"/>
          <p:cNvSpPr/>
          <p:nvPr/>
        </p:nvSpPr>
        <p:spPr>
          <a:xfrm>
            <a:off x="548640" y="1783080"/>
            <a:ext cx="5669280" cy="4297680"/>
          </a:xfrm>
          <a:prstGeom prst="roundRect">
            <a:avLst>
              <a:gd name="adj" fmla="val 2553"/>
            </a:avLst>
          </a:prstGeom>
          <a:solidFill>
            <a:schemeClr val="bg2"/>
          </a:solidFill>
          <a:ln/>
        </p:spPr>
      </p:sp>
      <p:sp>
        <p:nvSpPr>
          <p:cNvPr id="5" name="Shape 3"/>
          <p:cNvSpPr/>
          <p:nvPr/>
        </p:nvSpPr>
        <p:spPr>
          <a:xfrm>
            <a:off x="1234440" y="2377440"/>
            <a:ext cx="1508760" cy="502920"/>
          </a:xfrm>
          <a:prstGeom prst="line">
            <a:avLst/>
          </a:prstGeom>
          <a:noFill/>
          <a:ln w="15875">
            <a:solidFill>
              <a:srgbClr val="A1A1AA"/>
            </a:solidFill>
            <a:prstDash val="solid"/>
          </a:ln>
        </p:spPr>
      </p:sp>
      <p:sp>
        <p:nvSpPr>
          <p:cNvPr id="6" name="Shape 4"/>
          <p:cNvSpPr/>
          <p:nvPr/>
        </p:nvSpPr>
        <p:spPr>
          <a:xfrm flipH="1">
            <a:off x="1234440" y="2880360"/>
            <a:ext cx="1508760" cy="548640"/>
          </a:xfrm>
          <a:prstGeom prst="line">
            <a:avLst/>
          </a:prstGeom>
          <a:noFill/>
          <a:ln w="15875">
            <a:solidFill>
              <a:srgbClr val="A1A1AA"/>
            </a:solidFill>
            <a:prstDash val="solid"/>
          </a:ln>
        </p:spPr>
      </p:sp>
      <p:sp>
        <p:nvSpPr>
          <p:cNvPr id="7" name="Shape 5"/>
          <p:cNvSpPr/>
          <p:nvPr/>
        </p:nvSpPr>
        <p:spPr>
          <a:xfrm>
            <a:off x="1234440" y="3429000"/>
            <a:ext cx="1508760" cy="548640"/>
          </a:xfrm>
          <a:prstGeom prst="line">
            <a:avLst/>
          </a:prstGeom>
          <a:noFill/>
          <a:ln w="15875">
            <a:solidFill>
              <a:srgbClr val="A1A1AA"/>
            </a:solidFill>
            <a:prstDash val="solid"/>
          </a:ln>
        </p:spPr>
      </p:sp>
      <p:sp>
        <p:nvSpPr>
          <p:cNvPr id="8" name="Shape 6"/>
          <p:cNvSpPr/>
          <p:nvPr/>
        </p:nvSpPr>
        <p:spPr>
          <a:xfrm flipH="1">
            <a:off x="1234440" y="3977640"/>
            <a:ext cx="1508760" cy="502920"/>
          </a:xfrm>
          <a:prstGeom prst="line">
            <a:avLst/>
          </a:prstGeom>
          <a:noFill/>
          <a:ln w="15875">
            <a:solidFill>
              <a:srgbClr val="A1A1AA"/>
            </a:solidFill>
            <a:prstDash val="solid"/>
          </a:ln>
        </p:spPr>
      </p:sp>
      <p:sp>
        <p:nvSpPr>
          <p:cNvPr id="9" name="Shape 7"/>
          <p:cNvSpPr/>
          <p:nvPr/>
        </p:nvSpPr>
        <p:spPr>
          <a:xfrm>
            <a:off x="2743200" y="2880360"/>
            <a:ext cx="1600200" cy="548640"/>
          </a:xfrm>
          <a:prstGeom prst="line">
            <a:avLst/>
          </a:prstGeom>
          <a:noFill/>
          <a:ln w="15875">
            <a:solidFill>
              <a:srgbClr val="A1A1AA"/>
            </a:solidFill>
            <a:prstDash val="solid"/>
          </a:ln>
        </p:spPr>
      </p:sp>
      <p:sp>
        <p:nvSpPr>
          <p:cNvPr id="10" name="Shape 8"/>
          <p:cNvSpPr/>
          <p:nvPr/>
        </p:nvSpPr>
        <p:spPr>
          <a:xfrm flipH="1">
            <a:off x="2743200" y="3429000"/>
            <a:ext cx="1600200" cy="548640"/>
          </a:xfrm>
          <a:prstGeom prst="line">
            <a:avLst/>
          </a:prstGeom>
          <a:noFill/>
          <a:ln w="15875">
            <a:solidFill>
              <a:srgbClr val="A1A1AA"/>
            </a:solidFill>
            <a:prstDash val="solid"/>
          </a:ln>
        </p:spPr>
      </p:sp>
      <p:sp>
        <p:nvSpPr>
          <p:cNvPr id="11" name="Shape 9"/>
          <p:cNvSpPr/>
          <p:nvPr/>
        </p:nvSpPr>
        <p:spPr>
          <a:xfrm flipH="1">
            <a:off x="4343400" y="2331720"/>
            <a:ext cx="1005840" cy="1097280"/>
          </a:xfrm>
          <a:prstGeom prst="line">
            <a:avLst/>
          </a:prstGeom>
          <a:noFill/>
          <a:ln w="15875">
            <a:solidFill>
              <a:srgbClr val="A1A1AA"/>
            </a:solidFill>
            <a:prstDash val="solid"/>
          </a:ln>
        </p:spPr>
      </p:sp>
      <p:sp>
        <p:nvSpPr>
          <p:cNvPr id="12" name="Shape 10"/>
          <p:cNvSpPr/>
          <p:nvPr/>
        </p:nvSpPr>
        <p:spPr>
          <a:xfrm>
            <a:off x="4343400" y="3429000"/>
            <a:ext cx="1005840" cy="1097280"/>
          </a:xfrm>
          <a:prstGeom prst="line">
            <a:avLst/>
          </a:prstGeom>
          <a:noFill/>
          <a:ln w="15875">
            <a:solidFill>
              <a:srgbClr val="A1A1AA"/>
            </a:solidFill>
            <a:prstDash val="solid"/>
          </a:ln>
        </p:spPr>
      </p:sp>
      <p:sp>
        <p:nvSpPr>
          <p:cNvPr id="13" name="Shape 11"/>
          <p:cNvSpPr/>
          <p:nvPr/>
        </p:nvSpPr>
        <p:spPr>
          <a:xfrm flipH="1">
            <a:off x="4023360" y="3429000"/>
            <a:ext cx="320040" cy="2011680"/>
          </a:xfrm>
          <a:prstGeom prst="line">
            <a:avLst/>
          </a:prstGeom>
          <a:noFill/>
          <a:ln w="15875">
            <a:solidFill>
              <a:srgbClr val="A1A1AA"/>
            </a:solidFill>
            <a:prstDash val="solid"/>
          </a:ln>
        </p:spPr>
      </p:sp>
      <p:sp>
        <p:nvSpPr>
          <p:cNvPr id="14" name="Shape 12"/>
          <p:cNvSpPr/>
          <p:nvPr/>
        </p:nvSpPr>
        <p:spPr>
          <a:xfrm flipH="1">
            <a:off x="2194560" y="3429000"/>
            <a:ext cx="2148840" cy="2011680"/>
          </a:xfrm>
          <a:prstGeom prst="line">
            <a:avLst/>
          </a:prstGeom>
          <a:noFill/>
          <a:ln w="15875">
            <a:solidFill>
              <a:srgbClr val="A1A1AA"/>
            </a:solidFill>
            <a:prstDash val="solid"/>
          </a:ln>
        </p:spPr>
      </p:sp>
      <p:sp>
        <p:nvSpPr>
          <p:cNvPr id="15" name="Shape 13"/>
          <p:cNvSpPr/>
          <p:nvPr/>
        </p:nvSpPr>
        <p:spPr>
          <a:xfrm>
            <a:off x="640080" y="2157984"/>
            <a:ext cx="1188720" cy="438912"/>
          </a:xfrm>
          <a:prstGeom prst="roundRect">
            <a:avLst>
              <a:gd name="adj" fmla="val 50000"/>
            </a:avLst>
          </a:prstGeom>
          <a:solidFill>
            <a:schemeClr val="bg1"/>
          </a:solidFill>
          <a:ln w="19050">
            <a:solidFill>
              <a:srgbClr val="1447E6"/>
            </a:solidFill>
            <a:prstDash val="solid"/>
          </a:ln>
        </p:spPr>
      </p:sp>
      <p:sp>
        <p:nvSpPr>
          <p:cNvPr id="16" name="Text 14"/>
          <p:cNvSpPr txBox="1"/>
          <p:nvPr/>
        </p:nvSpPr>
        <p:spPr>
          <a:xfrm>
            <a:off x="640080" y="2157984"/>
            <a:ext cx="1188720" cy="438912"/>
          </a:xfrm>
          <a:prstGeom prst="rect">
            <a:avLst/>
          </a:prstGeom>
          <a:noFill/>
          <a:ln/>
        </p:spPr>
        <p:txBody>
          <a:bodyPr wrap="square" lIns="0" tIns="0" rIns="0" bIns="0" rtlCol="0" anchor="ctr"/>
          <a:lstStyle/>
          <a:p>
            <a:pPr algn="ctr" indent="0" marL="0">
              <a:buNone/>
            </a:pPr>
            <a:r>
              <a:rPr lang="en-US" sz="1200" b="1" dirty="0">
                <a:solidFill>
                  <a:schemeClr val="accent1"/>
                </a:solidFill>
              </a:rPr>
              <a:t>SMS</a:t>
            </a:r>
            <a:endParaRPr lang="en-US" sz="1200" dirty="0"/>
          </a:p>
        </p:txBody>
      </p:sp>
      <p:sp>
        <p:nvSpPr>
          <p:cNvPr id="17" name="Shape 15"/>
          <p:cNvSpPr/>
          <p:nvPr/>
        </p:nvSpPr>
        <p:spPr>
          <a:xfrm>
            <a:off x="640080" y="3209544"/>
            <a:ext cx="1188720" cy="438912"/>
          </a:xfrm>
          <a:prstGeom prst="roundRect">
            <a:avLst>
              <a:gd name="adj" fmla="val 50000"/>
            </a:avLst>
          </a:prstGeom>
          <a:solidFill>
            <a:schemeClr val="bg1"/>
          </a:solidFill>
          <a:ln w="19050">
            <a:solidFill>
              <a:srgbClr val="1447E6"/>
            </a:solidFill>
            <a:prstDash val="solid"/>
          </a:ln>
        </p:spPr>
      </p:sp>
      <p:sp>
        <p:nvSpPr>
          <p:cNvPr id="18" name="Text 16"/>
          <p:cNvSpPr txBox="1"/>
          <p:nvPr/>
        </p:nvSpPr>
        <p:spPr>
          <a:xfrm>
            <a:off x="640080" y="3209544"/>
            <a:ext cx="1188720" cy="438912"/>
          </a:xfrm>
          <a:prstGeom prst="rect">
            <a:avLst/>
          </a:prstGeom>
          <a:noFill/>
          <a:ln/>
        </p:spPr>
        <p:txBody>
          <a:bodyPr wrap="square" lIns="0" tIns="0" rIns="0" bIns="0" rtlCol="0" anchor="ctr"/>
          <a:lstStyle/>
          <a:p>
            <a:pPr algn="ctr" indent="0" marL="0">
              <a:buNone/>
            </a:pPr>
            <a:r>
              <a:rPr lang="en-US" sz="1200" b="1" dirty="0">
                <a:solidFill>
                  <a:schemeClr val="accent1"/>
                </a:solidFill>
              </a:rPr>
              <a:t>WhatsApp</a:t>
            </a:r>
            <a:endParaRPr lang="en-US" sz="1200" dirty="0"/>
          </a:p>
        </p:txBody>
      </p:sp>
      <p:sp>
        <p:nvSpPr>
          <p:cNvPr id="19" name="Shape 17"/>
          <p:cNvSpPr/>
          <p:nvPr/>
        </p:nvSpPr>
        <p:spPr>
          <a:xfrm>
            <a:off x="640080" y="4261104"/>
            <a:ext cx="1188720" cy="438912"/>
          </a:xfrm>
          <a:prstGeom prst="roundRect">
            <a:avLst>
              <a:gd name="adj" fmla="val 50000"/>
            </a:avLst>
          </a:prstGeom>
          <a:solidFill>
            <a:schemeClr val="bg1"/>
          </a:solidFill>
          <a:ln w="19050">
            <a:solidFill>
              <a:srgbClr val="1447E6"/>
            </a:solidFill>
            <a:prstDash val="solid"/>
          </a:ln>
        </p:spPr>
      </p:sp>
      <p:sp>
        <p:nvSpPr>
          <p:cNvPr id="20" name="Text 18"/>
          <p:cNvSpPr txBox="1"/>
          <p:nvPr/>
        </p:nvSpPr>
        <p:spPr>
          <a:xfrm>
            <a:off x="640080" y="4261104"/>
            <a:ext cx="1188720" cy="438912"/>
          </a:xfrm>
          <a:prstGeom prst="rect">
            <a:avLst/>
          </a:prstGeom>
          <a:noFill/>
          <a:ln/>
        </p:spPr>
        <p:txBody>
          <a:bodyPr wrap="square" lIns="0" tIns="0" rIns="0" bIns="0" rtlCol="0" anchor="ctr"/>
          <a:lstStyle/>
          <a:p>
            <a:pPr algn="ctr" indent="0" marL="0">
              <a:buNone/>
            </a:pPr>
            <a:r>
              <a:rPr lang="en-US" sz="1200" b="1" dirty="0">
                <a:solidFill>
                  <a:schemeClr val="accent1"/>
                </a:solidFill>
              </a:rPr>
              <a:t>Forward</a:t>
            </a:r>
            <a:endParaRPr lang="en-US" sz="1200" dirty="0"/>
          </a:p>
        </p:txBody>
      </p:sp>
      <p:sp>
        <p:nvSpPr>
          <p:cNvPr id="21" name="Shape 19"/>
          <p:cNvSpPr/>
          <p:nvPr/>
        </p:nvSpPr>
        <p:spPr>
          <a:xfrm>
            <a:off x="2148840" y="2660904"/>
            <a:ext cx="1188720" cy="438912"/>
          </a:xfrm>
          <a:prstGeom prst="roundRect">
            <a:avLst>
              <a:gd name="adj" fmla="val 50000"/>
            </a:avLst>
          </a:prstGeom>
          <a:solidFill>
            <a:schemeClr val="bg1"/>
          </a:solidFill>
          <a:ln w="19050">
            <a:solidFill>
              <a:srgbClr val="0284C7"/>
            </a:solidFill>
            <a:prstDash val="solid"/>
          </a:ln>
        </p:spPr>
      </p:sp>
      <p:sp>
        <p:nvSpPr>
          <p:cNvPr id="22" name="Text 20"/>
          <p:cNvSpPr txBox="1"/>
          <p:nvPr/>
        </p:nvSpPr>
        <p:spPr>
          <a:xfrm>
            <a:off x="2148840" y="2660904"/>
            <a:ext cx="1188720" cy="438912"/>
          </a:xfrm>
          <a:prstGeom prst="rect">
            <a:avLst/>
          </a:prstGeom>
          <a:noFill/>
          <a:ln/>
        </p:spPr>
        <p:txBody>
          <a:bodyPr wrap="square" lIns="0" tIns="0" rIns="0" bIns="0" rtlCol="0" anchor="ctr"/>
          <a:lstStyle/>
          <a:p>
            <a:pPr algn="ctr" indent="0" marL="0">
              <a:buNone/>
            </a:pPr>
            <a:r>
              <a:rPr lang="en-US" sz="1200" b="1" dirty="0">
                <a:solidFill>
                  <a:schemeClr val="accent6"/>
                </a:solidFill>
              </a:rPr>
              <a:t>Phone</a:t>
            </a:r>
            <a:endParaRPr lang="en-US" sz="1200" dirty="0"/>
          </a:p>
        </p:txBody>
      </p:sp>
      <p:sp>
        <p:nvSpPr>
          <p:cNvPr id="23" name="Shape 21"/>
          <p:cNvSpPr/>
          <p:nvPr/>
        </p:nvSpPr>
        <p:spPr>
          <a:xfrm>
            <a:off x="2148840" y="3758184"/>
            <a:ext cx="1188720" cy="438912"/>
          </a:xfrm>
          <a:prstGeom prst="roundRect">
            <a:avLst>
              <a:gd name="adj" fmla="val 50000"/>
            </a:avLst>
          </a:prstGeom>
          <a:solidFill>
            <a:schemeClr val="bg1"/>
          </a:solidFill>
          <a:ln w="19050">
            <a:solidFill>
              <a:srgbClr val="0284C7"/>
            </a:solidFill>
            <a:prstDash val="solid"/>
          </a:ln>
        </p:spPr>
      </p:sp>
      <p:sp>
        <p:nvSpPr>
          <p:cNvPr id="24" name="Text 22"/>
          <p:cNvSpPr txBox="1"/>
          <p:nvPr/>
        </p:nvSpPr>
        <p:spPr>
          <a:xfrm>
            <a:off x="2148840" y="3758184"/>
            <a:ext cx="1188720" cy="438912"/>
          </a:xfrm>
          <a:prstGeom prst="rect">
            <a:avLst/>
          </a:prstGeom>
          <a:noFill/>
          <a:ln/>
        </p:spPr>
        <p:txBody>
          <a:bodyPr wrap="square" lIns="0" tIns="0" rIns="0" bIns="0" rtlCol="0" anchor="ctr"/>
          <a:lstStyle/>
          <a:p>
            <a:pPr algn="ctr" indent="0" marL="0">
              <a:buNone/>
            </a:pPr>
            <a:r>
              <a:rPr lang="en-US" sz="1200" b="1" dirty="0">
                <a:solidFill>
                  <a:schemeClr val="accent6"/>
                </a:solidFill>
              </a:rPr>
              <a:t>Full name</a:t>
            </a:r>
            <a:endParaRPr lang="en-US" sz="1200" dirty="0"/>
          </a:p>
        </p:txBody>
      </p:sp>
      <p:sp>
        <p:nvSpPr>
          <p:cNvPr id="25" name="Shape 23"/>
          <p:cNvSpPr/>
          <p:nvPr/>
        </p:nvSpPr>
        <p:spPr>
          <a:xfrm>
            <a:off x="3749040" y="3209544"/>
            <a:ext cx="1188720" cy="438912"/>
          </a:xfrm>
          <a:prstGeom prst="roundRect">
            <a:avLst>
              <a:gd name="adj" fmla="val 50000"/>
            </a:avLst>
          </a:prstGeom>
          <a:solidFill>
            <a:schemeClr val="bg1"/>
          </a:solidFill>
          <a:ln w="19050">
            <a:solidFill>
              <a:srgbClr val="7C3AED"/>
            </a:solidFill>
            <a:prstDash val="solid"/>
          </a:ln>
        </p:spPr>
      </p:sp>
      <p:sp>
        <p:nvSpPr>
          <p:cNvPr id="26" name="Text 24"/>
          <p:cNvSpPr txBox="1"/>
          <p:nvPr/>
        </p:nvSpPr>
        <p:spPr>
          <a:xfrm>
            <a:off x="3749040" y="3209544"/>
            <a:ext cx="1188720" cy="438912"/>
          </a:xfrm>
          <a:prstGeom prst="rect">
            <a:avLst/>
          </a:prstGeom>
          <a:noFill/>
          <a:ln/>
        </p:spPr>
        <p:txBody>
          <a:bodyPr wrap="square" lIns="0" tIns="0" rIns="0" bIns="0" rtlCol="0" anchor="ctr"/>
          <a:lstStyle/>
          <a:p>
            <a:pPr algn="ctr" indent="0" marL="0">
              <a:buNone/>
            </a:pPr>
            <a:r>
              <a:rPr lang="en-US" sz="1200" b="1" dirty="0">
                <a:solidFill>
                  <a:schemeClr val="accent2"/>
                </a:solidFill>
              </a:rPr>
              <a:t>Household</a:t>
            </a:r>
            <a:endParaRPr lang="en-US" sz="1200" dirty="0"/>
          </a:p>
        </p:txBody>
      </p:sp>
      <p:sp>
        <p:nvSpPr>
          <p:cNvPr id="27" name="Shape 25"/>
          <p:cNvSpPr/>
          <p:nvPr/>
        </p:nvSpPr>
        <p:spPr>
          <a:xfrm>
            <a:off x="4754880" y="2112264"/>
            <a:ext cx="1188720" cy="438912"/>
          </a:xfrm>
          <a:prstGeom prst="roundRect">
            <a:avLst>
              <a:gd name="adj" fmla="val 50000"/>
            </a:avLst>
          </a:prstGeom>
          <a:solidFill>
            <a:schemeClr val="bg1"/>
          </a:solidFill>
          <a:ln w="19050">
            <a:solidFill>
              <a:srgbClr val="059669"/>
            </a:solidFill>
            <a:prstDash val="solid"/>
          </a:ln>
        </p:spPr>
      </p:sp>
      <p:sp>
        <p:nvSpPr>
          <p:cNvPr id="28" name="Text 26"/>
          <p:cNvSpPr txBox="1"/>
          <p:nvPr/>
        </p:nvSpPr>
        <p:spPr>
          <a:xfrm>
            <a:off x="4754880" y="2112264"/>
            <a:ext cx="1188720" cy="438912"/>
          </a:xfrm>
          <a:prstGeom prst="rect">
            <a:avLst/>
          </a:prstGeom>
          <a:noFill/>
          <a:ln/>
        </p:spPr>
        <p:txBody>
          <a:bodyPr wrap="square" lIns="0" tIns="0" rIns="0" bIns="0" rtlCol="0" anchor="ctr"/>
          <a:lstStyle/>
          <a:p>
            <a:pPr algn="ctr" indent="0" marL="0">
              <a:buNone/>
            </a:pPr>
            <a:r>
              <a:rPr lang="en-US" sz="1200" b="1" dirty="0">
                <a:solidFill>
                  <a:schemeClr val="accent3"/>
                </a:solidFill>
              </a:rPr>
              <a:t>Call log</a:t>
            </a:r>
            <a:endParaRPr lang="en-US" sz="1200" dirty="0"/>
          </a:p>
        </p:txBody>
      </p:sp>
      <p:sp>
        <p:nvSpPr>
          <p:cNvPr id="29" name="Shape 27"/>
          <p:cNvSpPr/>
          <p:nvPr/>
        </p:nvSpPr>
        <p:spPr>
          <a:xfrm>
            <a:off x="4640580" y="4306824"/>
            <a:ext cx="1417320" cy="438912"/>
          </a:xfrm>
          <a:prstGeom prst="roundRect">
            <a:avLst>
              <a:gd name="adj" fmla="val 50000"/>
            </a:avLst>
          </a:prstGeom>
          <a:solidFill>
            <a:schemeClr val="bg1"/>
          </a:solidFill>
          <a:ln w="19050">
            <a:solidFill>
              <a:srgbClr val="D97706"/>
            </a:solidFill>
            <a:prstDash val="solid"/>
          </a:ln>
        </p:spPr>
      </p:sp>
      <p:sp>
        <p:nvSpPr>
          <p:cNvPr id="30" name="Text 28"/>
          <p:cNvSpPr txBox="1"/>
          <p:nvPr/>
        </p:nvSpPr>
        <p:spPr>
          <a:xfrm>
            <a:off x="4640580" y="4306824"/>
            <a:ext cx="1417320" cy="438912"/>
          </a:xfrm>
          <a:prstGeom prst="rect">
            <a:avLst/>
          </a:prstGeom>
          <a:noFill/>
          <a:ln/>
        </p:spPr>
        <p:txBody>
          <a:bodyPr wrap="square" lIns="0" tIns="0" rIns="0" bIns="0" rtlCol="0" anchor="ctr"/>
          <a:lstStyle/>
          <a:p>
            <a:pPr algn="ctr" indent="0" marL="0">
              <a:buNone/>
            </a:pPr>
            <a:r>
              <a:rPr lang="en-US" sz="1200" b="1" dirty="0">
                <a:solidFill>
                  <a:schemeClr val="accent4"/>
                </a:solidFill>
              </a:rPr>
              <a:t>Relief request</a:t>
            </a:r>
            <a:endParaRPr lang="en-US" sz="1200" dirty="0"/>
          </a:p>
        </p:txBody>
      </p:sp>
      <p:sp>
        <p:nvSpPr>
          <p:cNvPr id="31" name="Shape 29"/>
          <p:cNvSpPr/>
          <p:nvPr/>
        </p:nvSpPr>
        <p:spPr>
          <a:xfrm>
            <a:off x="3429000" y="5221224"/>
            <a:ext cx="1188720" cy="438912"/>
          </a:xfrm>
          <a:prstGeom prst="roundRect">
            <a:avLst>
              <a:gd name="adj" fmla="val 50000"/>
            </a:avLst>
          </a:prstGeom>
          <a:solidFill>
            <a:schemeClr val="bg1"/>
          </a:solidFill>
          <a:ln w="19050">
            <a:solidFill>
              <a:srgbClr val="DC2626"/>
            </a:solidFill>
            <a:prstDash val="solid"/>
          </a:ln>
        </p:spPr>
      </p:sp>
      <p:sp>
        <p:nvSpPr>
          <p:cNvPr id="32" name="Text 30"/>
          <p:cNvSpPr txBox="1"/>
          <p:nvPr/>
        </p:nvSpPr>
        <p:spPr>
          <a:xfrm>
            <a:off x="3429000" y="5221224"/>
            <a:ext cx="1188720" cy="438912"/>
          </a:xfrm>
          <a:prstGeom prst="rect">
            <a:avLst/>
          </a:prstGeom>
          <a:noFill/>
          <a:ln/>
        </p:spPr>
        <p:txBody>
          <a:bodyPr wrap="square" lIns="0" tIns="0" rIns="0" bIns="0" rtlCol="0" anchor="ctr"/>
          <a:lstStyle/>
          <a:p>
            <a:pPr algn="ctr" indent="0" marL="0">
              <a:buNone/>
            </a:pPr>
            <a:r>
              <a:rPr lang="en-US" sz="1200" b="1" dirty="0">
                <a:solidFill>
                  <a:schemeClr val="accent5"/>
                </a:solidFill>
              </a:rPr>
              <a:t>Appeal</a:t>
            </a:r>
            <a:endParaRPr lang="en-US" sz="1200" dirty="0"/>
          </a:p>
        </p:txBody>
      </p:sp>
      <p:sp>
        <p:nvSpPr>
          <p:cNvPr id="33" name="Shape 31"/>
          <p:cNvSpPr/>
          <p:nvPr/>
        </p:nvSpPr>
        <p:spPr>
          <a:xfrm>
            <a:off x="1600200" y="5221224"/>
            <a:ext cx="1188720" cy="438912"/>
          </a:xfrm>
          <a:prstGeom prst="roundRect">
            <a:avLst>
              <a:gd name="adj" fmla="val 50000"/>
            </a:avLst>
          </a:prstGeom>
          <a:solidFill>
            <a:schemeClr val="bg1"/>
          </a:solidFill>
          <a:ln w="19050">
            <a:solidFill>
              <a:srgbClr val="7C3AED"/>
            </a:solidFill>
            <a:prstDash val="solid"/>
          </a:ln>
        </p:spPr>
      </p:sp>
      <p:sp>
        <p:nvSpPr>
          <p:cNvPr id="34" name="Text 32"/>
          <p:cNvSpPr txBox="1"/>
          <p:nvPr/>
        </p:nvSpPr>
        <p:spPr>
          <a:xfrm>
            <a:off x="1600200" y="5221224"/>
            <a:ext cx="1188720" cy="438912"/>
          </a:xfrm>
          <a:prstGeom prst="rect">
            <a:avLst/>
          </a:prstGeom>
          <a:noFill/>
          <a:ln/>
        </p:spPr>
        <p:txBody>
          <a:bodyPr wrap="square" lIns="0" tIns="0" rIns="0" bIns="0" rtlCol="0" anchor="ctr"/>
          <a:lstStyle/>
          <a:p>
            <a:pPr algn="ctr" indent="0" marL="0">
              <a:buNone/>
            </a:pPr>
            <a:r>
              <a:rPr lang="en-US" sz="1200" b="1" dirty="0">
                <a:solidFill>
                  <a:schemeClr val="accent2"/>
                </a:solidFill>
              </a:rPr>
              <a:t>Decision</a:t>
            </a:r>
            <a:endParaRPr lang="en-US" sz="1200" dirty="0"/>
          </a:p>
        </p:txBody>
      </p:sp>
      <p:sp>
        <p:nvSpPr>
          <p:cNvPr id="35" name="Text 33"/>
          <p:cNvSpPr txBox="1"/>
          <p:nvPr/>
        </p:nvSpPr>
        <p:spPr>
          <a:xfrm>
            <a:off x="777240" y="5742432"/>
            <a:ext cx="1828800" cy="274320"/>
          </a:xfrm>
          <a:prstGeom prst="rect">
            <a:avLst/>
          </a:prstGeom>
          <a:noFill/>
          <a:ln/>
        </p:spPr>
        <p:txBody>
          <a:bodyPr wrap="square" lIns="0" tIns="0" rIns="0" bIns="0" rtlCol="0" anchor="ctr"/>
          <a:lstStyle/>
          <a:p>
            <a:pPr indent="0" marL="0">
              <a:buNone/>
            </a:pPr>
            <a:r>
              <a:rPr lang="en-US" sz="1100" dirty="0">
                <a:solidFill>
                  <a:srgbClr val="71717A"/>
                </a:solidFill>
                <a:latin typeface="Consolas" pitchFamily="34" charset="0"/>
                <a:ea typeface="Consolas" pitchFamily="34" charset="-122"/>
                <a:cs typeface="Consolas" pitchFamily="34" charset="-120"/>
              </a:rPr>
              <a:t>root.shared</a:t>
            </a:r>
            <a:endParaRPr lang="en-US" sz="1100" dirty="0"/>
          </a:p>
        </p:txBody>
      </p:sp>
      <p:sp>
        <p:nvSpPr>
          <p:cNvPr id="36" name="Text 34"/>
          <p:cNvSpPr txBox="1"/>
          <p:nvPr/>
        </p:nvSpPr>
        <p:spPr>
          <a:xfrm>
            <a:off x="6537960" y="1783080"/>
            <a:ext cx="5120640" cy="365760"/>
          </a:xfrm>
          <a:prstGeom prst="rect">
            <a:avLst/>
          </a:prstGeom>
          <a:noFill/>
          <a:ln/>
        </p:spPr>
        <p:txBody>
          <a:bodyPr wrap="square" lIns="0" tIns="0" rIns="0" bIns="0" rtlCol="0" anchor="ctr"/>
          <a:lstStyle/>
          <a:p>
            <a:pPr indent="0" marL="0">
              <a:buNone/>
            </a:pPr>
            <a:r>
              <a:rPr lang="en-US" sz="1600" b="1" dirty="0">
                <a:solidFill>
                  <a:schemeClr val="tx1"/>
                </a:solidFill>
              </a:rPr>
              <a:t>Walkers on a shared graph</a:t>
            </a:r>
            <a:endParaRPr lang="en-US" sz="1600" dirty="0"/>
          </a:p>
        </p:txBody>
      </p:sp>
      <p:sp>
        <p:nvSpPr>
          <p:cNvPr id="37" name="Text 35"/>
          <p:cNvSpPr txBox="1"/>
          <p:nvPr/>
        </p:nvSpPr>
        <p:spPr>
          <a:xfrm>
            <a:off x="6537960" y="2148840"/>
            <a:ext cx="5120640" cy="658368"/>
          </a:xfrm>
          <a:prstGeom prst="rect">
            <a:avLst/>
          </a:prstGeom>
          <a:noFill/>
          <a:ln/>
        </p:spPr>
        <p:txBody>
          <a:bodyPr wrap="square" lIns="0" tIns="0" rIns="0" bIns="0" rtlCol="0" anchor="t"/>
          <a:lstStyle/>
          <a:p>
            <a:pPr indent="0" marL="0">
              <a:buNone/>
            </a:pPr>
            <a:r>
              <a:rPr lang="en-US" sz="1300" dirty="0">
                <a:solidFill>
                  <a:srgbClr val="71717A"/>
                </a:solidFill>
              </a:rPr>
              <a:t>A Blocker walker hops from a new message to its phone and name nodes to find candidate households.</a:t>
            </a:r>
            <a:endParaRPr lang="en-US" sz="1300" dirty="0"/>
          </a:p>
        </p:txBody>
      </p:sp>
      <p:sp>
        <p:nvSpPr>
          <p:cNvPr id="38" name="Text 36"/>
          <p:cNvSpPr txBox="1"/>
          <p:nvPr/>
        </p:nvSpPr>
        <p:spPr>
          <a:xfrm>
            <a:off x="6537960" y="2880360"/>
            <a:ext cx="5120640" cy="365760"/>
          </a:xfrm>
          <a:prstGeom prst="rect">
            <a:avLst/>
          </a:prstGeom>
          <a:noFill/>
          <a:ln/>
        </p:spPr>
        <p:txBody>
          <a:bodyPr wrap="square" lIns="0" tIns="0" rIns="0" bIns="0" rtlCol="0" anchor="ctr"/>
          <a:lstStyle/>
          <a:p>
            <a:pPr indent="0" marL="0">
              <a:buNone/>
            </a:pPr>
            <a:r>
              <a:rPr lang="en-US" sz="1600" b="1" dirty="0">
                <a:solidFill>
                  <a:schemeClr val="accent2"/>
                </a:solidFill>
                <a:latin typeface="Consolas" pitchFamily="34" charset="0"/>
                <a:ea typeface="Consolas" pitchFamily="34" charset="-122"/>
                <a:cs typeface="Consolas" pitchFamily="34" charset="-120"/>
              </a:rPr>
              <a:t>visit … by llm</a:t>
            </a:r>
            <a:endParaRPr lang="en-US" sz="1600" dirty="0"/>
          </a:p>
        </p:txBody>
      </p:sp>
      <p:sp>
        <p:nvSpPr>
          <p:cNvPr id="39" name="Text 37"/>
          <p:cNvSpPr txBox="1"/>
          <p:nvPr/>
        </p:nvSpPr>
        <p:spPr>
          <a:xfrm>
            <a:off x="6537960" y="3246120"/>
            <a:ext cx="5120640" cy="658368"/>
          </a:xfrm>
          <a:prstGeom prst="rect">
            <a:avLst/>
          </a:prstGeom>
          <a:noFill/>
          <a:ln/>
        </p:spPr>
        <p:txBody>
          <a:bodyPr wrap="square" lIns="0" tIns="0" rIns="0" bIns="0" rtlCol="0" anchor="t"/>
          <a:lstStyle/>
          <a:p>
            <a:pPr indent="0" marL="0">
              <a:buNone/>
            </a:pPr>
            <a:r>
              <a:rPr lang="en-US" sz="1300" dirty="0">
                <a:solidFill>
                  <a:srgbClr val="71717A"/>
                </a:solidFill>
              </a:rPr>
              <a:t>The Resolver walker lets the model choose which neighbouring household to visit.</a:t>
            </a:r>
            <a:endParaRPr lang="en-US" sz="1300" dirty="0"/>
          </a:p>
        </p:txBody>
      </p:sp>
      <p:sp>
        <p:nvSpPr>
          <p:cNvPr id="40" name="Text 38"/>
          <p:cNvSpPr txBox="1"/>
          <p:nvPr/>
        </p:nvSpPr>
        <p:spPr>
          <a:xfrm>
            <a:off x="6537960" y="3977640"/>
            <a:ext cx="5120640" cy="365760"/>
          </a:xfrm>
          <a:prstGeom prst="rect">
            <a:avLst/>
          </a:prstGeom>
          <a:noFill/>
          <a:ln/>
        </p:spPr>
        <p:txBody>
          <a:bodyPr wrap="square" lIns="0" tIns="0" rIns="0" bIns="0" rtlCol="0" anchor="ctr"/>
          <a:lstStyle/>
          <a:p>
            <a:pPr indent="0" marL="0">
              <a:buNone/>
            </a:pPr>
            <a:r>
              <a:rPr lang="en-US" sz="1600" b="1" dirty="0">
                <a:solidFill>
                  <a:schemeClr val="tx1"/>
                </a:solidFill>
              </a:rPr>
              <a:t>Typed </a:t>
            </a:r>
            <a:pPr indent="0" marL="0">
              <a:buNone/>
            </a:pPr>
            <a:r>
              <a:rPr lang="en-US" sz="1600" b="1" dirty="0">
                <a:solidFill>
                  <a:schemeClr val="accent2"/>
                </a:solidFill>
                <a:latin typeface="Consolas" pitchFamily="34" charset="0"/>
                <a:ea typeface="Consolas" pitchFamily="34" charset="-122"/>
                <a:cs typeface="Consolas" pitchFamily="34" charset="-120"/>
              </a:rPr>
              <a:t>by llm</a:t>
            </a:r>
            <a:pPr indent="0" marL="0">
              <a:buNone/>
            </a:pPr>
            <a:r>
              <a:rPr lang="en-US" sz="1600" b="1" dirty="0">
                <a:solidFill>
                  <a:schemeClr val="tx1"/>
                </a:solidFill>
              </a:rPr>
              <a:t> functions</a:t>
            </a:r>
            <a:endParaRPr lang="en-US" sz="1600" dirty="0"/>
          </a:p>
        </p:txBody>
      </p:sp>
      <p:sp>
        <p:nvSpPr>
          <p:cNvPr id="41" name="Text 39"/>
          <p:cNvSpPr txBox="1"/>
          <p:nvPr/>
        </p:nvSpPr>
        <p:spPr>
          <a:xfrm>
            <a:off x="6537960" y="4343400"/>
            <a:ext cx="5120640" cy="658368"/>
          </a:xfrm>
          <a:prstGeom prst="rect">
            <a:avLst/>
          </a:prstGeom>
          <a:noFill/>
          <a:ln/>
        </p:spPr>
        <p:txBody>
          <a:bodyPr wrap="square" lIns="0" tIns="0" rIns="0" bIns="0" rtlCol="0" anchor="t"/>
          <a:lstStyle/>
          <a:p>
            <a:pPr indent="0" marL="0">
              <a:buNone/>
            </a:pPr>
            <a:r>
              <a:rPr lang="en-US" sz="1300" dirty="0">
                <a:solidFill>
                  <a:srgbClr val="71717A"/>
                </a:solidFill>
              </a:rPr>
              <a:t>Intake, matching and relief choices return typed objects guided by sem notes, not free text.</a:t>
            </a:r>
            <a:endParaRPr lang="en-US" sz="1300" dirty="0"/>
          </a:p>
        </p:txBody>
      </p:sp>
      <p:sp>
        <p:nvSpPr>
          <p:cNvPr id="42" name="Text 40"/>
          <p:cNvSpPr txBox="1"/>
          <p:nvPr/>
        </p:nvSpPr>
        <p:spPr>
          <a:xfrm>
            <a:off x="6537960" y="5074920"/>
            <a:ext cx="5120640" cy="365760"/>
          </a:xfrm>
          <a:prstGeom prst="rect">
            <a:avLst/>
          </a:prstGeom>
          <a:noFill/>
          <a:ln/>
        </p:spPr>
        <p:txBody>
          <a:bodyPr wrap="square" lIns="0" tIns="0" rIns="0" bIns="0" rtlCol="0" anchor="ctr"/>
          <a:lstStyle/>
          <a:p>
            <a:pPr indent="0" marL="0">
              <a:buNone/>
            </a:pPr>
            <a:r>
              <a:rPr lang="en-US" sz="1600" b="1" dirty="0">
                <a:solidFill>
                  <a:schemeClr val="tx1"/>
                </a:solidFill>
              </a:rPr>
              <a:t>Rules and </a:t>
            </a:r>
            <a:pPr indent="0" marL="0">
              <a:buNone/>
            </a:pPr>
            <a:r>
              <a:rPr lang="en-US" sz="1600" b="1" dirty="0">
                <a:solidFill>
                  <a:schemeClr val="accent2"/>
                </a:solidFill>
                <a:latin typeface="Consolas" pitchFamily="34" charset="0"/>
                <a:ea typeface="Consolas" pitchFamily="34" charset="-122"/>
                <a:cs typeface="Consolas" pitchFamily="34" charset="-120"/>
              </a:rPr>
              <a:t>commit()</a:t>
            </a:r>
            <a:endParaRPr lang="en-US" sz="1600" dirty="0"/>
          </a:p>
        </p:txBody>
      </p:sp>
      <p:sp>
        <p:nvSpPr>
          <p:cNvPr id="43" name="Text 41"/>
          <p:cNvSpPr txBox="1"/>
          <p:nvPr/>
        </p:nvSpPr>
        <p:spPr>
          <a:xfrm>
            <a:off x="6537960" y="5440680"/>
            <a:ext cx="5120640" cy="658368"/>
          </a:xfrm>
          <a:prstGeom prst="rect">
            <a:avLst/>
          </a:prstGeom>
          <a:noFill/>
          <a:ln/>
        </p:spPr>
        <p:txBody>
          <a:bodyPr wrap="square" lIns="0" tIns="0" rIns="0" bIns="0" rtlCol="0" anchor="t"/>
          <a:lstStyle/>
          <a:p>
            <a:pPr indent="0" marL="0">
              <a:buNone/>
            </a:pPr>
            <a:r>
              <a:rPr lang="en-US" sz="1300" dirty="0">
                <a:solidFill>
                  <a:srgbClr val="71717A"/>
                </a:solidFill>
              </a:rPr>
              <a:t>Plain Jac referee rules gate every write. commit() makes each finished unit visible to all portals.</a:t>
            </a:r>
            <a:endParaRPr lang="en-US" sz="13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REAL CODE FROM THE ENGINE</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The model chooses. The referee decides.</a:t>
            </a:r>
            <a:endParaRPr lang="en-US" sz="3400" dirty="0"/>
          </a:p>
        </p:txBody>
      </p:sp>
      <p:sp>
        <p:nvSpPr>
          <p:cNvPr id="4" name="Shape 2"/>
          <p:cNvSpPr/>
          <p:nvPr/>
        </p:nvSpPr>
        <p:spPr>
          <a:xfrm>
            <a:off x="548640" y="1783080"/>
            <a:ext cx="6949440" cy="4297680"/>
          </a:xfrm>
          <a:prstGeom prst="roundRect">
            <a:avLst>
              <a:gd name="adj" fmla="val 2553"/>
            </a:avLst>
          </a:prstGeom>
          <a:solidFill>
            <a:srgbClr val="0B1020"/>
          </a:solidFill>
          <a:ln/>
          <a:effectLst>
            <a:outerShdw sx="100000" sy="100000" kx="0" ky="0" algn="bl" rotWithShape="0" blurRad="127000" dist="25400" dir="5400000">
              <a:srgbClr val="000000">
                <a:alpha val="7000"/>
              </a:srgbClr>
            </a:outerShdw>
          </a:effectLst>
        </p:spPr>
      </p:sp>
      <p:sp>
        <p:nvSpPr>
          <p:cNvPr id="5" name="Text 3"/>
          <p:cNvSpPr txBox="1"/>
          <p:nvPr/>
        </p:nvSpPr>
        <p:spPr>
          <a:xfrm>
            <a:off x="868680" y="2057400"/>
            <a:ext cx="6400800" cy="3566160"/>
          </a:xfrm>
          <a:prstGeom prst="rect">
            <a:avLst/>
          </a:prstGeom>
          <a:noFill/>
          <a:ln/>
        </p:spPr>
        <p:txBody>
          <a:bodyPr wrap="square" lIns="0" tIns="0" rIns="0" bIns="0" rtlCol="0" anchor="t"/>
          <a:lstStyle/>
          <a:p>
            <a:pPr indent="0" marL="0">
              <a:lnSpc>
                <a:spcPct val="130000"/>
              </a:lnSpc>
              <a:buNone/>
            </a:pPr>
            <a:r>
              <a:rPr lang="en-US" sz="1200" b="1" dirty="0">
                <a:solidFill>
                  <a:srgbClr val="C4B5FD"/>
                </a:solidFill>
                <a:latin typeface="Consolas" pitchFamily="34" charset="0"/>
                <a:ea typeface="Consolas" pitchFamily="34" charset="-122"/>
                <a:cs typeface="Consolas" pitchFamily="34" charset="-120"/>
              </a:rPr>
              <a:t>walker</a:t>
            </a:r>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Resolver {</a:t>
            </a:r>
            <a:endParaRPr lang="en-US" sz="1200" dirty="0"/>
          </a:p>
          <a:p>
            <a:pPr indent="0" marL="0">
              <a:lnSpc>
                <a:spcPct val="130000"/>
              </a:lnSpc>
              <a:buNone/>
            </a:pPr>
            <a:r>
              <a:rPr lang="en-US" sz="1200" b="1" dirty="0">
                <a:solidFill>
                  <a:srgbClr val="C4B5FD"/>
                </a:solidFill>
                <a:latin typeface="Consolas" pitchFamily="34" charset="0"/>
                <a:ea typeface="Consolas" pitchFamily="34" charset="-122"/>
                <a:cs typeface="Consolas" pitchFamily="34" charset="-120"/>
              </a:rPr>
              <a:t>    can</a:t>
            </a:r>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start with Message entry {</a:t>
            </a:r>
            <a:endParaRPr lang="en-US" sz="1200" dirty="0"/>
          </a:p>
          <a:p>
            <a:pPr indent="0" marL="0">
              <a:lnSpc>
                <a:spcPct val="130000"/>
              </a:lnSpc>
              <a:buNone/>
            </a:pPr>
            <a:r>
              <a:rPr lang="en-US" sz="1200" b="1" dirty="0">
                <a:solidFill>
                  <a:srgbClr val="C4B5FD"/>
                </a:solidFill>
                <a:latin typeface="Consolas" pitchFamily="34" charset="0"/>
                <a:ea typeface="Consolas" pitchFamily="34" charset="-122"/>
                <a:cs typeface="Consolas" pitchFamily="34" charset="-120"/>
              </a:rPr>
              <a:t>        visit</a:t>
            </a:r>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[-&gt;:Candidate:-&gt;] by resolver_model(</a:t>
            </a:r>
            <a:endParaRPr lang="en-US" sz="1200" dirty="0"/>
          </a:p>
          <a:p>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intent="Choose the most plausible household. Exact phones</a:t>
            </a:r>
            <a:endParaRPr lang="en-US" sz="1200" dirty="0"/>
          </a:p>
          <a:p>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and a full name plus household place are strong evidence.</a:t>
            </a:r>
            <a:endParaRPr lang="en-US" sz="1200" dirty="0"/>
          </a:p>
          <a:p>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Same surname or road is insufficient.",</a:t>
            </a:r>
            <a:endParaRPr lang="en-US" sz="1200" dirty="0"/>
          </a:p>
          <a:p>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select=1);</a:t>
            </a:r>
            <a:endParaRPr lang="en-US" sz="1200" dirty="0"/>
          </a:p>
          <a:p>
            <a:pPr indent="0" marL="0">
              <a:lnSpc>
                <a:spcPct val="130000"/>
              </a:lnSpc>
              <a:buNone/>
            </a:pPr>
            <a:r>
              <a:rPr lang="en-US" sz="1200" b="1" dirty="0">
                <a:solidFill>
                  <a:srgbClr val="C4B5FD"/>
                </a:solidFill>
                <a:latin typeface="Consolas" pitchFamily="34" charset="0"/>
                <a:ea typeface="Consolas" pitchFamily="34" charset="-122"/>
                <a:cs typeface="Consolas" pitchFamily="34" charset="-120"/>
              </a:rPr>
              <a:t>    }</a:t>
            </a:r>
            <a:endParaRPr lang="en-US" sz="1200" dirty="0"/>
          </a:p>
          <a:p>
            <a:pPr indent="0" marL="0">
              <a:lnSpc>
                <a:spcPct val="130000"/>
              </a:lnSpc>
              <a:buNone/>
            </a:pPr>
            <a:r>
              <a:rPr lang="en-US" sz="1200" b="1" dirty="0">
                <a:solidFill>
                  <a:srgbClr val="C4B5FD"/>
                </a:solidFill>
                <a:latin typeface="Consolas" pitchFamily="34" charset="0"/>
                <a:ea typeface="Consolas" pitchFamily="34" charset="-122"/>
                <a:cs typeface="Consolas" pitchFamily="34" charset="-120"/>
              </a:rPr>
              <a:t>}</a:t>
            </a:r>
            <a:endParaRPr lang="en-US" sz="1200" dirty="0"/>
          </a:p>
          <a:p>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a:t>
            </a:r>
            <a:endParaRPr lang="en-US" sz="1200" dirty="0"/>
          </a:p>
          <a:p>
            <a:pPr indent="0" marL="0">
              <a:lnSpc>
                <a:spcPct val="130000"/>
              </a:lnSpc>
              <a:buNone/>
            </a:pPr>
            <a:r>
              <a:rPr lang="en-US" sz="1200" b="1" dirty="0">
                <a:solidFill>
                  <a:srgbClr val="C4B5FD"/>
                </a:solidFill>
                <a:latin typeface="Consolas" pitchFamily="34" charset="0"/>
                <a:ea typeface="Consolas" pitchFamily="34" charset="-122"/>
                <a:cs typeface="Consolas" pitchFamily="34" charset="-120"/>
              </a:rPr>
              <a:t>def</a:t>
            </a:r>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assess_match(message: str, incident: str, evidence: list[str],</a:t>
            </a:r>
            <a:endParaRPr lang="en-US" sz="1200" dirty="0"/>
          </a:p>
          <a:p>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feedback: str) -&gt; MatchAssessment by resolver_model(temperature=0.0);</a:t>
            </a:r>
            <a:endParaRPr lang="en-US" sz="1200" dirty="0"/>
          </a:p>
          <a:p>
            <a:pPr indent="0" marL="0">
              <a:lnSpc>
                <a:spcPct val="130000"/>
              </a:lnSpc>
              <a:buNone/>
            </a:pPr>
            <a:r>
              <a:rPr lang="en-US" sz="1200" b="1" dirty="0">
                <a:solidFill>
                  <a:srgbClr val="C4B5FD"/>
                </a:solidFill>
                <a:latin typeface="Consolas" pitchFamily="34" charset="0"/>
                <a:ea typeface="Consolas" pitchFamily="34" charset="-122"/>
                <a:cs typeface="Consolas" pitchFamily="34" charset="-120"/>
              </a:rPr>
              <a:t>sem</a:t>
            </a:r>
            <a:pPr indent="0" marL="0">
              <a:lnSpc>
                <a:spcPct val="130000"/>
              </a:lnSpc>
              <a:buNone/>
            </a:pPr>
            <a:r>
              <a:rPr lang="en-US" sz="1200" dirty="0">
                <a:solidFill>
                  <a:srgbClr val="E4E4E7"/>
                </a:solidFill>
                <a:latin typeface="Consolas" pitchFamily="34" charset="0"/>
                <a:ea typeface="Consolas" pitchFamily="34" charset="-122"/>
                <a:cs typeface="Consolas" pitchFamily="34" charset="-120"/>
              </a:rPr>
              <a:t> assess_match = "A shared surname or road is never enough.";</a:t>
            </a:r>
            <a:endParaRPr lang="en-US" sz="1200" dirty="0"/>
          </a:p>
        </p:txBody>
      </p:sp>
      <p:sp>
        <p:nvSpPr>
          <p:cNvPr id="6" name="Text 4"/>
          <p:cNvSpPr txBox="1"/>
          <p:nvPr/>
        </p:nvSpPr>
        <p:spPr>
          <a:xfrm>
            <a:off x="868680" y="5715000"/>
            <a:ext cx="4572000" cy="274320"/>
          </a:xfrm>
          <a:prstGeom prst="rect">
            <a:avLst/>
          </a:prstGeom>
          <a:noFill/>
          <a:ln/>
        </p:spPr>
        <p:txBody>
          <a:bodyPr wrap="square" lIns="0" tIns="0" rIns="0" bIns="0" rtlCol="0" anchor="ctr"/>
          <a:lstStyle/>
          <a:p>
            <a:pPr indent="0" marL="0">
              <a:buNone/>
            </a:pPr>
            <a:r>
              <a:rPr lang="en-US" sz="1000" dirty="0">
                <a:solidFill>
                  <a:srgbClr val="A1A1AA"/>
                </a:solidFill>
              </a:rPr>
              <a:t>crisisconnect/ai/resolver.jac (shortened)</a:t>
            </a:r>
            <a:endParaRPr lang="en-US" sz="1000" dirty="0"/>
          </a:p>
        </p:txBody>
      </p:sp>
      <p:sp>
        <p:nvSpPr>
          <p:cNvPr id="7" name="Shape 5"/>
          <p:cNvSpPr/>
          <p:nvPr/>
        </p:nvSpPr>
        <p:spPr>
          <a:xfrm>
            <a:off x="7772400" y="1783080"/>
            <a:ext cx="868680" cy="384048"/>
          </a:xfrm>
          <a:prstGeom prst="roundRect">
            <a:avLst>
              <a:gd name="adj" fmla="val 50000"/>
            </a:avLst>
          </a:prstGeom>
          <a:solidFill>
            <a:schemeClr val="accent2">
              <a:alpha val="12000"/>
            </a:schemeClr>
          </a:solidFill>
          <a:ln/>
        </p:spPr>
      </p:sp>
      <p:sp>
        <p:nvSpPr>
          <p:cNvPr id="8" name="Text 6"/>
          <p:cNvSpPr txBox="1"/>
          <p:nvPr/>
        </p:nvSpPr>
        <p:spPr>
          <a:xfrm>
            <a:off x="7772400" y="1783080"/>
            <a:ext cx="868680" cy="384048"/>
          </a:xfrm>
          <a:prstGeom prst="rect">
            <a:avLst/>
          </a:prstGeom>
          <a:noFill/>
          <a:ln/>
        </p:spPr>
        <p:txBody>
          <a:bodyPr wrap="square" lIns="0" tIns="0" rIns="0" bIns="0" rtlCol="0" anchor="ctr"/>
          <a:lstStyle/>
          <a:p>
            <a:pPr algn="ctr" indent="0" marL="0">
              <a:buNone/>
            </a:pPr>
            <a:r>
              <a:rPr lang="en-US" sz="1200" b="1" dirty="0">
                <a:solidFill>
                  <a:schemeClr val="accent2"/>
                </a:solidFill>
              </a:rPr>
              <a:t>R1–R2</a:t>
            </a:r>
            <a:endParaRPr lang="en-US" sz="1200" dirty="0"/>
          </a:p>
        </p:txBody>
      </p:sp>
      <p:sp>
        <p:nvSpPr>
          <p:cNvPr id="9" name="Text 7"/>
          <p:cNvSpPr txBox="1"/>
          <p:nvPr/>
        </p:nvSpPr>
        <p:spPr>
          <a:xfrm>
            <a:off x="8778240" y="1737360"/>
            <a:ext cx="2862072" cy="777240"/>
          </a:xfrm>
          <a:prstGeom prst="rect">
            <a:avLst/>
          </a:prstGeom>
          <a:noFill/>
          <a:ln/>
        </p:spPr>
        <p:txBody>
          <a:bodyPr wrap="square" lIns="0" tIns="0" rIns="0" bIns="0" rtlCol="0" anchor="t"/>
          <a:lstStyle/>
          <a:p>
            <a:pPr indent="0" marL="0">
              <a:buNone/>
            </a:pPr>
            <a:r>
              <a:rPr lang="en-US" sz="1300" dirty="0">
                <a:solidFill>
                  <a:schemeClr val="tx1"/>
                </a:solidFill>
              </a:rPr>
              <a:t>A merge needs shared evidence: an exact phone, or a full name plus a house.</a:t>
            </a:r>
            <a:endParaRPr lang="en-US" sz="1300" dirty="0"/>
          </a:p>
        </p:txBody>
      </p:sp>
      <p:sp>
        <p:nvSpPr>
          <p:cNvPr id="10" name="Shape 8"/>
          <p:cNvSpPr/>
          <p:nvPr/>
        </p:nvSpPr>
        <p:spPr>
          <a:xfrm>
            <a:off x="7772400" y="2651760"/>
            <a:ext cx="868680" cy="384048"/>
          </a:xfrm>
          <a:prstGeom prst="roundRect">
            <a:avLst>
              <a:gd name="adj" fmla="val 50000"/>
            </a:avLst>
          </a:prstGeom>
          <a:solidFill>
            <a:schemeClr val="accent2">
              <a:alpha val="12000"/>
            </a:schemeClr>
          </a:solidFill>
          <a:ln/>
        </p:spPr>
      </p:sp>
      <p:sp>
        <p:nvSpPr>
          <p:cNvPr id="11" name="Text 9"/>
          <p:cNvSpPr txBox="1"/>
          <p:nvPr/>
        </p:nvSpPr>
        <p:spPr>
          <a:xfrm>
            <a:off x="7772400" y="2651760"/>
            <a:ext cx="868680" cy="384048"/>
          </a:xfrm>
          <a:prstGeom prst="rect">
            <a:avLst/>
          </a:prstGeom>
          <a:noFill/>
          <a:ln/>
        </p:spPr>
        <p:txBody>
          <a:bodyPr wrap="square" lIns="0" tIns="0" rIns="0" bIns="0" rtlCol="0" anchor="ctr"/>
          <a:lstStyle/>
          <a:p>
            <a:pPr algn="ctr" indent="0" marL="0">
              <a:buNone/>
            </a:pPr>
            <a:r>
              <a:rPr lang="en-US" sz="1200" b="1" dirty="0">
                <a:solidFill>
                  <a:schemeClr val="accent2"/>
                </a:solidFill>
              </a:rPr>
              <a:t>R3</a:t>
            </a:r>
            <a:endParaRPr lang="en-US" sz="1200" dirty="0"/>
          </a:p>
        </p:txBody>
      </p:sp>
      <p:sp>
        <p:nvSpPr>
          <p:cNvPr id="12" name="Text 10"/>
          <p:cNvSpPr txBox="1"/>
          <p:nvPr/>
        </p:nvSpPr>
        <p:spPr>
          <a:xfrm>
            <a:off x="8778240" y="2606040"/>
            <a:ext cx="2862072" cy="777240"/>
          </a:xfrm>
          <a:prstGeom prst="rect">
            <a:avLst/>
          </a:prstGeom>
          <a:noFill/>
          <a:ln/>
        </p:spPr>
        <p:txBody>
          <a:bodyPr wrap="square" lIns="0" tIns="0" rIns="0" bIns="0" rtlCol="0" anchor="t"/>
          <a:lstStyle/>
          <a:p>
            <a:pPr indent="0" marL="0">
              <a:buNone/>
            </a:pPr>
            <a:r>
              <a:rPr lang="en-US" sz="1300" dirty="0">
                <a:solidFill>
                  <a:schemeClr val="tx1"/>
                </a:solidFill>
              </a:rPr>
              <a:t>A model can never lower the priority of a medical, child or elderly case.</a:t>
            </a:r>
            <a:endParaRPr lang="en-US" sz="1300" dirty="0"/>
          </a:p>
        </p:txBody>
      </p:sp>
      <p:sp>
        <p:nvSpPr>
          <p:cNvPr id="13" name="Shape 11"/>
          <p:cNvSpPr/>
          <p:nvPr/>
        </p:nvSpPr>
        <p:spPr>
          <a:xfrm>
            <a:off x="7772400" y="3520440"/>
            <a:ext cx="868680" cy="384048"/>
          </a:xfrm>
          <a:prstGeom prst="roundRect">
            <a:avLst>
              <a:gd name="adj" fmla="val 50000"/>
            </a:avLst>
          </a:prstGeom>
          <a:solidFill>
            <a:schemeClr val="accent2">
              <a:alpha val="12000"/>
            </a:schemeClr>
          </a:solidFill>
          <a:ln/>
        </p:spPr>
      </p:sp>
      <p:sp>
        <p:nvSpPr>
          <p:cNvPr id="14" name="Text 12"/>
          <p:cNvSpPr txBox="1"/>
          <p:nvPr/>
        </p:nvSpPr>
        <p:spPr>
          <a:xfrm>
            <a:off x="7772400" y="3520440"/>
            <a:ext cx="868680" cy="384048"/>
          </a:xfrm>
          <a:prstGeom prst="rect">
            <a:avLst/>
          </a:prstGeom>
          <a:noFill/>
          <a:ln/>
        </p:spPr>
        <p:txBody>
          <a:bodyPr wrap="square" lIns="0" tIns="0" rIns="0" bIns="0" rtlCol="0" anchor="ctr"/>
          <a:lstStyle/>
          <a:p>
            <a:pPr algn="ctr" indent="0" marL="0">
              <a:buNone/>
            </a:pPr>
            <a:r>
              <a:rPr lang="en-US" sz="1200" b="1" dirty="0">
                <a:solidFill>
                  <a:schemeClr val="accent2"/>
                </a:solidFill>
              </a:rPr>
              <a:t>R4</a:t>
            </a:r>
            <a:endParaRPr lang="en-US" sz="1200" dirty="0"/>
          </a:p>
        </p:txBody>
      </p:sp>
      <p:sp>
        <p:nvSpPr>
          <p:cNvPr id="15" name="Text 13"/>
          <p:cNvSpPr txBox="1"/>
          <p:nvPr/>
        </p:nvSpPr>
        <p:spPr>
          <a:xfrm>
            <a:off x="8778240" y="3474720"/>
            <a:ext cx="2862072" cy="777240"/>
          </a:xfrm>
          <a:prstGeom prst="rect">
            <a:avLst/>
          </a:prstGeom>
          <a:noFill/>
          <a:ln/>
        </p:spPr>
        <p:txBody>
          <a:bodyPr wrap="square" lIns="0" tIns="0" rIns="0" bIns="0" rtlCol="0" anchor="t"/>
          <a:lstStyle/>
          <a:p>
            <a:pPr indent="0" marL="0">
              <a:buNone/>
            </a:pPr>
            <a:r>
              <a:rPr lang="en-US" sz="1300" dirty="0">
                <a:solidFill>
                  <a:schemeClr val="tx1"/>
                </a:solidFill>
              </a:rPr>
              <a:t>Confirmed and resolved need a logged phone call.</a:t>
            </a:r>
            <a:endParaRPr lang="en-US" sz="1300" dirty="0"/>
          </a:p>
        </p:txBody>
      </p:sp>
      <p:sp>
        <p:nvSpPr>
          <p:cNvPr id="16" name="Shape 14"/>
          <p:cNvSpPr/>
          <p:nvPr/>
        </p:nvSpPr>
        <p:spPr>
          <a:xfrm>
            <a:off x="7772400" y="4389120"/>
            <a:ext cx="868680" cy="384048"/>
          </a:xfrm>
          <a:prstGeom prst="roundRect">
            <a:avLst>
              <a:gd name="adj" fmla="val 50000"/>
            </a:avLst>
          </a:prstGeom>
          <a:solidFill>
            <a:schemeClr val="accent2">
              <a:alpha val="12000"/>
            </a:schemeClr>
          </a:solidFill>
          <a:ln/>
        </p:spPr>
      </p:sp>
      <p:sp>
        <p:nvSpPr>
          <p:cNvPr id="17" name="Text 15"/>
          <p:cNvSpPr txBox="1"/>
          <p:nvPr/>
        </p:nvSpPr>
        <p:spPr>
          <a:xfrm>
            <a:off x="7772400" y="4389120"/>
            <a:ext cx="868680" cy="384048"/>
          </a:xfrm>
          <a:prstGeom prst="rect">
            <a:avLst/>
          </a:prstGeom>
          <a:noFill/>
          <a:ln/>
        </p:spPr>
        <p:txBody>
          <a:bodyPr wrap="square" lIns="0" tIns="0" rIns="0" bIns="0" rtlCol="0" anchor="ctr"/>
          <a:lstStyle/>
          <a:p>
            <a:pPr algn="ctr" indent="0" marL="0">
              <a:buNone/>
            </a:pPr>
            <a:r>
              <a:rPr lang="en-US" sz="1200" b="1" dirty="0">
                <a:solidFill>
                  <a:schemeClr val="accent2"/>
                </a:solidFill>
              </a:rPr>
              <a:t>R7</a:t>
            </a:r>
            <a:endParaRPr lang="en-US" sz="1200" dirty="0"/>
          </a:p>
        </p:txBody>
      </p:sp>
      <p:sp>
        <p:nvSpPr>
          <p:cNvPr id="18" name="Text 16"/>
          <p:cNvSpPr txBox="1"/>
          <p:nvPr/>
        </p:nvSpPr>
        <p:spPr>
          <a:xfrm>
            <a:off x="8778240" y="4343400"/>
            <a:ext cx="2862072" cy="777240"/>
          </a:xfrm>
          <a:prstGeom prst="rect">
            <a:avLst/>
          </a:prstGeom>
          <a:noFill/>
          <a:ln/>
        </p:spPr>
        <p:txBody>
          <a:bodyPr wrap="square" lIns="0" tIns="0" rIns="0" bIns="0" rtlCol="0" anchor="t"/>
          <a:lstStyle/>
          <a:p>
            <a:pPr indent="0" marL="0">
              <a:buNone/>
            </a:pPr>
            <a:r>
              <a:rPr lang="en-US" sz="1300" dirty="0">
                <a:solidFill>
                  <a:schemeClr val="tx1"/>
                </a:solidFill>
              </a:rPr>
              <a:t>Rumours never enter the call queue.</a:t>
            </a:r>
            <a:endParaRPr lang="en-US" sz="1300" dirty="0"/>
          </a:p>
        </p:txBody>
      </p:sp>
      <p:sp>
        <p:nvSpPr>
          <p:cNvPr id="19" name="Shape 17"/>
          <p:cNvSpPr/>
          <p:nvPr/>
        </p:nvSpPr>
        <p:spPr>
          <a:xfrm>
            <a:off x="7772400" y="5257800"/>
            <a:ext cx="868680" cy="384048"/>
          </a:xfrm>
          <a:prstGeom prst="roundRect">
            <a:avLst>
              <a:gd name="adj" fmla="val 50000"/>
            </a:avLst>
          </a:prstGeom>
          <a:solidFill>
            <a:schemeClr val="accent2">
              <a:alpha val="12000"/>
            </a:schemeClr>
          </a:solidFill>
          <a:ln/>
        </p:spPr>
      </p:sp>
      <p:sp>
        <p:nvSpPr>
          <p:cNvPr id="20" name="Text 18"/>
          <p:cNvSpPr txBox="1"/>
          <p:nvPr/>
        </p:nvSpPr>
        <p:spPr>
          <a:xfrm>
            <a:off x="7772400" y="5257800"/>
            <a:ext cx="868680" cy="384048"/>
          </a:xfrm>
          <a:prstGeom prst="rect">
            <a:avLst/>
          </a:prstGeom>
          <a:noFill/>
          <a:ln/>
        </p:spPr>
        <p:txBody>
          <a:bodyPr wrap="square" lIns="0" tIns="0" rIns="0" bIns="0" rtlCol="0" anchor="ctr"/>
          <a:lstStyle/>
          <a:p>
            <a:pPr algn="ctr" indent="0" marL="0">
              <a:buNone/>
            </a:pPr>
            <a:r>
              <a:rPr lang="en-US" sz="1200" b="1" dirty="0">
                <a:solidFill>
                  <a:schemeClr val="accent2"/>
                </a:solidFill>
              </a:rPr>
              <a:t>R14</a:t>
            </a:r>
            <a:endParaRPr lang="en-US" sz="1200" dirty="0"/>
          </a:p>
        </p:txBody>
      </p:sp>
      <p:sp>
        <p:nvSpPr>
          <p:cNvPr id="21" name="Text 19"/>
          <p:cNvSpPr txBox="1"/>
          <p:nvPr/>
        </p:nvSpPr>
        <p:spPr>
          <a:xfrm>
            <a:off x="8778240" y="5212080"/>
            <a:ext cx="2862072" cy="777240"/>
          </a:xfrm>
          <a:prstGeom prst="rect">
            <a:avLst/>
          </a:prstGeom>
          <a:noFill/>
          <a:ln/>
        </p:spPr>
        <p:txBody>
          <a:bodyPr wrap="square" lIns="0" tIns="0" rIns="0" bIns="0" rtlCol="0" anchor="t"/>
          <a:lstStyle/>
          <a:p>
            <a:pPr indent="0" marL="0">
              <a:buNone/>
            </a:pPr>
            <a:r>
              <a:rPr lang="en-US" sz="1300" dirty="0">
                <a:solidFill>
                  <a:schemeClr val="tx1"/>
                </a:solidFill>
              </a:rPr>
              <a:t>Model tools are read-only. One writer applies changes.</a:t>
            </a:r>
            <a:endParaRPr lang="en-US" sz="13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RESPONSIBLE BY DESIGN</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AI proposes. Rules referee. People decide.</a:t>
            </a:r>
            <a:endParaRPr lang="en-US" sz="3400" dirty="0"/>
          </a:p>
        </p:txBody>
      </p:sp>
      <p:sp>
        <p:nvSpPr>
          <p:cNvPr id="4" name="Shape 2"/>
          <p:cNvSpPr/>
          <p:nvPr/>
        </p:nvSpPr>
        <p:spPr>
          <a:xfrm>
            <a:off x="548640" y="1783080"/>
            <a:ext cx="2487168" cy="2286000"/>
          </a:xfrm>
          <a:prstGeom prst="roundRect">
            <a:avLst>
              <a:gd name="adj" fmla="val 4800"/>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5" name="Shape 3"/>
          <p:cNvSpPr/>
          <p:nvPr/>
        </p:nvSpPr>
        <p:spPr>
          <a:xfrm>
            <a:off x="777240" y="2011680"/>
            <a:ext cx="566928" cy="566928"/>
          </a:xfrm>
          <a:prstGeom prst="roundRect">
            <a:avLst>
              <a:gd name="adj" fmla="val 28000"/>
            </a:avLst>
          </a:prstGeom>
          <a:solidFill>
            <a:schemeClr val="accent2">
              <a:alpha val="12000"/>
            </a:schemeClr>
          </a:solidFill>
          <a:ln/>
        </p:spPr>
      </p:sp>
      <p:pic>
        <p:nvPicPr>
          <p:cNvPr id="6" name="Image 0" descr="Sparkles icon">    </p:cNvPr>
          <p:cNvPicPr>
            <a:picLocks noChangeAspect="1"/>
          </p:cNvPicPr>
          <p:nvPr/>
        </p:nvPicPr>
        <p:blipFill>
          <a:blip r:embed="rId1"/>
          <a:stretch>
            <a:fillRect/>
          </a:stretch>
        </p:blipFill>
        <p:spPr>
          <a:xfrm>
            <a:off x="918972" y="2153412"/>
            <a:ext cx="283464" cy="283464"/>
          </a:xfrm>
          <a:prstGeom prst="rect">
            <a:avLst/>
          </a:prstGeom>
        </p:spPr>
      </p:pic>
      <p:sp>
        <p:nvSpPr>
          <p:cNvPr id="7" name="Text 4"/>
          <p:cNvSpPr txBox="1"/>
          <p:nvPr/>
        </p:nvSpPr>
        <p:spPr>
          <a:xfrm>
            <a:off x="777240" y="2697480"/>
            <a:ext cx="2029968" cy="365760"/>
          </a:xfrm>
          <a:prstGeom prst="rect">
            <a:avLst/>
          </a:prstGeom>
          <a:noFill/>
          <a:ln/>
        </p:spPr>
        <p:txBody>
          <a:bodyPr wrap="square" lIns="0" tIns="0" rIns="0" bIns="0" rtlCol="0" anchor="ctr"/>
          <a:lstStyle/>
          <a:p>
            <a:pPr indent="0" marL="0">
              <a:buNone/>
            </a:pPr>
            <a:r>
              <a:rPr lang="en-US" sz="1700" b="1" dirty="0">
                <a:solidFill>
                  <a:schemeClr val="tx1"/>
                </a:solidFill>
              </a:rPr>
              <a:t>Agents propose</a:t>
            </a:r>
            <a:endParaRPr lang="en-US" sz="1700" dirty="0"/>
          </a:p>
        </p:txBody>
      </p:sp>
      <p:sp>
        <p:nvSpPr>
          <p:cNvPr id="8" name="Text 5"/>
          <p:cNvSpPr txBox="1"/>
          <p:nvPr/>
        </p:nvSpPr>
        <p:spPr>
          <a:xfrm>
            <a:off x="777240" y="3090672"/>
            <a:ext cx="2029968" cy="868680"/>
          </a:xfrm>
          <a:prstGeom prst="rect">
            <a:avLst/>
          </a:prstGeom>
          <a:noFill/>
          <a:ln/>
        </p:spPr>
        <p:txBody>
          <a:bodyPr wrap="square" lIns="0" tIns="0" rIns="0" bIns="0" rtlCol="0" anchor="t"/>
          <a:lstStyle/>
          <a:p>
            <a:pPr indent="0" marL="0">
              <a:buNone/>
            </a:pPr>
            <a:r>
              <a:rPr lang="en-US" sz="1300" dirty="0">
                <a:solidFill>
                  <a:srgbClr val="71717A"/>
                </a:solidFill>
              </a:rPr>
              <a:t>Typed AI calls read, match and suggest. Their tools are read-only.</a:t>
            </a:r>
            <a:endParaRPr lang="en-US" sz="1300" dirty="0"/>
          </a:p>
        </p:txBody>
      </p:sp>
      <p:pic>
        <p:nvPicPr>
          <p:cNvPr id="9" name="Image 1" descr="preencoded.png">    </p:cNvPr>
          <p:cNvPicPr>
            <a:picLocks noChangeAspect="1"/>
          </p:cNvPicPr>
          <p:nvPr/>
        </p:nvPicPr>
        <p:blipFill>
          <a:blip r:embed="rId2"/>
          <a:stretch>
            <a:fillRect/>
          </a:stretch>
        </p:blipFill>
        <p:spPr>
          <a:xfrm>
            <a:off x="3099816" y="2770632"/>
            <a:ext cx="256032" cy="256032"/>
          </a:xfrm>
          <a:prstGeom prst="rect">
            <a:avLst/>
          </a:prstGeom>
        </p:spPr>
      </p:pic>
      <p:sp>
        <p:nvSpPr>
          <p:cNvPr id="10" name="Shape 6"/>
          <p:cNvSpPr/>
          <p:nvPr/>
        </p:nvSpPr>
        <p:spPr>
          <a:xfrm>
            <a:off x="3419856" y="1783080"/>
            <a:ext cx="2487168" cy="2286000"/>
          </a:xfrm>
          <a:prstGeom prst="roundRect">
            <a:avLst>
              <a:gd name="adj" fmla="val 4800"/>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1" name="Shape 7"/>
          <p:cNvSpPr/>
          <p:nvPr/>
        </p:nvSpPr>
        <p:spPr>
          <a:xfrm>
            <a:off x="3648456" y="2011680"/>
            <a:ext cx="566928" cy="566928"/>
          </a:xfrm>
          <a:prstGeom prst="roundRect">
            <a:avLst>
              <a:gd name="adj" fmla="val 28000"/>
            </a:avLst>
          </a:prstGeom>
          <a:solidFill>
            <a:schemeClr val="accent4">
              <a:alpha val="12000"/>
            </a:schemeClr>
          </a:solidFill>
          <a:ln/>
        </p:spPr>
      </p:sp>
      <p:pic>
        <p:nvPicPr>
          <p:cNvPr id="12" name="Image 2" descr="Scale icon">    </p:cNvPr>
          <p:cNvPicPr>
            <a:picLocks noChangeAspect="1"/>
          </p:cNvPicPr>
          <p:nvPr/>
        </p:nvPicPr>
        <p:blipFill>
          <a:blip r:embed="rId3"/>
          <a:stretch>
            <a:fillRect/>
          </a:stretch>
        </p:blipFill>
        <p:spPr>
          <a:xfrm>
            <a:off x="3790188" y="2153412"/>
            <a:ext cx="283464" cy="283464"/>
          </a:xfrm>
          <a:prstGeom prst="rect">
            <a:avLst/>
          </a:prstGeom>
        </p:spPr>
      </p:pic>
      <p:sp>
        <p:nvSpPr>
          <p:cNvPr id="13" name="Text 8"/>
          <p:cNvSpPr txBox="1"/>
          <p:nvPr/>
        </p:nvSpPr>
        <p:spPr>
          <a:xfrm>
            <a:off x="3648456" y="2697480"/>
            <a:ext cx="2029968" cy="365760"/>
          </a:xfrm>
          <a:prstGeom prst="rect">
            <a:avLst/>
          </a:prstGeom>
          <a:noFill/>
          <a:ln/>
        </p:spPr>
        <p:txBody>
          <a:bodyPr wrap="square" lIns="0" tIns="0" rIns="0" bIns="0" rtlCol="0" anchor="ctr"/>
          <a:lstStyle/>
          <a:p>
            <a:pPr indent="0" marL="0">
              <a:buNone/>
            </a:pPr>
            <a:r>
              <a:rPr lang="en-US" sz="1700" b="1" dirty="0">
                <a:solidFill>
                  <a:schemeClr val="tx1"/>
                </a:solidFill>
              </a:rPr>
              <a:t>Referee checks</a:t>
            </a:r>
            <a:endParaRPr lang="en-US" sz="1700" dirty="0"/>
          </a:p>
        </p:txBody>
      </p:sp>
      <p:sp>
        <p:nvSpPr>
          <p:cNvPr id="14" name="Text 9"/>
          <p:cNvSpPr txBox="1"/>
          <p:nvPr/>
        </p:nvSpPr>
        <p:spPr>
          <a:xfrm>
            <a:off x="3648456" y="3090672"/>
            <a:ext cx="2029968" cy="868680"/>
          </a:xfrm>
          <a:prstGeom prst="rect">
            <a:avLst/>
          </a:prstGeom>
          <a:noFill/>
          <a:ln/>
        </p:spPr>
        <p:txBody>
          <a:bodyPr wrap="square" lIns="0" tIns="0" rIns="0" bIns="0" rtlCol="0" anchor="t"/>
          <a:lstStyle/>
          <a:p>
            <a:pPr indent="0" marL="0">
              <a:buNone/>
            </a:pPr>
            <a:r>
              <a:rPr lang="en-US" sz="1300" dirty="0">
                <a:solidFill>
                  <a:srgbClr val="71717A"/>
                </a:solidFill>
              </a:rPr>
              <a:t>Plain Jac rules accept, hold or reject. No model is involved.</a:t>
            </a:r>
            <a:endParaRPr lang="en-US" sz="1300" dirty="0"/>
          </a:p>
        </p:txBody>
      </p:sp>
      <p:pic>
        <p:nvPicPr>
          <p:cNvPr id="15" name="Image 3" descr="preencoded.png">    </p:cNvPr>
          <p:cNvPicPr>
            <a:picLocks noChangeAspect="1"/>
          </p:cNvPicPr>
          <p:nvPr/>
        </p:nvPicPr>
        <p:blipFill>
          <a:blip r:embed="rId4"/>
          <a:stretch>
            <a:fillRect/>
          </a:stretch>
        </p:blipFill>
        <p:spPr>
          <a:xfrm>
            <a:off x="5971032" y="2770632"/>
            <a:ext cx="256032" cy="256032"/>
          </a:xfrm>
          <a:prstGeom prst="rect">
            <a:avLst/>
          </a:prstGeom>
        </p:spPr>
      </p:pic>
      <p:sp>
        <p:nvSpPr>
          <p:cNvPr id="16" name="Shape 10"/>
          <p:cNvSpPr/>
          <p:nvPr/>
        </p:nvSpPr>
        <p:spPr>
          <a:xfrm>
            <a:off x="6291072" y="1783080"/>
            <a:ext cx="2487168" cy="2286000"/>
          </a:xfrm>
          <a:prstGeom prst="roundRect">
            <a:avLst>
              <a:gd name="adj" fmla="val 4800"/>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7" name="Shape 11"/>
          <p:cNvSpPr/>
          <p:nvPr/>
        </p:nvSpPr>
        <p:spPr>
          <a:xfrm>
            <a:off x="6519672" y="2011680"/>
            <a:ext cx="566928" cy="566928"/>
          </a:xfrm>
          <a:prstGeom prst="roundRect">
            <a:avLst>
              <a:gd name="adj" fmla="val 28000"/>
            </a:avLst>
          </a:prstGeom>
          <a:solidFill>
            <a:schemeClr val="accent3">
              <a:alpha val="12000"/>
            </a:schemeClr>
          </a:solidFill>
          <a:ln/>
        </p:spPr>
      </p:sp>
      <p:pic>
        <p:nvPicPr>
          <p:cNvPr id="18" name="Image 4" descr="UserCheck icon">    </p:cNvPr>
          <p:cNvPicPr>
            <a:picLocks noChangeAspect="1"/>
          </p:cNvPicPr>
          <p:nvPr/>
        </p:nvPicPr>
        <p:blipFill>
          <a:blip r:embed="rId5"/>
          <a:stretch>
            <a:fillRect/>
          </a:stretch>
        </p:blipFill>
        <p:spPr>
          <a:xfrm>
            <a:off x="6661404" y="2153412"/>
            <a:ext cx="283464" cy="283464"/>
          </a:xfrm>
          <a:prstGeom prst="rect">
            <a:avLst/>
          </a:prstGeom>
        </p:spPr>
      </p:pic>
      <p:sp>
        <p:nvSpPr>
          <p:cNvPr id="19" name="Text 12"/>
          <p:cNvSpPr txBox="1"/>
          <p:nvPr/>
        </p:nvSpPr>
        <p:spPr>
          <a:xfrm>
            <a:off x="6519672" y="2697480"/>
            <a:ext cx="2029968" cy="365760"/>
          </a:xfrm>
          <a:prstGeom prst="rect">
            <a:avLst/>
          </a:prstGeom>
          <a:noFill/>
          <a:ln/>
        </p:spPr>
        <p:txBody>
          <a:bodyPr wrap="square" lIns="0" tIns="0" rIns="0" bIns="0" rtlCol="0" anchor="ctr"/>
          <a:lstStyle/>
          <a:p>
            <a:pPr indent="0" marL="0">
              <a:buNone/>
            </a:pPr>
            <a:r>
              <a:rPr lang="en-US" sz="1700" b="1" dirty="0">
                <a:solidFill>
                  <a:schemeClr val="tx1"/>
                </a:solidFill>
              </a:rPr>
              <a:t>People decide</a:t>
            </a:r>
            <a:endParaRPr lang="en-US" sz="1700" dirty="0"/>
          </a:p>
        </p:txBody>
      </p:sp>
      <p:sp>
        <p:nvSpPr>
          <p:cNvPr id="20" name="Text 13"/>
          <p:cNvSpPr txBox="1"/>
          <p:nvPr/>
        </p:nvSpPr>
        <p:spPr>
          <a:xfrm>
            <a:off x="6519672" y="3090672"/>
            <a:ext cx="2029968" cy="868680"/>
          </a:xfrm>
          <a:prstGeom prst="rect">
            <a:avLst/>
          </a:prstGeom>
          <a:noFill/>
          <a:ln/>
        </p:spPr>
        <p:txBody>
          <a:bodyPr wrap="square" lIns="0" tIns="0" rIns="0" bIns="0" rtlCol="0" anchor="t"/>
          <a:lstStyle/>
          <a:p>
            <a:pPr indent="0" marL="0">
              <a:buNone/>
            </a:pPr>
            <a:r>
              <a:rPr lang="en-US" sz="1300" dirty="0">
                <a:solidFill>
                  <a:srgbClr val="71717A"/>
                </a:solidFill>
              </a:rPr>
              <a:t>Officers verify by phone. Analysts review appeals.</a:t>
            </a:r>
            <a:endParaRPr lang="en-US" sz="1300" dirty="0"/>
          </a:p>
        </p:txBody>
      </p:sp>
      <p:pic>
        <p:nvPicPr>
          <p:cNvPr id="21" name="Image 5" descr="preencoded.png">    </p:cNvPr>
          <p:cNvPicPr>
            <a:picLocks noChangeAspect="1"/>
          </p:cNvPicPr>
          <p:nvPr/>
        </p:nvPicPr>
        <p:blipFill>
          <a:blip r:embed="rId6"/>
          <a:stretch>
            <a:fillRect/>
          </a:stretch>
        </p:blipFill>
        <p:spPr>
          <a:xfrm>
            <a:off x="8842248" y="2770632"/>
            <a:ext cx="256032" cy="256032"/>
          </a:xfrm>
          <a:prstGeom prst="rect">
            <a:avLst/>
          </a:prstGeom>
        </p:spPr>
      </p:pic>
      <p:sp>
        <p:nvSpPr>
          <p:cNvPr id="22" name="Shape 14"/>
          <p:cNvSpPr/>
          <p:nvPr/>
        </p:nvSpPr>
        <p:spPr>
          <a:xfrm>
            <a:off x="9162288" y="1783080"/>
            <a:ext cx="2487168" cy="2286000"/>
          </a:xfrm>
          <a:prstGeom prst="roundRect">
            <a:avLst>
              <a:gd name="adj" fmla="val 4800"/>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23" name="Shape 15"/>
          <p:cNvSpPr/>
          <p:nvPr/>
        </p:nvSpPr>
        <p:spPr>
          <a:xfrm>
            <a:off x="9390888" y="2011680"/>
            <a:ext cx="566928" cy="566928"/>
          </a:xfrm>
          <a:prstGeom prst="roundRect">
            <a:avLst>
              <a:gd name="adj" fmla="val 28000"/>
            </a:avLst>
          </a:prstGeom>
          <a:solidFill>
            <a:schemeClr val="accent1">
              <a:alpha val="12000"/>
            </a:schemeClr>
          </a:solidFill>
          <a:ln/>
        </p:spPr>
      </p:sp>
      <p:pic>
        <p:nvPicPr>
          <p:cNvPr id="24" name="Image 6" descr="FileText icon">    </p:cNvPr>
          <p:cNvPicPr>
            <a:picLocks noChangeAspect="1"/>
          </p:cNvPicPr>
          <p:nvPr/>
        </p:nvPicPr>
        <p:blipFill>
          <a:blip r:embed="rId7"/>
          <a:stretch>
            <a:fillRect/>
          </a:stretch>
        </p:blipFill>
        <p:spPr>
          <a:xfrm>
            <a:off x="9532620" y="2153412"/>
            <a:ext cx="283464" cy="283464"/>
          </a:xfrm>
          <a:prstGeom prst="rect">
            <a:avLst/>
          </a:prstGeom>
        </p:spPr>
      </p:pic>
      <p:sp>
        <p:nvSpPr>
          <p:cNvPr id="25" name="Text 16"/>
          <p:cNvSpPr txBox="1"/>
          <p:nvPr/>
        </p:nvSpPr>
        <p:spPr>
          <a:xfrm>
            <a:off x="9390888" y="2697480"/>
            <a:ext cx="2029968" cy="365760"/>
          </a:xfrm>
          <a:prstGeom prst="rect">
            <a:avLst/>
          </a:prstGeom>
          <a:noFill/>
          <a:ln/>
        </p:spPr>
        <p:txBody>
          <a:bodyPr wrap="square" lIns="0" tIns="0" rIns="0" bIns="0" rtlCol="0" anchor="ctr"/>
          <a:lstStyle/>
          <a:p>
            <a:pPr indent="0" marL="0">
              <a:buNone/>
            </a:pPr>
            <a:r>
              <a:rPr lang="en-US" sz="1700" b="1" dirty="0">
                <a:solidFill>
                  <a:schemeClr val="tx1"/>
                </a:solidFill>
              </a:rPr>
              <a:t>Decision logged</a:t>
            </a:r>
            <a:endParaRPr lang="en-US" sz="1700" dirty="0"/>
          </a:p>
        </p:txBody>
      </p:sp>
      <p:sp>
        <p:nvSpPr>
          <p:cNvPr id="26" name="Text 17"/>
          <p:cNvSpPr txBox="1"/>
          <p:nvPr/>
        </p:nvSpPr>
        <p:spPr>
          <a:xfrm>
            <a:off x="9390888" y="3090672"/>
            <a:ext cx="2029968" cy="868680"/>
          </a:xfrm>
          <a:prstGeom prst="rect">
            <a:avLst/>
          </a:prstGeom>
          <a:noFill/>
          <a:ln/>
        </p:spPr>
        <p:txBody>
          <a:bodyPr wrap="square" lIns="0" tIns="0" rIns="0" bIns="0" rtlCol="0" anchor="t"/>
          <a:lstStyle/>
          <a:p>
            <a:pPr indent="0" marL="0">
              <a:buNone/>
            </a:pPr>
            <a:r>
              <a:rPr lang="en-US" sz="1300" dirty="0">
                <a:solidFill>
                  <a:srgbClr val="71717A"/>
                </a:solidFill>
              </a:rPr>
              <a:t>Agent, action and reason are saved as a node.</a:t>
            </a:r>
            <a:endParaRPr lang="en-US" sz="1300" dirty="0"/>
          </a:p>
        </p:txBody>
      </p:sp>
      <p:sp>
        <p:nvSpPr>
          <p:cNvPr id="27" name="Shape 18"/>
          <p:cNvSpPr/>
          <p:nvPr/>
        </p:nvSpPr>
        <p:spPr>
          <a:xfrm>
            <a:off x="548640" y="4343400"/>
            <a:ext cx="11094415" cy="1737360"/>
          </a:xfrm>
          <a:prstGeom prst="roundRect">
            <a:avLst>
              <a:gd name="adj" fmla="val 6316"/>
            </a:avLst>
          </a:prstGeom>
          <a:solidFill>
            <a:schemeClr val="bg2"/>
          </a:solidFill>
          <a:ln/>
        </p:spPr>
      </p:sp>
      <p:pic>
        <p:nvPicPr>
          <p:cNvPr id="28" name="Image 7" descr="preencoded.png">    </p:cNvPr>
          <p:cNvPicPr>
            <a:picLocks noChangeAspect="1"/>
          </p:cNvPicPr>
          <p:nvPr/>
        </p:nvPicPr>
        <p:blipFill>
          <a:blip r:embed="rId8"/>
          <a:stretch>
            <a:fillRect/>
          </a:stretch>
        </p:blipFill>
        <p:spPr>
          <a:xfrm>
            <a:off x="868680" y="4672584"/>
            <a:ext cx="292608" cy="292608"/>
          </a:xfrm>
          <a:prstGeom prst="rect">
            <a:avLst/>
          </a:prstGeom>
        </p:spPr>
      </p:pic>
      <p:sp>
        <p:nvSpPr>
          <p:cNvPr id="29" name="Text 19"/>
          <p:cNvSpPr txBox="1"/>
          <p:nvPr/>
        </p:nvSpPr>
        <p:spPr>
          <a:xfrm>
            <a:off x="1325880" y="4617720"/>
            <a:ext cx="4846320" cy="402336"/>
          </a:xfrm>
          <a:prstGeom prst="rect">
            <a:avLst/>
          </a:prstGeom>
          <a:noFill/>
          <a:ln/>
        </p:spPr>
        <p:txBody>
          <a:bodyPr wrap="square" lIns="0" tIns="0" rIns="0" bIns="0" rtlCol="0" anchor="ctr"/>
          <a:lstStyle/>
          <a:p>
            <a:pPr indent="0" marL="0">
              <a:buNone/>
            </a:pPr>
            <a:r>
              <a:rPr lang="en-US" sz="1400" dirty="0">
                <a:solidFill>
                  <a:schemeClr val="tx1"/>
                </a:solidFill>
              </a:rPr>
              <a:t>A missed call never verifies a household.</a:t>
            </a:r>
            <a:endParaRPr lang="en-US" sz="1400" dirty="0"/>
          </a:p>
        </p:txBody>
      </p:sp>
      <p:pic>
        <p:nvPicPr>
          <p:cNvPr id="30" name="Image 8" descr="preencoded.png">    </p:cNvPr>
          <p:cNvPicPr>
            <a:picLocks noChangeAspect="1"/>
          </p:cNvPicPr>
          <p:nvPr/>
        </p:nvPicPr>
        <p:blipFill>
          <a:blip r:embed="rId9"/>
          <a:stretch>
            <a:fillRect/>
          </a:stretch>
        </p:blipFill>
        <p:spPr>
          <a:xfrm>
            <a:off x="6400800" y="4672584"/>
            <a:ext cx="292608" cy="292608"/>
          </a:xfrm>
          <a:prstGeom prst="rect">
            <a:avLst/>
          </a:prstGeom>
        </p:spPr>
      </p:pic>
      <p:sp>
        <p:nvSpPr>
          <p:cNvPr id="31" name="Text 20"/>
          <p:cNvSpPr txBox="1"/>
          <p:nvPr/>
        </p:nvSpPr>
        <p:spPr>
          <a:xfrm>
            <a:off x="6858000" y="4617720"/>
            <a:ext cx="4846320" cy="402336"/>
          </a:xfrm>
          <a:prstGeom prst="rect">
            <a:avLst/>
          </a:prstGeom>
          <a:noFill/>
          <a:ln/>
        </p:spPr>
        <p:txBody>
          <a:bodyPr wrap="square" lIns="0" tIns="0" rIns="0" bIns="0" rtlCol="0" anchor="ctr"/>
          <a:lstStyle/>
          <a:p>
            <a:pPr indent="0" marL="0">
              <a:buNone/>
            </a:pPr>
            <a:r>
              <a:rPr lang="en-US" sz="1400" dirty="0">
                <a:solidFill>
                  <a:schemeClr val="tx1"/>
                </a:solidFill>
              </a:rPr>
              <a:t>An unverified appeal is never called a scam on its own.</a:t>
            </a:r>
            <a:endParaRPr lang="en-US" sz="1400" dirty="0"/>
          </a:p>
        </p:txBody>
      </p:sp>
      <p:pic>
        <p:nvPicPr>
          <p:cNvPr id="32" name="Image 9" descr="preencoded.png">    </p:cNvPr>
          <p:cNvPicPr>
            <a:picLocks noChangeAspect="1"/>
          </p:cNvPicPr>
          <p:nvPr/>
        </p:nvPicPr>
        <p:blipFill>
          <a:blip r:embed="rId10"/>
          <a:stretch>
            <a:fillRect/>
          </a:stretch>
        </p:blipFill>
        <p:spPr>
          <a:xfrm>
            <a:off x="868680" y="5358384"/>
            <a:ext cx="292608" cy="292608"/>
          </a:xfrm>
          <a:prstGeom prst="rect">
            <a:avLst/>
          </a:prstGeom>
        </p:spPr>
      </p:pic>
      <p:sp>
        <p:nvSpPr>
          <p:cNvPr id="33" name="Text 21"/>
          <p:cNvSpPr txBox="1"/>
          <p:nvPr/>
        </p:nvSpPr>
        <p:spPr>
          <a:xfrm>
            <a:off x="1325880" y="5303520"/>
            <a:ext cx="4846320" cy="402336"/>
          </a:xfrm>
          <a:prstGeom prst="rect">
            <a:avLst/>
          </a:prstGeom>
          <a:noFill/>
          <a:ln/>
        </p:spPr>
        <p:txBody>
          <a:bodyPr wrap="square" lIns="0" tIns="0" rIns="0" bIns="0" rtlCol="0" anchor="ctr"/>
          <a:lstStyle/>
          <a:p>
            <a:pPr indent="0" marL="0">
              <a:buNone/>
            </a:pPr>
            <a:r>
              <a:rPr lang="en-US" sz="1400" dirty="0">
                <a:solidFill>
                  <a:schemeClr val="tx1"/>
                </a:solidFill>
              </a:rPr>
              <a:t>Citizens see their own request and the public map only.</a:t>
            </a:r>
            <a:endParaRPr lang="en-US" sz="1400" dirty="0"/>
          </a:p>
        </p:txBody>
      </p:sp>
      <p:pic>
        <p:nvPicPr>
          <p:cNvPr id="34" name="Image 10" descr="preencoded.png">    </p:cNvPr>
          <p:cNvPicPr>
            <a:picLocks noChangeAspect="1"/>
          </p:cNvPicPr>
          <p:nvPr/>
        </p:nvPicPr>
        <p:blipFill>
          <a:blip r:embed="rId11"/>
          <a:stretch>
            <a:fillRect/>
          </a:stretch>
        </p:blipFill>
        <p:spPr>
          <a:xfrm>
            <a:off x="6400800" y="5358384"/>
            <a:ext cx="292608" cy="292608"/>
          </a:xfrm>
          <a:prstGeom prst="rect">
            <a:avLst/>
          </a:prstGeom>
        </p:spPr>
      </p:pic>
      <p:sp>
        <p:nvSpPr>
          <p:cNvPr id="35" name="Text 22"/>
          <p:cNvSpPr txBox="1"/>
          <p:nvPr/>
        </p:nvSpPr>
        <p:spPr>
          <a:xfrm>
            <a:off x="6858000" y="5303520"/>
            <a:ext cx="4846320" cy="402336"/>
          </a:xfrm>
          <a:prstGeom prst="rect">
            <a:avLst/>
          </a:prstGeom>
          <a:noFill/>
          <a:ln/>
        </p:spPr>
        <p:txBody>
          <a:bodyPr wrap="square" lIns="0" tIns="0" rIns="0" bIns="0" rtlCol="0" anchor="ctr"/>
          <a:lstStyle/>
          <a:p>
            <a:pPr indent="0" marL="0">
              <a:buNone/>
            </a:pPr>
            <a:r>
              <a:rPr lang="en-US" sz="1400" dirty="0">
                <a:solidFill>
                  <a:schemeClr val="tx1"/>
                </a:solidFill>
              </a:rPr>
              <a:t>Every status is written as a word. Colour only helps.</a:t>
            </a:r>
            <a:endParaRPr lang="en-US" sz="14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RESULTS</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Tested on a full storm night</a:t>
            </a:r>
            <a:endParaRPr lang="en-US" sz="3400" dirty="0"/>
          </a:p>
        </p:txBody>
      </p:sp>
      <p:sp>
        <p:nvSpPr>
          <p:cNvPr id="4" name="Shape 2"/>
          <p:cNvSpPr/>
          <p:nvPr/>
        </p:nvSpPr>
        <p:spPr>
          <a:xfrm>
            <a:off x="548640" y="1783080"/>
            <a:ext cx="2615184" cy="1600200"/>
          </a:xfrm>
          <a:prstGeom prst="roundRect">
            <a:avLst>
              <a:gd name="adj" fmla="val 6857"/>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5" name="Text 3"/>
          <p:cNvSpPr txBox="1"/>
          <p:nvPr/>
        </p:nvSpPr>
        <p:spPr>
          <a:xfrm>
            <a:off x="777240" y="1920240"/>
            <a:ext cx="2157984" cy="777240"/>
          </a:xfrm>
          <a:prstGeom prst="rect">
            <a:avLst/>
          </a:prstGeom>
          <a:noFill/>
          <a:ln/>
        </p:spPr>
        <p:txBody>
          <a:bodyPr wrap="square" lIns="0" tIns="0" rIns="0" bIns="0" rtlCol="0" anchor="ctr"/>
          <a:lstStyle/>
          <a:p>
            <a:pPr indent="0" marL="0">
              <a:buNone/>
            </a:pPr>
            <a:r>
              <a:rPr lang="en-US" sz="4000" b="1" dirty="0">
                <a:solidFill>
                  <a:schemeClr val="accent1"/>
                </a:solidFill>
              </a:rPr>
              <a:t>94 → 39</a:t>
            </a:r>
            <a:endParaRPr lang="en-US" sz="4000" dirty="0"/>
          </a:p>
        </p:txBody>
      </p:sp>
      <p:sp>
        <p:nvSpPr>
          <p:cNvPr id="6" name="Text 4"/>
          <p:cNvSpPr txBox="1"/>
          <p:nvPr/>
        </p:nvSpPr>
        <p:spPr>
          <a:xfrm>
            <a:off x="777240" y="2697480"/>
            <a:ext cx="2157984" cy="548640"/>
          </a:xfrm>
          <a:prstGeom prst="rect">
            <a:avLst/>
          </a:prstGeom>
          <a:noFill/>
          <a:ln/>
        </p:spPr>
        <p:txBody>
          <a:bodyPr wrap="square" lIns="0" tIns="0" rIns="0" bIns="0" rtlCol="0" anchor="t"/>
          <a:lstStyle/>
          <a:p>
            <a:pPr indent="0" marL="0">
              <a:buNone/>
            </a:pPr>
            <a:r>
              <a:rPr lang="en-US" sz="1300" dirty="0">
                <a:solidFill>
                  <a:srgbClr val="71717A"/>
                </a:solidFill>
              </a:rPr>
              <a:t>messages became household incidents</a:t>
            </a:r>
            <a:endParaRPr lang="en-US" sz="1300" dirty="0"/>
          </a:p>
        </p:txBody>
      </p:sp>
      <p:sp>
        <p:nvSpPr>
          <p:cNvPr id="7" name="Shape 5"/>
          <p:cNvSpPr/>
          <p:nvPr/>
        </p:nvSpPr>
        <p:spPr>
          <a:xfrm>
            <a:off x="3364992" y="1783080"/>
            <a:ext cx="2615184" cy="1600200"/>
          </a:xfrm>
          <a:prstGeom prst="roundRect">
            <a:avLst>
              <a:gd name="adj" fmla="val 6857"/>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8" name="Text 6"/>
          <p:cNvSpPr txBox="1"/>
          <p:nvPr/>
        </p:nvSpPr>
        <p:spPr>
          <a:xfrm>
            <a:off x="3593592" y="1920240"/>
            <a:ext cx="2157984" cy="777240"/>
          </a:xfrm>
          <a:prstGeom prst="rect">
            <a:avLst/>
          </a:prstGeom>
          <a:noFill/>
          <a:ln/>
        </p:spPr>
        <p:txBody>
          <a:bodyPr wrap="square" lIns="0" tIns="0" rIns="0" bIns="0" rtlCol="0" anchor="ctr"/>
          <a:lstStyle/>
          <a:p>
            <a:pPr indent="0" marL="0">
              <a:buNone/>
            </a:pPr>
            <a:r>
              <a:rPr lang="en-US" sz="4000" b="1" dirty="0">
                <a:solidFill>
                  <a:schemeClr val="accent3"/>
                </a:solidFill>
              </a:rPr>
              <a:t>25</a:t>
            </a:r>
            <a:endParaRPr lang="en-US" sz="4000" dirty="0"/>
          </a:p>
        </p:txBody>
      </p:sp>
      <p:sp>
        <p:nvSpPr>
          <p:cNvPr id="9" name="Text 7"/>
          <p:cNvSpPr txBox="1"/>
          <p:nvPr/>
        </p:nvSpPr>
        <p:spPr>
          <a:xfrm>
            <a:off x="3593592" y="2697480"/>
            <a:ext cx="2157984" cy="548640"/>
          </a:xfrm>
          <a:prstGeom prst="rect">
            <a:avLst/>
          </a:prstGeom>
          <a:noFill/>
          <a:ln/>
        </p:spPr>
        <p:txBody>
          <a:bodyPr wrap="square" lIns="0" tIns="0" rIns="0" bIns="0" rtlCol="0" anchor="t"/>
          <a:lstStyle/>
          <a:p>
            <a:pPr indent="0" marL="0">
              <a:buNone/>
            </a:pPr>
            <a:r>
              <a:rPr lang="en-US" sz="1300" dirty="0">
                <a:solidFill>
                  <a:srgbClr val="71717A"/>
                </a:solidFill>
              </a:rPr>
              <a:t>repeat calls avoided</a:t>
            </a:r>
            <a:endParaRPr lang="en-US" sz="1300" dirty="0"/>
          </a:p>
        </p:txBody>
      </p:sp>
      <p:sp>
        <p:nvSpPr>
          <p:cNvPr id="10" name="Shape 8"/>
          <p:cNvSpPr/>
          <p:nvPr/>
        </p:nvSpPr>
        <p:spPr>
          <a:xfrm>
            <a:off x="6181344" y="1783080"/>
            <a:ext cx="2615184" cy="1600200"/>
          </a:xfrm>
          <a:prstGeom prst="roundRect">
            <a:avLst>
              <a:gd name="adj" fmla="val 6857"/>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1" name="Text 9"/>
          <p:cNvSpPr txBox="1"/>
          <p:nvPr/>
        </p:nvSpPr>
        <p:spPr>
          <a:xfrm>
            <a:off x="6409944" y="1920240"/>
            <a:ext cx="2157984" cy="777240"/>
          </a:xfrm>
          <a:prstGeom prst="rect">
            <a:avLst/>
          </a:prstGeom>
          <a:noFill/>
          <a:ln/>
        </p:spPr>
        <p:txBody>
          <a:bodyPr wrap="square" lIns="0" tIns="0" rIns="0" bIns="0" rtlCol="0" anchor="ctr"/>
          <a:lstStyle/>
          <a:p>
            <a:pPr indent="0" marL="0">
              <a:buNone/>
            </a:pPr>
            <a:r>
              <a:rPr lang="en-US" sz="4000" b="1" dirty="0">
                <a:solidFill>
                  <a:schemeClr val="accent2"/>
                </a:solidFill>
              </a:rPr>
              <a:t>100%</a:t>
            </a:r>
            <a:endParaRPr lang="en-US" sz="4000" dirty="0"/>
          </a:p>
        </p:txBody>
      </p:sp>
      <p:sp>
        <p:nvSpPr>
          <p:cNvPr id="12" name="Text 10"/>
          <p:cNvSpPr txBox="1"/>
          <p:nvPr/>
        </p:nvSpPr>
        <p:spPr>
          <a:xfrm>
            <a:off x="6409944" y="2697480"/>
            <a:ext cx="2157984" cy="548640"/>
          </a:xfrm>
          <a:prstGeom prst="rect">
            <a:avLst/>
          </a:prstGeom>
          <a:noFill/>
          <a:ln/>
        </p:spPr>
        <p:txBody>
          <a:bodyPr wrap="square" lIns="0" tIns="0" rIns="0" bIns="0" rtlCol="0" anchor="t"/>
          <a:lstStyle/>
          <a:p>
            <a:pPr indent="0" marL="0">
              <a:buNone/>
            </a:pPr>
            <a:r>
              <a:rPr lang="en-US" sz="1300" dirty="0">
                <a:solidFill>
                  <a:srgbClr val="71717A"/>
                </a:solidFill>
              </a:rPr>
              <a:t>merge precision: no wrong merges</a:t>
            </a:r>
            <a:endParaRPr lang="en-US" sz="1300" dirty="0"/>
          </a:p>
        </p:txBody>
      </p:sp>
      <p:sp>
        <p:nvSpPr>
          <p:cNvPr id="13" name="Shape 11"/>
          <p:cNvSpPr/>
          <p:nvPr/>
        </p:nvSpPr>
        <p:spPr>
          <a:xfrm>
            <a:off x="8997696" y="1783080"/>
            <a:ext cx="2615184" cy="1600200"/>
          </a:xfrm>
          <a:prstGeom prst="roundRect">
            <a:avLst>
              <a:gd name="adj" fmla="val 6857"/>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4" name="Text 12"/>
          <p:cNvSpPr txBox="1"/>
          <p:nvPr/>
        </p:nvSpPr>
        <p:spPr>
          <a:xfrm>
            <a:off x="9226296" y="1920240"/>
            <a:ext cx="2157984" cy="777240"/>
          </a:xfrm>
          <a:prstGeom prst="rect">
            <a:avLst/>
          </a:prstGeom>
          <a:noFill/>
          <a:ln/>
        </p:spPr>
        <p:txBody>
          <a:bodyPr wrap="square" lIns="0" tIns="0" rIns="0" bIns="0" rtlCol="0" anchor="ctr"/>
          <a:lstStyle/>
          <a:p>
            <a:pPr indent="0" marL="0">
              <a:buNone/>
            </a:pPr>
            <a:r>
              <a:rPr lang="en-US" sz="4000" b="1" dirty="0">
                <a:solidFill>
                  <a:schemeClr val="accent4"/>
                </a:solidFill>
              </a:rPr>
              <a:t>70%</a:t>
            </a:r>
            <a:endParaRPr lang="en-US" sz="4000" dirty="0"/>
          </a:p>
        </p:txBody>
      </p:sp>
      <p:sp>
        <p:nvSpPr>
          <p:cNvPr id="15" name="Text 13"/>
          <p:cNvSpPr txBox="1"/>
          <p:nvPr/>
        </p:nvSpPr>
        <p:spPr>
          <a:xfrm>
            <a:off x="9226296" y="2697480"/>
            <a:ext cx="2157984" cy="548640"/>
          </a:xfrm>
          <a:prstGeom prst="rect">
            <a:avLst/>
          </a:prstGeom>
          <a:noFill/>
          <a:ln/>
        </p:spPr>
        <p:txBody>
          <a:bodyPr wrap="square" lIns="0" tIns="0" rIns="0" bIns="0" rtlCol="0" anchor="t"/>
          <a:lstStyle/>
          <a:p>
            <a:pPr indent="0" marL="0">
              <a:buNone/>
            </a:pPr>
            <a:r>
              <a:rPr lang="en-US" sz="1300" dirty="0">
                <a:solidFill>
                  <a:srgbClr val="71717A"/>
                </a:solidFill>
              </a:rPr>
              <a:t>of 20 labelled appeals judged correctly</a:t>
            </a:r>
            <a:endParaRPr lang="en-US" sz="1300" dirty="0"/>
          </a:p>
        </p:txBody>
      </p:sp>
      <p:graphicFrame>
        <p:nvGraphicFramePr>
          <p:cNvPr id="16" name="Chart 0" descr=""/>
          <p:cNvGraphicFramePr/>
          <p:nvPr/>
        </p:nvGraphicFramePr>
        <p:xfrm>
          <a:off x="548640" y="3611880"/>
          <a:ext cx="6675120" cy="2514600"/>
        </p:xfrm>
        <a:graphic xmlns:a="http://schemas.openxmlformats.org/drawingml/2006/main">
          <a:graphicData uri="http://schemas.openxmlformats.org/drawingml/2006/chart">
            <c:chart xmlns:c="http://schemas.openxmlformats.org/drawingml/2006/chart" r:id="rId1"/>
          </a:graphicData>
        </a:graphic>
      </p:graphicFrame>
      <p:sp>
        <p:nvSpPr>
          <p:cNvPr id="17" name="Shape 14"/>
          <p:cNvSpPr/>
          <p:nvPr/>
        </p:nvSpPr>
        <p:spPr>
          <a:xfrm>
            <a:off x="7498080" y="3611880"/>
            <a:ext cx="4142232" cy="2514600"/>
          </a:xfrm>
          <a:prstGeom prst="roundRect">
            <a:avLst>
              <a:gd name="adj" fmla="val 4364"/>
            </a:avLst>
          </a:prstGeom>
          <a:solidFill>
            <a:schemeClr val="bg2"/>
          </a:solidFill>
          <a:ln/>
        </p:spPr>
      </p:sp>
      <p:sp>
        <p:nvSpPr>
          <p:cNvPr id="18" name="Text 15"/>
          <p:cNvSpPr txBox="1"/>
          <p:nvPr/>
        </p:nvSpPr>
        <p:spPr>
          <a:xfrm>
            <a:off x="7726680" y="3794760"/>
            <a:ext cx="3657600" cy="365760"/>
          </a:xfrm>
          <a:prstGeom prst="rect">
            <a:avLst/>
          </a:prstGeom>
          <a:noFill/>
          <a:ln/>
        </p:spPr>
        <p:txBody>
          <a:bodyPr wrap="square" lIns="0" tIns="0" rIns="0" bIns="0" rtlCol="0" anchor="ctr"/>
          <a:lstStyle/>
          <a:p>
            <a:pPr indent="0" marL="0">
              <a:buNone/>
            </a:pPr>
            <a:r>
              <a:rPr lang="en-US" sz="1600" b="1" dirty="0">
                <a:solidFill>
                  <a:schemeClr val="tx1"/>
                </a:solidFill>
              </a:rPr>
              <a:t>Read honestly</a:t>
            </a:r>
            <a:endParaRPr lang="en-US" sz="1600" dirty="0"/>
          </a:p>
        </p:txBody>
      </p:sp>
      <p:sp>
        <p:nvSpPr>
          <p:cNvPr id="19" name="Text 16"/>
          <p:cNvSpPr txBox="1"/>
          <p:nvPr/>
        </p:nvSpPr>
        <p:spPr>
          <a:xfrm>
            <a:off x="7726680" y="4206240"/>
            <a:ext cx="3749040" cy="1783080"/>
          </a:xfrm>
          <a:prstGeom prst="rect">
            <a:avLst/>
          </a:prstGeom>
          <a:noFill/>
          <a:ln/>
        </p:spPr>
        <p:txBody>
          <a:bodyPr wrap="square" lIns="0" tIns="0" rIns="0" bIns="0" rtlCol="0" anchor="t"/>
          <a:lstStyle/>
          <a:p>
            <a:pPr marL="342900" indent="-342900">
              <a:spcAft>
                <a:spcPts val="600"/>
              </a:spcAft>
              <a:buSzPct val="100000"/>
              <a:buChar char="•"/>
            </a:pPr>
            <a:r>
              <a:rPr lang="en-US" sz="1300" dirty="0">
                <a:solidFill>
                  <a:srgbClr val="3F3F46"/>
                </a:solidFill>
              </a:rPr>
              <a:t>We chose precision over recall. A missed merge costs one extra call; a wrong merge can hide a family.</a:t>
            </a:r>
            <a:endParaRPr lang="en-US" sz="1300" dirty="0"/>
          </a:p>
          <a:p>
            <a:pPr marL="342900" indent="-342900">
              <a:spcAft>
                <a:spcPts val="600"/>
              </a:spcAft>
              <a:buSzPct val="100000"/>
              <a:buChar char="•"/>
            </a:pPr>
            <a:r>
              <a:rPr lang="en-US" sz="1300" dirty="0">
                <a:solidFill>
                  <a:srgbClr val="3F3F46"/>
                </a:solidFill>
              </a:rPr>
              <a:t>The live night cost US$0.35 for 189 model calls. With every model down, rules alone still save 24 calls.</a:t>
            </a:r>
            <a:endParaRPr lang="en-US" sz="1300" dirty="0"/>
          </a:p>
          <a:p>
            <a:pPr marL="342900" indent="-342900">
              <a:buSzPct val="100000"/>
              <a:buChar char="•"/>
            </a:pPr>
            <a:r>
              <a:rPr lang="en-US" sz="1300" dirty="0">
                <a:solidFill>
                  <a:srgbClr val="3F3F46"/>
                </a:solidFill>
              </a:rPr>
              <a:t>This is our development set, not a held-out benchmark.</a:t>
            </a:r>
            <a:endParaRPr lang="en-US" sz="13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2"/>
          <p:cNvSpPr/>
          <p:nvPr>
            <p:ph idx="103" type="body" hasCustomPrompt="1"/>
          </p:nvPr>
        </p:nvSpPr>
        <p:spPr>
          <a:xfrm>
            <a:off x="548640" y="411480"/>
            <a:ext cx="8229600" cy="292608"/>
          </a:xfrm>
          <a:prstGeom prst="rect">
            <a:avLst/>
          </a:prstGeom>
          <a:noFill/>
          <a:ln/>
        </p:spPr>
        <p:txBody>
          <a:bodyPr wrap="square" lIns="0" tIns="0" rIns="0" bIns="0" rtlCol="0" anchor="ctr"/>
          <a:lstStyle/>
          <a:p>
            <a:pPr indent="0" marL="0">
              <a:buNone/>
            </a:pPr>
            <a:r>
              <a:rPr lang="en-US" sz="1200" b="1" spc="200" kern="0" dirty="0">
                <a:solidFill>
                  <a:schemeClr val="accent1"/>
                </a:solidFill>
              </a:rPr>
              <a:t>WHAT COMES NEXT</a:t>
            </a:r>
            <a:endParaRPr lang="en-US" sz="1200" dirty="0"/>
          </a:p>
        </p:txBody>
      </p:sp>
      <p:sp>
        <p:nvSpPr>
          <p:cNvPr id="3" name="Text 2"/>
          <p:cNvSpPr/>
          <p:nvPr>
            <p:ph idx="104" type="title" hasCustomPrompt="1"/>
          </p:nvPr>
        </p:nvSpPr>
        <p:spPr>
          <a:xfrm>
            <a:off x="548640" y="731520"/>
            <a:ext cx="11064240" cy="777240"/>
          </a:xfrm>
          <a:prstGeom prst="rect">
            <a:avLst/>
          </a:prstGeom>
          <a:noFill/>
          <a:ln/>
        </p:spPr>
        <p:txBody>
          <a:bodyPr wrap="square" lIns="0" tIns="0" rIns="0" bIns="0" rtlCol="0" anchor="ctr"/>
          <a:lstStyle/>
          <a:p>
            <a:pPr algn="l" indent="0" marL="0">
              <a:buNone/>
            </a:pPr>
            <a:r>
              <a:rPr lang="en-US" sz="3400" b="1" dirty="0">
                <a:solidFill>
                  <a:schemeClr val="tx1"/>
                </a:solidFill>
              </a:rPr>
              <a:t>From hackathon build to a pilot division</a:t>
            </a:r>
            <a:endParaRPr lang="en-US" sz="3400" dirty="0"/>
          </a:p>
        </p:txBody>
      </p:sp>
      <p:sp>
        <p:nvSpPr>
          <p:cNvPr id="4" name="Shape 2"/>
          <p:cNvSpPr/>
          <p:nvPr/>
        </p:nvSpPr>
        <p:spPr>
          <a:xfrm>
            <a:off x="548640" y="1783080"/>
            <a:ext cx="2615184" cy="2514600"/>
          </a:xfrm>
          <a:prstGeom prst="roundRect">
            <a:avLst>
              <a:gd name="adj" fmla="val 4364"/>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5" name="Shape 3"/>
          <p:cNvSpPr/>
          <p:nvPr/>
        </p:nvSpPr>
        <p:spPr>
          <a:xfrm>
            <a:off x="777240" y="2011680"/>
            <a:ext cx="548640" cy="548640"/>
          </a:xfrm>
          <a:prstGeom prst="roundRect">
            <a:avLst>
              <a:gd name="adj" fmla="val 28000"/>
            </a:avLst>
          </a:prstGeom>
          <a:solidFill>
            <a:schemeClr val="accent1">
              <a:alpha val="12000"/>
            </a:schemeClr>
          </a:solidFill>
          <a:ln/>
        </p:spPr>
      </p:sp>
      <p:pic>
        <p:nvPicPr>
          <p:cNvPr id="6" name="Image 0" descr="Flag icon">    </p:cNvPr>
          <p:cNvPicPr>
            <a:picLocks noChangeAspect="1"/>
          </p:cNvPicPr>
          <p:nvPr/>
        </p:nvPicPr>
        <p:blipFill>
          <a:blip r:embed="rId1"/>
          <a:stretch>
            <a:fillRect/>
          </a:stretch>
        </p:blipFill>
        <p:spPr>
          <a:xfrm>
            <a:off x="914400" y="2148840"/>
            <a:ext cx="274320" cy="274320"/>
          </a:xfrm>
          <a:prstGeom prst="rect">
            <a:avLst/>
          </a:prstGeom>
        </p:spPr>
      </p:pic>
      <p:sp>
        <p:nvSpPr>
          <p:cNvPr id="7" name="Text 4"/>
          <p:cNvSpPr txBox="1"/>
          <p:nvPr/>
        </p:nvSpPr>
        <p:spPr>
          <a:xfrm>
            <a:off x="2386584" y="2011680"/>
            <a:ext cx="548640" cy="548640"/>
          </a:xfrm>
          <a:prstGeom prst="rect">
            <a:avLst/>
          </a:prstGeom>
          <a:noFill/>
          <a:ln/>
        </p:spPr>
        <p:txBody>
          <a:bodyPr wrap="square" lIns="0" tIns="0" rIns="0" bIns="0" rtlCol="0" anchor="ctr"/>
          <a:lstStyle/>
          <a:p>
            <a:pPr algn="r" indent="0" marL="0">
              <a:buNone/>
            </a:pPr>
            <a:r>
              <a:rPr lang="en-US" sz="1600" b="1" dirty="0">
                <a:solidFill>
                  <a:srgbClr val="D4D4D8"/>
                </a:solidFill>
              </a:rPr>
              <a:t>01</a:t>
            </a:r>
            <a:endParaRPr lang="en-US" sz="1600" dirty="0"/>
          </a:p>
        </p:txBody>
      </p:sp>
      <p:sp>
        <p:nvSpPr>
          <p:cNvPr id="8" name="Text 5"/>
          <p:cNvSpPr txBox="1"/>
          <p:nvPr/>
        </p:nvSpPr>
        <p:spPr>
          <a:xfrm>
            <a:off x="777240" y="2743200"/>
            <a:ext cx="2157984" cy="365760"/>
          </a:xfrm>
          <a:prstGeom prst="rect">
            <a:avLst/>
          </a:prstGeom>
          <a:noFill/>
          <a:ln/>
        </p:spPr>
        <p:txBody>
          <a:bodyPr wrap="square" lIns="0" tIns="0" rIns="0" bIns="0" rtlCol="0" anchor="ctr"/>
          <a:lstStyle/>
          <a:p>
            <a:pPr indent="0" marL="0">
              <a:buNone/>
            </a:pPr>
            <a:r>
              <a:rPr lang="en-US" sz="1700" b="1" dirty="0">
                <a:solidFill>
                  <a:schemeClr val="tx1"/>
                </a:solidFill>
              </a:rPr>
              <a:t>Pilot</a:t>
            </a:r>
            <a:endParaRPr lang="en-US" sz="1700" dirty="0"/>
          </a:p>
        </p:txBody>
      </p:sp>
      <p:sp>
        <p:nvSpPr>
          <p:cNvPr id="9" name="Text 6"/>
          <p:cNvSpPr txBox="1"/>
          <p:nvPr/>
        </p:nvSpPr>
        <p:spPr>
          <a:xfrm>
            <a:off x="777240" y="3154680"/>
            <a:ext cx="2157984" cy="1051560"/>
          </a:xfrm>
          <a:prstGeom prst="rect">
            <a:avLst/>
          </a:prstGeom>
          <a:noFill/>
          <a:ln/>
        </p:spPr>
        <p:txBody>
          <a:bodyPr wrap="square" lIns="0" tIns="0" rIns="0" bIns="0" rtlCol="0" anchor="t"/>
          <a:lstStyle/>
          <a:p>
            <a:pPr indent="0" marL="0">
              <a:buNone/>
            </a:pPr>
            <a:r>
              <a:rPr lang="en-US" sz="1300" dirty="0">
                <a:solidFill>
                  <a:srgbClr val="71717A"/>
                </a:solidFill>
              </a:rPr>
              <a:t>One divisional secretariat in Kegalle, with its Grama Niladhari officers on the officer portal.</a:t>
            </a:r>
            <a:endParaRPr lang="en-US" sz="1300" dirty="0"/>
          </a:p>
        </p:txBody>
      </p:sp>
      <p:sp>
        <p:nvSpPr>
          <p:cNvPr id="10" name="Shape 7"/>
          <p:cNvSpPr/>
          <p:nvPr/>
        </p:nvSpPr>
        <p:spPr>
          <a:xfrm>
            <a:off x="3364992" y="1783080"/>
            <a:ext cx="2615184" cy="2514600"/>
          </a:xfrm>
          <a:prstGeom prst="roundRect">
            <a:avLst>
              <a:gd name="adj" fmla="val 4364"/>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1" name="Shape 8"/>
          <p:cNvSpPr/>
          <p:nvPr/>
        </p:nvSpPr>
        <p:spPr>
          <a:xfrm>
            <a:off x="3593592" y="2011680"/>
            <a:ext cx="548640" cy="548640"/>
          </a:xfrm>
          <a:prstGeom prst="roundRect">
            <a:avLst>
              <a:gd name="adj" fmla="val 28000"/>
            </a:avLst>
          </a:prstGeom>
          <a:solidFill>
            <a:schemeClr val="accent2">
              <a:alpha val="12000"/>
            </a:schemeClr>
          </a:solidFill>
          <a:ln/>
        </p:spPr>
      </p:sp>
      <p:pic>
        <p:nvPicPr>
          <p:cNvPr id="12" name="Image 1" descr="Database icon">    </p:cNvPr>
          <p:cNvPicPr>
            <a:picLocks noChangeAspect="1"/>
          </p:cNvPicPr>
          <p:nvPr/>
        </p:nvPicPr>
        <p:blipFill>
          <a:blip r:embed="rId2"/>
          <a:stretch>
            <a:fillRect/>
          </a:stretch>
        </p:blipFill>
        <p:spPr>
          <a:xfrm>
            <a:off x="3730752" y="2148840"/>
            <a:ext cx="274320" cy="274320"/>
          </a:xfrm>
          <a:prstGeom prst="rect">
            <a:avLst/>
          </a:prstGeom>
        </p:spPr>
      </p:pic>
      <p:sp>
        <p:nvSpPr>
          <p:cNvPr id="13" name="Text 9"/>
          <p:cNvSpPr txBox="1"/>
          <p:nvPr/>
        </p:nvSpPr>
        <p:spPr>
          <a:xfrm>
            <a:off x="5202936" y="2011680"/>
            <a:ext cx="548640" cy="548640"/>
          </a:xfrm>
          <a:prstGeom prst="rect">
            <a:avLst/>
          </a:prstGeom>
          <a:noFill/>
          <a:ln/>
        </p:spPr>
        <p:txBody>
          <a:bodyPr wrap="square" lIns="0" tIns="0" rIns="0" bIns="0" rtlCol="0" anchor="ctr"/>
          <a:lstStyle/>
          <a:p>
            <a:pPr algn="r" indent="0" marL="0">
              <a:buNone/>
            </a:pPr>
            <a:r>
              <a:rPr lang="en-US" sz="1600" b="1" dirty="0">
                <a:solidFill>
                  <a:srgbClr val="D4D4D8"/>
                </a:solidFill>
              </a:rPr>
              <a:t>02</a:t>
            </a:r>
            <a:endParaRPr lang="en-US" sz="1600" dirty="0"/>
          </a:p>
        </p:txBody>
      </p:sp>
      <p:sp>
        <p:nvSpPr>
          <p:cNvPr id="14" name="Text 10"/>
          <p:cNvSpPr txBox="1"/>
          <p:nvPr/>
        </p:nvSpPr>
        <p:spPr>
          <a:xfrm>
            <a:off x="3593592" y="2743200"/>
            <a:ext cx="2157984" cy="365760"/>
          </a:xfrm>
          <a:prstGeom prst="rect">
            <a:avLst/>
          </a:prstGeom>
          <a:noFill/>
          <a:ln/>
        </p:spPr>
        <p:txBody>
          <a:bodyPr wrap="square" lIns="0" tIns="0" rIns="0" bIns="0" rtlCol="0" anchor="ctr"/>
          <a:lstStyle/>
          <a:p>
            <a:pPr indent="0" marL="0">
              <a:buNone/>
            </a:pPr>
            <a:r>
              <a:rPr lang="en-US" sz="1700" b="1" dirty="0">
                <a:solidFill>
                  <a:schemeClr val="tx1"/>
                </a:solidFill>
              </a:rPr>
              <a:t>Verified registries</a:t>
            </a:r>
            <a:endParaRPr lang="en-US" sz="1700" dirty="0"/>
          </a:p>
        </p:txBody>
      </p:sp>
      <p:sp>
        <p:nvSpPr>
          <p:cNvPr id="15" name="Text 11"/>
          <p:cNvSpPr txBox="1"/>
          <p:nvPr/>
        </p:nvSpPr>
        <p:spPr>
          <a:xfrm>
            <a:off x="3593592" y="3154680"/>
            <a:ext cx="2157984" cy="1051560"/>
          </a:xfrm>
          <a:prstGeom prst="rect">
            <a:avLst/>
          </a:prstGeom>
          <a:noFill/>
          <a:ln/>
        </p:spPr>
        <p:txBody>
          <a:bodyPr wrap="square" lIns="0" tIns="0" rIns="0" bIns="0" rtlCol="0" anchor="t"/>
          <a:lstStyle/>
          <a:p>
            <a:pPr indent="0" marL="0">
              <a:buNone/>
            </a:pPr>
            <a:r>
              <a:rPr lang="en-US" sz="1300" dirty="0">
                <a:solidFill>
                  <a:srgbClr val="71717A"/>
                </a:solidFill>
              </a:rPr>
              <a:t>Connect official relief groups, bank accounts and bulletins instead of our sample registry.</a:t>
            </a:r>
            <a:endParaRPr lang="en-US" sz="1300" dirty="0"/>
          </a:p>
        </p:txBody>
      </p:sp>
      <p:sp>
        <p:nvSpPr>
          <p:cNvPr id="16" name="Shape 12"/>
          <p:cNvSpPr/>
          <p:nvPr/>
        </p:nvSpPr>
        <p:spPr>
          <a:xfrm>
            <a:off x="6181344" y="1783080"/>
            <a:ext cx="2615184" cy="2514600"/>
          </a:xfrm>
          <a:prstGeom prst="roundRect">
            <a:avLst>
              <a:gd name="adj" fmla="val 4364"/>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17" name="Shape 13"/>
          <p:cNvSpPr/>
          <p:nvPr/>
        </p:nvSpPr>
        <p:spPr>
          <a:xfrm>
            <a:off x="6409944" y="2011680"/>
            <a:ext cx="548640" cy="548640"/>
          </a:xfrm>
          <a:prstGeom prst="roundRect">
            <a:avLst>
              <a:gd name="adj" fmla="val 28000"/>
            </a:avLst>
          </a:prstGeom>
          <a:solidFill>
            <a:schemeClr val="accent3">
              <a:alpha val="12000"/>
            </a:schemeClr>
          </a:solidFill>
          <a:ln/>
        </p:spPr>
      </p:sp>
      <p:pic>
        <p:nvPicPr>
          <p:cNvPr id="18" name="Image 2" descr="Radio icon">    </p:cNvPr>
          <p:cNvPicPr>
            <a:picLocks noChangeAspect="1"/>
          </p:cNvPicPr>
          <p:nvPr/>
        </p:nvPicPr>
        <p:blipFill>
          <a:blip r:embed="rId3"/>
          <a:stretch>
            <a:fillRect/>
          </a:stretch>
        </p:blipFill>
        <p:spPr>
          <a:xfrm>
            <a:off x="6547104" y="2148840"/>
            <a:ext cx="274320" cy="274320"/>
          </a:xfrm>
          <a:prstGeom prst="rect">
            <a:avLst/>
          </a:prstGeom>
        </p:spPr>
      </p:pic>
      <p:sp>
        <p:nvSpPr>
          <p:cNvPr id="19" name="Text 14"/>
          <p:cNvSpPr txBox="1"/>
          <p:nvPr/>
        </p:nvSpPr>
        <p:spPr>
          <a:xfrm>
            <a:off x="8019288" y="2011680"/>
            <a:ext cx="548640" cy="548640"/>
          </a:xfrm>
          <a:prstGeom prst="rect">
            <a:avLst/>
          </a:prstGeom>
          <a:noFill/>
          <a:ln/>
        </p:spPr>
        <p:txBody>
          <a:bodyPr wrap="square" lIns="0" tIns="0" rIns="0" bIns="0" rtlCol="0" anchor="ctr"/>
          <a:lstStyle/>
          <a:p>
            <a:pPr algn="r" indent="0" marL="0">
              <a:buNone/>
            </a:pPr>
            <a:r>
              <a:rPr lang="en-US" sz="1600" b="1" dirty="0">
                <a:solidFill>
                  <a:srgbClr val="D4D4D8"/>
                </a:solidFill>
              </a:rPr>
              <a:t>03</a:t>
            </a:r>
            <a:endParaRPr lang="en-US" sz="1600" dirty="0"/>
          </a:p>
        </p:txBody>
      </p:sp>
      <p:sp>
        <p:nvSpPr>
          <p:cNvPr id="20" name="Text 15"/>
          <p:cNvSpPr txBox="1"/>
          <p:nvPr/>
        </p:nvSpPr>
        <p:spPr>
          <a:xfrm>
            <a:off x="6409944" y="2743200"/>
            <a:ext cx="2157984" cy="365760"/>
          </a:xfrm>
          <a:prstGeom prst="rect">
            <a:avLst/>
          </a:prstGeom>
          <a:noFill/>
          <a:ln/>
        </p:spPr>
        <p:txBody>
          <a:bodyPr wrap="square" lIns="0" tIns="0" rIns="0" bIns="0" rtlCol="0" anchor="ctr"/>
          <a:lstStyle/>
          <a:p>
            <a:pPr indent="0" marL="0">
              <a:buNone/>
            </a:pPr>
            <a:r>
              <a:rPr lang="en-US" sz="1700" b="1" dirty="0">
                <a:solidFill>
                  <a:schemeClr val="tx1"/>
                </a:solidFill>
              </a:rPr>
              <a:t>Real channels</a:t>
            </a:r>
            <a:endParaRPr lang="en-US" sz="1700" dirty="0"/>
          </a:p>
        </p:txBody>
      </p:sp>
      <p:sp>
        <p:nvSpPr>
          <p:cNvPr id="21" name="Text 16"/>
          <p:cNvSpPr txBox="1"/>
          <p:nvPr/>
        </p:nvSpPr>
        <p:spPr>
          <a:xfrm>
            <a:off x="6409944" y="3154680"/>
            <a:ext cx="2157984" cy="1051560"/>
          </a:xfrm>
          <a:prstGeom prst="rect">
            <a:avLst/>
          </a:prstGeom>
          <a:noFill/>
          <a:ln/>
        </p:spPr>
        <p:txBody>
          <a:bodyPr wrap="square" lIns="0" tIns="0" rIns="0" bIns="0" rtlCol="0" anchor="t"/>
          <a:lstStyle/>
          <a:p>
            <a:pPr indent="0" marL="0">
              <a:buNone/>
            </a:pPr>
            <a:r>
              <a:rPr lang="en-US" sz="1300" dirty="0">
                <a:solidFill>
                  <a:srgbClr val="71717A"/>
                </a:solidFill>
              </a:rPr>
              <a:t>SMS short code, WhatsApp Business and the hotline feeding the same intake.</a:t>
            </a:r>
            <a:endParaRPr lang="en-US" sz="1300" dirty="0"/>
          </a:p>
        </p:txBody>
      </p:sp>
      <p:sp>
        <p:nvSpPr>
          <p:cNvPr id="22" name="Shape 17"/>
          <p:cNvSpPr/>
          <p:nvPr/>
        </p:nvSpPr>
        <p:spPr>
          <a:xfrm>
            <a:off x="8997696" y="1783080"/>
            <a:ext cx="2615184" cy="2514600"/>
          </a:xfrm>
          <a:prstGeom prst="roundRect">
            <a:avLst>
              <a:gd name="adj" fmla="val 4364"/>
            </a:avLst>
          </a:prstGeom>
          <a:solidFill>
            <a:schemeClr val="bg1"/>
          </a:solidFill>
          <a:ln w="9525">
            <a:solidFill>
              <a:srgbClr val="E4E4E7"/>
            </a:solidFill>
            <a:prstDash val="solid"/>
          </a:ln>
          <a:effectLst>
            <a:outerShdw sx="100000" sy="100000" kx="0" ky="0" algn="bl" rotWithShape="0" blurRad="127000" dist="25400" dir="5400000">
              <a:srgbClr val="000000">
                <a:alpha val="7000"/>
              </a:srgbClr>
            </a:outerShdw>
          </a:effectLst>
        </p:spPr>
      </p:sp>
      <p:sp>
        <p:nvSpPr>
          <p:cNvPr id="23" name="Shape 18"/>
          <p:cNvSpPr/>
          <p:nvPr/>
        </p:nvSpPr>
        <p:spPr>
          <a:xfrm>
            <a:off x="9226296" y="2011680"/>
            <a:ext cx="548640" cy="548640"/>
          </a:xfrm>
          <a:prstGeom prst="roundRect">
            <a:avLst>
              <a:gd name="adj" fmla="val 28000"/>
            </a:avLst>
          </a:prstGeom>
          <a:solidFill>
            <a:schemeClr val="accent4">
              <a:alpha val="12000"/>
            </a:schemeClr>
          </a:solidFill>
          <a:ln/>
        </p:spPr>
      </p:sp>
      <p:pic>
        <p:nvPicPr>
          <p:cNvPr id="24" name="Image 3" descr="Lock icon">    </p:cNvPr>
          <p:cNvPicPr>
            <a:picLocks noChangeAspect="1"/>
          </p:cNvPicPr>
          <p:nvPr/>
        </p:nvPicPr>
        <p:blipFill>
          <a:blip r:embed="rId4"/>
          <a:stretch>
            <a:fillRect/>
          </a:stretch>
        </p:blipFill>
        <p:spPr>
          <a:xfrm>
            <a:off x="9363456" y="2148840"/>
            <a:ext cx="274320" cy="274320"/>
          </a:xfrm>
          <a:prstGeom prst="rect">
            <a:avLst/>
          </a:prstGeom>
        </p:spPr>
      </p:pic>
      <p:sp>
        <p:nvSpPr>
          <p:cNvPr id="25" name="Text 19"/>
          <p:cNvSpPr txBox="1"/>
          <p:nvPr/>
        </p:nvSpPr>
        <p:spPr>
          <a:xfrm>
            <a:off x="10835640" y="2011680"/>
            <a:ext cx="548640" cy="548640"/>
          </a:xfrm>
          <a:prstGeom prst="rect">
            <a:avLst/>
          </a:prstGeom>
          <a:noFill/>
          <a:ln/>
        </p:spPr>
        <p:txBody>
          <a:bodyPr wrap="square" lIns="0" tIns="0" rIns="0" bIns="0" rtlCol="0" anchor="ctr"/>
          <a:lstStyle/>
          <a:p>
            <a:pPr algn="r" indent="0" marL="0">
              <a:buNone/>
            </a:pPr>
            <a:r>
              <a:rPr lang="en-US" sz="1600" b="1" dirty="0">
                <a:solidFill>
                  <a:srgbClr val="D4D4D8"/>
                </a:solidFill>
              </a:rPr>
              <a:t>04</a:t>
            </a:r>
            <a:endParaRPr lang="en-US" sz="1600" dirty="0"/>
          </a:p>
        </p:txBody>
      </p:sp>
      <p:sp>
        <p:nvSpPr>
          <p:cNvPr id="26" name="Text 20"/>
          <p:cNvSpPr txBox="1"/>
          <p:nvPr/>
        </p:nvSpPr>
        <p:spPr>
          <a:xfrm>
            <a:off x="9226296" y="2743200"/>
            <a:ext cx="2157984" cy="365760"/>
          </a:xfrm>
          <a:prstGeom prst="rect">
            <a:avLst/>
          </a:prstGeom>
          <a:noFill/>
          <a:ln/>
        </p:spPr>
        <p:txBody>
          <a:bodyPr wrap="square" lIns="0" tIns="0" rIns="0" bIns="0" rtlCol="0" anchor="ctr"/>
          <a:lstStyle/>
          <a:p>
            <a:pPr indent="0" marL="0">
              <a:buNone/>
            </a:pPr>
            <a:r>
              <a:rPr lang="en-US" sz="1700" b="1" dirty="0">
                <a:solidFill>
                  <a:schemeClr val="tx1"/>
                </a:solidFill>
              </a:rPr>
              <a:t>Access control</a:t>
            </a:r>
            <a:endParaRPr lang="en-US" sz="1700" dirty="0"/>
          </a:p>
        </p:txBody>
      </p:sp>
      <p:sp>
        <p:nvSpPr>
          <p:cNvPr id="27" name="Text 21"/>
          <p:cNvSpPr txBox="1"/>
          <p:nvPr/>
        </p:nvSpPr>
        <p:spPr>
          <a:xfrm>
            <a:off x="9226296" y="3154680"/>
            <a:ext cx="2157984" cy="1051560"/>
          </a:xfrm>
          <a:prstGeom prst="rect">
            <a:avLst/>
          </a:prstGeom>
          <a:noFill/>
          <a:ln/>
        </p:spPr>
        <p:txBody>
          <a:bodyPr wrap="square" lIns="0" tIns="0" rIns="0" bIns="0" rtlCol="0" anchor="t"/>
          <a:lstStyle/>
          <a:p>
            <a:pPr indent="0" marL="0">
              <a:buNone/>
            </a:pPr>
            <a:r>
              <a:rPr lang="en-US" sz="1300" dirty="0">
                <a:solidFill>
                  <a:srgbClr val="71717A"/>
                </a:solidFill>
              </a:rPr>
              <a:t>Authenticated roles for each portal, replacing today's role picker.</a:t>
            </a:r>
            <a:endParaRPr lang="en-US" sz="1300" dirty="0"/>
          </a:p>
        </p:txBody>
      </p:sp>
      <p:sp>
        <p:nvSpPr>
          <p:cNvPr id="28" name="Shape 22"/>
          <p:cNvSpPr/>
          <p:nvPr/>
        </p:nvSpPr>
        <p:spPr>
          <a:xfrm>
            <a:off x="548640" y="4572000"/>
            <a:ext cx="11094415" cy="1508760"/>
          </a:xfrm>
          <a:prstGeom prst="roundRect">
            <a:avLst>
              <a:gd name="adj" fmla="val 7273"/>
            </a:avLst>
          </a:prstGeom>
          <a:solidFill>
            <a:schemeClr val="accent4">
              <a:alpha val="8000"/>
            </a:schemeClr>
          </a:solidFill>
          <a:ln w="9525">
            <a:solidFill>
              <a:srgbClr val="FDE68A"/>
            </a:solidFill>
            <a:prstDash val="solid"/>
          </a:ln>
        </p:spPr>
      </p:sp>
      <p:sp>
        <p:nvSpPr>
          <p:cNvPr id="29" name="Shape 23"/>
          <p:cNvSpPr/>
          <p:nvPr/>
        </p:nvSpPr>
        <p:spPr>
          <a:xfrm>
            <a:off x="822960" y="4846320"/>
            <a:ext cx="548640" cy="548640"/>
          </a:xfrm>
          <a:prstGeom prst="roundRect">
            <a:avLst>
              <a:gd name="adj" fmla="val 28000"/>
            </a:avLst>
          </a:prstGeom>
          <a:solidFill>
            <a:schemeClr val="accent4"/>
          </a:solidFill>
          <a:ln/>
        </p:spPr>
      </p:sp>
      <p:pic>
        <p:nvPicPr>
          <p:cNvPr id="30" name="Image 4" descr="TriangleAlert icon">    </p:cNvPr>
          <p:cNvPicPr>
            <a:picLocks noChangeAspect="1"/>
          </p:cNvPicPr>
          <p:nvPr/>
        </p:nvPicPr>
        <p:blipFill>
          <a:blip r:embed="rId5"/>
          <a:stretch>
            <a:fillRect/>
          </a:stretch>
        </p:blipFill>
        <p:spPr>
          <a:xfrm>
            <a:off x="960120" y="4983480"/>
            <a:ext cx="274320" cy="274320"/>
          </a:xfrm>
          <a:prstGeom prst="rect">
            <a:avLst/>
          </a:prstGeom>
        </p:spPr>
      </p:pic>
      <p:sp>
        <p:nvSpPr>
          <p:cNvPr id="31" name="Text 24"/>
          <p:cNvSpPr txBox="1"/>
          <p:nvPr/>
        </p:nvSpPr>
        <p:spPr>
          <a:xfrm>
            <a:off x="1600200" y="4754880"/>
            <a:ext cx="9144000" cy="365760"/>
          </a:xfrm>
          <a:prstGeom prst="rect">
            <a:avLst/>
          </a:prstGeom>
          <a:noFill/>
          <a:ln/>
        </p:spPr>
        <p:txBody>
          <a:bodyPr wrap="square" lIns="0" tIns="0" rIns="0" bIns="0" rtlCol="0" anchor="ctr"/>
          <a:lstStyle/>
          <a:p>
            <a:pPr indent="0" marL="0">
              <a:buNone/>
            </a:pPr>
            <a:r>
              <a:rPr lang="en-US" sz="1600" b="1" dirty="0">
                <a:solidFill>
                  <a:schemeClr val="tx1"/>
                </a:solidFill>
              </a:rPr>
              <a:t>Practical boundaries we state up front</a:t>
            </a:r>
            <a:endParaRPr lang="en-US" sz="1600" dirty="0"/>
          </a:p>
        </p:txBody>
      </p:sp>
      <p:sp>
        <p:nvSpPr>
          <p:cNvPr id="32" name="Text 25"/>
          <p:cNvSpPr txBox="1"/>
          <p:nvPr/>
        </p:nvSpPr>
        <p:spPr>
          <a:xfrm>
            <a:off x="1600200" y="5138928"/>
            <a:ext cx="9829800" cy="822960"/>
          </a:xfrm>
          <a:prstGeom prst="rect">
            <a:avLst/>
          </a:prstGeom>
          <a:noFill/>
          <a:ln/>
        </p:spPr>
        <p:txBody>
          <a:bodyPr wrap="square" lIns="0" tIns="0" rIns="0" bIns="0" rtlCol="0" anchor="t"/>
          <a:lstStyle/>
          <a:p>
            <a:pPr indent="0" marL="0">
              <a:buNone/>
            </a:pPr>
            <a:r>
              <a:rPr lang="en-US" sz="1300" dirty="0">
                <a:solidFill>
                  <a:srgbClr val="3F3F46"/>
                </a:solidFill>
              </a:rPr>
              <a:t>Map places inferred from a division are approximate, and road routing does not prove flood-safe access. Human precedents are retrieved memory, not model fine-tuning. Real deployment needs field validation.</a:t>
            </a:r>
            <a:endParaRPr lang="en-US" sz="1300" dirty="0"/>
          </a:p>
        </p:txBody>
      </p:sp>
      <p:sp>
        <p:nvSpPr>
          <p:cNvPr id="25" name="Slide Number Placeholder 0"/>
          <p:cNvSpPr>
            <a:spLocks noGrp="1"/>
          </p:cNvSpPr>
          <p:nvPr>
            <p:ph type="sldNum" sz="quarter" idx="4294967295"/>
          </p:nvPr>
        </p:nvSpPr>
        <p:spPr>
          <a:xfrm>
            <a:off x="11274552" y="6309360"/>
            <a:ext cx="365760" cy="292608"/>
          </a:xfrm>
          <a:prstGeom prst="rect">
            <a:avLst/>
          </a:prstGeom>
          <a:extLst>
            <a:ext uri="{C572A759-6A51-4108-AA02-DFA0A04FC94B}">
              <ma14:wrappingTextBoxFlag xmlns:ma14="http://schemas.microsoft.com/office/mac/drawingml/2011/main" val="0"/>
            </a:ext>
          </a:extLst>
        </p:spPr>
        <p:txBody>
          <a:bodyPr/>
          <a:lstStyle>
            <a:lvl1pPr>
              <a:defRPr sz="1000">
                <a:solidFill>
                  <a:srgbClr val="71717A"/>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Rescue helicopter over a flooded area">    </p:cNvPr>
          <p:cNvPicPr>
            <a:picLocks noChangeAspect="1"/>
          </p:cNvPicPr>
          <p:nvPr/>
        </p:nvPicPr>
        <p:blipFill>
          <a:blip r:embed="rId1"/>
          <a:stretch>
            <a:fillRect/>
          </a:stretch>
        </p:blipFill>
        <p:spPr>
          <a:xfrm>
            <a:off x="0" y="0"/>
            <a:ext cx="12191695" cy="6858000"/>
          </a:xfrm>
          <a:prstGeom prst="rect">
            <a:avLst/>
          </a:prstGeom>
        </p:spPr>
      </p:pic>
      <p:pic>
        <p:nvPicPr>
          <p:cNvPr id="3" name="Image 1" descr="preencoded.png">    </p:cNvPr>
          <p:cNvPicPr>
            <a:picLocks noChangeAspect="1"/>
          </p:cNvPicPr>
          <p:nvPr/>
        </p:nvPicPr>
        <p:blipFill>
          <a:blip r:embed="rId2"/>
          <a:stretch>
            <a:fillRect/>
          </a:stretch>
        </p:blipFill>
        <p:spPr>
          <a:xfrm>
            <a:off x="640080" y="594360"/>
            <a:ext cx="548640" cy="548640"/>
          </a:xfrm>
          <a:prstGeom prst="rect">
            <a:avLst/>
          </a:prstGeom>
        </p:spPr>
      </p:pic>
      <p:sp>
        <p:nvSpPr>
          <p:cNvPr id="4" name="Text 0"/>
          <p:cNvSpPr txBox="1"/>
          <p:nvPr/>
        </p:nvSpPr>
        <p:spPr>
          <a:xfrm>
            <a:off x="1325880" y="566928"/>
            <a:ext cx="3657600" cy="365760"/>
          </a:xfrm>
          <a:prstGeom prst="rect">
            <a:avLst/>
          </a:prstGeom>
          <a:noFill/>
          <a:ln/>
        </p:spPr>
        <p:txBody>
          <a:bodyPr wrap="square" lIns="0" tIns="0" rIns="0" bIns="0" rtlCol="0" anchor="ctr"/>
          <a:lstStyle/>
          <a:p>
            <a:pPr indent="0" marL="0">
              <a:buNone/>
            </a:pPr>
            <a:r>
              <a:rPr lang="en-US" sz="2000" b="1" dirty="0">
                <a:solidFill>
                  <a:srgbClr val="FFFFFF"/>
                </a:solidFill>
              </a:rPr>
              <a:t>Crisis</a:t>
            </a:r>
            <a:pPr indent="0" marL="0">
              <a:buNone/>
            </a:pPr>
            <a:r>
              <a:rPr lang="en-US" sz="2000" b="1" dirty="0">
                <a:solidFill>
                  <a:srgbClr val="93C5FD"/>
                </a:solidFill>
              </a:rPr>
              <a:t>Connect</a:t>
            </a:r>
            <a:endParaRPr lang="en-US" sz="2000" dirty="0"/>
          </a:p>
        </p:txBody>
      </p:sp>
      <p:sp>
        <p:nvSpPr>
          <p:cNvPr id="5" name="Text 1"/>
          <p:cNvSpPr txBox="1"/>
          <p:nvPr/>
        </p:nvSpPr>
        <p:spPr>
          <a:xfrm>
            <a:off x="1325880" y="914400"/>
            <a:ext cx="3657600" cy="256032"/>
          </a:xfrm>
          <a:prstGeom prst="rect">
            <a:avLst/>
          </a:prstGeom>
          <a:noFill/>
          <a:ln/>
        </p:spPr>
        <p:txBody>
          <a:bodyPr wrap="square" lIns="0" tIns="0" rIns="0" bIns="0" rtlCol="0" anchor="ctr"/>
          <a:lstStyle/>
          <a:p>
            <a:pPr indent="0" marL="0">
              <a:buNone/>
            </a:pPr>
            <a:r>
              <a:rPr lang="en-US" sz="1200" dirty="0">
                <a:solidFill>
                  <a:srgbClr val="D4D4D8"/>
                </a:solidFill>
              </a:rPr>
              <a:t>Flood response desk</a:t>
            </a:r>
            <a:endParaRPr lang="en-US" sz="1200" dirty="0"/>
          </a:p>
        </p:txBody>
      </p:sp>
      <p:sp>
        <p:nvSpPr>
          <p:cNvPr id="6" name="Text 2"/>
          <p:cNvSpPr txBox="1"/>
          <p:nvPr/>
        </p:nvSpPr>
        <p:spPr>
          <a:xfrm>
            <a:off x="640080" y="2331720"/>
            <a:ext cx="7772400" cy="1737360"/>
          </a:xfrm>
          <a:prstGeom prst="rect">
            <a:avLst/>
          </a:prstGeom>
          <a:noFill/>
          <a:ln/>
        </p:spPr>
        <p:txBody>
          <a:bodyPr wrap="square" lIns="0" tIns="0" rIns="0" bIns="0" rtlCol="0" anchor="t"/>
          <a:lstStyle/>
          <a:p>
            <a:pPr indent="0" marL="0">
              <a:lnSpc>
                <a:spcPct val="95000"/>
              </a:lnSpc>
              <a:buNone/>
            </a:pPr>
            <a:r>
              <a:rPr lang="en-US" sz="5000" b="1" dirty="0">
                <a:solidFill>
                  <a:srgbClr val="FFFFFF"/>
                </a:solidFill>
              </a:rPr>
              <a:t>Fewer wasted calls.</a:t>
            </a:r>
            <a:endParaRPr lang="en-US" sz="5000" dirty="0"/>
          </a:p>
          <a:p>
            <a:pPr indent="0" marL="0">
              <a:lnSpc>
                <a:spcPct val="95000"/>
              </a:lnSpc>
              <a:buNone/>
            </a:pPr>
            <a:r>
              <a:rPr lang="en-US" sz="5000" b="1" dirty="0">
                <a:solidFill>
                  <a:srgbClr val="FFFFFF"/>
                </a:solidFill>
              </a:rPr>
              <a:t>More people reached.</a:t>
            </a:r>
            <a:endParaRPr lang="en-US" sz="5000" dirty="0"/>
          </a:p>
        </p:txBody>
      </p:sp>
      <p:sp>
        <p:nvSpPr>
          <p:cNvPr id="7" name="Text 3"/>
          <p:cNvSpPr txBox="1"/>
          <p:nvPr/>
        </p:nvSpPr>
        <p:spPr>
          <a:xfrm>
            <a:off x="640080" y="4206240"/>
            <a:ext cx="6217920" cy="731520"/>
          </a:xfrm>
          <a:prstGeom prst="rect">
            <a:avLst/>
          </a:prstGeom>
          <a:noFill/>
          <a:ln/>
        </p:spPr>
        <p:txBody>
          <a:bodyPr wrap="square" lIns="0" tIns="0" rIns="0" bIns="0" rtlCol="0" anchor="t"/>
          <a:lstStyle/>
          <a:p>
            <a:pPr indent="0" marL="0">
              <a:buNone/>
            </a:pPr>
            <a:r>
              <a:rPr lang="en-US" sz="1800" dirty="0">
                <a:solidFill>
                  <a:srgbClr val="E4E4E7"/>
                </a:solidFill>
              </a:rPr>
              <a:t>One verified household record, from first SOS to relief and appeal checks.</a:t>
            </a:r>
            <a:endParaRPr lang="en-US" sz="1800" dirty="0"/>
          </a:p>
        </p:txBody>
      </p:sp>
      <p:sp>
        <p:nvSpPr>
          <p:cNvPr id="8" name="Shape 4"/>
          <p:cNvSpPr/>
          <p:nvPr/>
        </p:nvSpPr>
        <p:spPr>
          <a:xfrm>
            <a:off x="640080" y="5166360"/>
            <a:ext cx="755294" cy="329184"/>
          </a:xfrm>
          <a:prstGeom prst="roundRect">
            <a:avLst>
              <a:gd name="adj" fmla="val 50000"/>
            </a:avLst>
          </a:prstGeom>
          <a:solidFill>
            <a:srgbClr val="FFFFFF">
              <a:alpha val="16000"/>
            </a:srgbClr>
          </a:solidFill>
          <a:ln w="9525">
            <a:solidFill>
              <a:srgbClr val="FFFFFF">
                <a:alpha val="35000"/>
              </a:srgbClr>
            </a:solidFill>
            <a:prstDash val="solid"/>
          </a:ln>
        </p:spPr>
      </p:sp>
      <p:sp>
        <p:nvSpPr>
          <p:cNvPr id="9" name="Shape 5"/>
          <p:cNvSpPr/>
          <p:nvPr/>
        </p:nvSpPr>
        <p:spPr>
          <a:xfrm>
            <a:off x="777240" y="5285232"/>
            <a:ext cx="91440" cy="91440"/>
          </a:xfrm>
          <a:prstGeom prst="ellipse">
            <a:avLst/>
          </a:prstGeom>
          <a:solidFill>
            <a:schemeClr val="accent1"/>
          </a:solidFill>
          <a:ln/>
        </p:spPr>
      </p:sp>
      <p:sp>
        <p:nvSpPr>
          <p:cNvPr id="10" name="Text 6"/>
          <p:cNvSpPr txBox="1"/>
          <p:nvPr/>
        </p:nvSpPr>
        <p:spPr>
          <a:xfrm>
            <a:off x="914400" y="5166360"/>
            <a:ext cx="480974" cy="329184"/>
          </a:xfrm>
          <a:prstGeom prst="rect">
            <a:avLst/>
          </a:prstGeom>
          <a:noFill/>
          <a:ln/>
        </p:spPr>
        <p:txBody>
          <a:bodyPr wrap="none" lIns="0" tIns="0" rIns="0" bIns="0" rtlCol="0" anchor="ctr"/>
          <a:lstStyle/>
          <a:p>
            <a:pPr indent="0" marL="0">
              <a:buNone/>
            </a:pPr>
            <a:r>
              <a:rPr lang="en-US" sz="1200" dirty="0">
                <a:solidFill>
                  <a:srgbClr val="FFFFFF"/>
                </a:solidFill>
              </a:rPr>
              <a:t>Jac</a:t>
            </a:r>
            <a:endParaRPr lang="en-US" sz="1200" dirty="0"/>
          </a:p>
        </p:txBody>
      </p:sp>
      <p:sp>
        <p:nvSpPr>
          <p:cNvPr id="11" name="Shape 7"/>
          <p:cNvSpPr/>
          <p:nvPr/>
        </p:nvSpPr>
        <p:spPr>
          <a:xfrm>
            <a:off x="1523390" y="5166360"/>
            <a:ext cx="1512418" cy="329184"/>
          </a:xfrm>
          <a:prstGeom prst="roundRect">
            <a:avLst>
              <a:gd name="adj" fmla="val 50000"/>
            </a:avLst>
          </a:prstGeom>
          <a:solidFill>
            <a:srgbClr val="FFFFFF">
              <a:alpha val="16000"/>
            </a:srgbClr>
          </a:solidFill>
          <a:ln w="9525">
            <a:solidFill>
              <a:srgbClr val="FFFFFF">
                <a:alpha val="35000"/>
              </a:srgbClr>
            </a:solidFill>
            <a:prstDash val="solid"/>
          </a:ln>
        </p:spPr>
      </p:sp>
      <p:sp>
        <p:nvSpPr>
          <p:cNvPr id="12" name="Shape 8"/>
          <p:cNvSpPr/>
          <p:nvPr/>
        </p:nvSpPr>
        <p:spPr>
          <a:xfrm>
            <a:off x="1660550" y="5285232"/>
            <a:ext cx="91440" cy="91440"/>
          </a:xfrm>
          <a:prstGeom prst="ellipse">
            <a:avLst/>
          </a:prstGeom>
          <a:solidFill>
            <a:schemeClr val="accent2"/>
          </a:solidFill>
          <a:ln/>
        </p:spPr>
      </p:sp>
      <p:sp>
        <p:nvSpPr>
          <p:cNvPr id="13" name="Text 9"/>
          <p:cNvSpPr txBox="1"/>
          <p:nvPr/>
        </p:nvSpPr>
        <p:spPr>
          <a:xfrm>
            <a:off x="1797710" y="5166360"/>
            <a:ext cx="1238098" cy="329184"/>
          </a:xfrm>
          <a:prstGeom prst="rect">
            <a:avLst/>
          </a:prstGeom>
          <a:noFill/>
          <a:ln/>
        </p:spPr>
        <p:txBody>
          <a:bodyPr wrap="none" lIns="0" tIns="0" rIns="0" bIns="0" rtlCol="0" anchor="ctr"/>
          <a:lstStyle/>
          <a:p>
            <a:pPr indent="0" marL="0">
              <a:buNone/>
            </a:pPr>
            <a:r>
              <a:rPr lang="en-US" sz="1200" dirty="0">
                <a:solidFill>
                  <a:srgbClr val="FFFFFF"/>
                </a:solidFill>
              </a:rPr>
              <a:t>Jaseci graph</a:t>
            </a:r>
            <a:endParaRPr lang="en-US" sz="1200" dirty="0"/>
          </a:p>
        </p:txBody>
      </p:sp>
      <p:sp>
        <p:nvSpPr>
          <p:cNvPr id="14" name="Shape 10"/>
          <p:cNvSpPr/>
          <p:nvPr/>
        </p:nvSpPr>
        <p:spPr>
          <a:xfrm>
            <a:off x="3163824" y="5166360"/>
            <a:ext cx="923544" cy="329184"/>
          </a:xfrm>
          <a:prstGeom prst="roundRect">
            <a:avLst>
              <a:gd name="adj" fmla="val 50000"/>
            </a:avLst>
          </a:prstGeom>
          <a:solidFill>
            <a:srgbClr val="FFFFFF">
              <a:alpha val="16000"/>
            </a:srgbClr>
          </a:solidFill>
          <a:ln w="9525">
            <a:solidFill>
              <a:srgbClr val="FFFFFF">
                <a:alpha val="35000"/>
              </a:srgbClr>
            </a:solidFill>
            <a:prstDash val="solid"/>
          </a:ln>
        </p:spPr>
      </p:sp>
      <p:sp>
        <p:nvSpPr>
          <p:cNvPr id="15" name="Shape 11"/>
          <p:cNvSpPr/>
          <p:nvPr/>
        </p:nvSpPr>
        <p:spPr>
          <a:xfrm>
            <a:off x="3300984" y="5285232"/>
            <a:ext cx="91440" cy="91440"/>
          </a:xfrm>
          <a:prstGeom prst="ellipse">
            <a:avLst/>
          </a:prstGeom>
          <a:solidFill>
            <a:schemeClr val="accent3"/>
          </a:solidFill>
          <a:ln/>
        </p:spPr>
      </p:sp>
      <p:sp>
        <p:nvSpPr>
          <p:cNvPr id="16" name="Text 12"/>
          <p:cNvSpPr txBox="1"/>
          <p:nvPr/>
        </p:nvSpPr>
        <p:spPr>
          <a:xfrm>
            <a:off x="3438144" y="5166360"/>
            <a:ext cx="649224" cy="329184"/>
          </a:xfrm>
          <a:prstGeom prst="rect">
            <a:avLst/>
          </a:prstGeom>
          <a:noFill/>
          <a:ln/>
        </p:spPr>
        <p:txBody>
          <a:bodyPr wrap="none" lIns="0" tIns="0" rIns="0" bIns="0" rtlCol="0" anchor="ctr"/>
          <a:lstStyle/>
          <a:p>
            <a:pPr indent="0" marL="0">
              <a:buNone/>
            </a:pPr>
            <a:r>
              <a:rPr lang="en-US" sz="1200" dirty="0">
                <a:solidFill>
                  <a:srgbClr val="FFFFFF"/>
                </a:solidFill>
              </a:rPr>
              <a:t>byLLM</a:t>
            </a:r>
            <a:endParaRPr lang="en-US" sz="1200" dirty="0"/>
          </a:p>
        </p:txBody>
      </p:sp>
      <p:sp>
        <p:nvSpPr>
          <p:cNvPr id="17" name="Shape 13"/>
          <p:cNvSpPr/>
          <p:nvPr/>
        </p:nvSpPr>
        <p:spPr>
          <a:xfrm>
            <a:off x="4215384" y="5166360"/>
            <a:ext cx="1848917" cy="329184"/>
          </a:xfrm>
          <a:prstGeom prst="roundRect">
            <a:avLst>
              <a:gd name="adj" fmla="val 50000"/>
            </a:avLst>
          </a:prstGeom>
          <a:solidFill>
            <a:srgbClr val="FFFFFF">
              <a:alpha val="16000"/>
            </a:srgbClr>
          </a:solidFill>
          <a:ln w="9525">
            <a:solidFill>
              <a:srgbClr val="FFFFFF">
                <a:alpha val="35000"/>
              </a:srgbClr>
            </a:solidFill>
            <a:prstDash val="solid"/>
          </a:ln>
        </p:spPr>
      </p:sp>
      <p:sp>
        <p:nvSpPr>
          <p:cNvPr id="18" name="Shape 14"/>
          <p:cNvSpPr/>
          <p:nvPr/>
        </p:nvSpPr>
        <p:spPr>
          <a:xfrm>
            <a:off x="4352544" y="5285232"/>
            <a:ext cx="91440" cy="91440"/>
          </a:xfrm>
          <a:prstGeom prst="ellipse">
            <a:avLst/>
          </a:prstGeom>
          <a:solidFill>
            <a:schemeClr val="accent4"/>
          </a:solidFill>
          <a:ln/>
        </p:spPr>
      </p:sp>
      <p:sp>
        <p:nvSpPr>
          <p:cNvPr id="19" name="Text 15"/>
          <p:cNvSpPr txBox="1"/>
          <p:nvPr/>
        </p:nvSpPr>
        <p:spPr>
          <a:xfrm>
            <a:off x="4489704" y="5166360"/>
            <a:ext cx="1574597" cy="329184"/>
          </a:xfrm>
          <a:prstGeom prst="rect">
            <a:avLst/>
          </a:prstGeom>
          <a:noFill/>
          <a:ln/>
        </p:spPr>
        <p:txBody>
          <a:bodyPr wrap="none" lIns="0" tIns="0" rIns="0" bIns="0" rtlCol="0" anchor="ctr"/>
          <a:lstStyle/>
          <a:p>
            <a:pPr indent="0" marL="0">
              <a:buNone/>
            </a:pPr>
            <a:r>
              <a:rPr lang="en-US" sz="1200" dirty="0">
                <a:solidFill>
                  <a:srgbClr val="FFFFFF"/>
                </a:solidFill>
              </a:rPr>
              <a:t>Gemini 2.5 Flash</a:t>
            </a:r>
            <a:endParaRPr lang="en-US" sz="1200" dirty="0"/>
          </a:p>
        </p:txBody>
      </p:sp>
      <p:sp>
        <p:nvSpPr>
          <p:cNvPr id="20" name="Text 16"/>
          <p:cNvSpPr txBox="1"/>
          <p:nvPr/>
        </p:nvSpPr>
        <p:spPr>
          <a:xfrm>
            <a:off x="640080" y="6172200"/>
            <a:ext cx="8229600" cy="320040"/>
          </a:xfrm>
          <a:prstGeom prst="rect">
            <a:avLst/>
          </a:prstGeom>
          <a:noFill/>
          <a:ln/>
        </p:spPr>
        <p:txBody>
          <a:bodyPr wrap="square" lIns="0" tIns="0" rIns="0" bIns="0" rtlCol="0" anchor="ctr"/>
          <a:lstStyle/>
          <a:p>
            <a:pPr indent="0" marL="0">
              <a:buNone/>
            </a:pPr>
            <a:r>
              <a:rPr lang="en-US" sz="1300" dirty="0">
                <a:solidFill>
                  <a:srgbClr val="D4D4D8"/>
                </a:solidFill>
              </a:rPr>
              <a:t>Thank you  ·  TheByteForce  ·  University of Moratuwa</a:t>
            </a:r>
            <a:endParaRPr lang="en-US" sz="1300" dirty="0"/>
          </a:p>
        </p:txBody>
      </p:sp>
    </p:spTree>
  </p:cSld>
  <p:clrMapOvr>
    <a:masterClrMapping/>
  </p:clrMapOvr>
</p:sld>
</file>

<file path=ppt/theme/theme1.xml><?xml version="1.0" encoding="utf-8"?>
<a:theme xmlns:a="http://schemas.openxmlformats.org/drawingml/2006/main" name="CrisisConnect">
  <a:themeElements>
    <a:clrScheme name="CrisisConnect">
      <a:dk1>
        <a:srgbClr val="18181B"/>
      </a:dk1>
      <a:lt1>
        <a:srgbClr val="FFFFFF"/>
      </a:lt1>
      <a:dk2>
        <a:srgbClr val="0B1020"/>
      </a:dk2>
      <a:lt2>
        <a:srgbClr val="F4F4F5"/>
      </a:lt2>
      <a:accent1>
        <a:srgbClr val="1447E6"/>
      </a:accent1>
      <a:accent2>
        <a:srgbClr val="7C3AED"/>
      </a:accent2>
      <a:accent3>
        <a:srgbClr val="059669"/>
      </a:accent3>
      <a:accent4>
        <a:srgbClr val="D97706"/>
      </a:accent4>
      <a:accent5>
        <a:srgbClr val="DC2626"/>
      </a:accent5>
      <a:accent6>
        <a:srgbClr val="0284C7"/>
      </a:accent6>
      <a:hlink>
        <a:srgbClr val="1447E6"/>
      </a:hlink>
      <a:folHlink>
        <a:srgbClr val="7C3AED"/>
      </a:folHlink>
    </a:clrScheme>
    <a:fontScheme name="CrisisConnec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17</Slides>
  <Notes>17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17</vt:i4>
      </vt:variant>
    </vt:vector>
  </HeadingPairs>
  <TitlesOfParts>
    <vt:vector size="2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vector>
  </TitlesOfParts>
  <Company>TheByteForce</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CrisisConnect</dc:title>
  <dc:subject>PptxGenJS Presentation</dc:subject>
  <dc:creator>TheByteForce</dc:creator>
  <cp:lastModifiedBy>TheByteForce</cp:lastModifiedBy>
  <cp:revision>1</cp:revision>
  <dcterms:created xsi:type="dcterms:W3CDTF">2026-10-17T11:54:56Z</dcterms:created>
  <dcterms:modified xsi:type="dcterms:W3CDTF">2026-10-17T11:54:56Z</dcterms:modified>
</cp:coreProperties>
</file>